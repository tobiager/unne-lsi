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1"/>
  </p:notesMasterIdLst>
  <p:sldIdLst>
    <p:sldId id="256" r:id="rId2"/>
    <p:sldId id="257" r:id="rId3"/>
    <p:sldId id="258" r:id="rId4"/>
    <p:sldId id="259" r:id="rId5"/>
    <p:sldId id="260" r:id="rId6"/>
    <p:sldId id="261" r:id="rId7"/>
    <p:sldId id="262" r:id="rId8"/>
    <p:sldId id="267" r:id="rId9"/>
    <p:sldId id="268" r:id="rId10"/>
    <p:sldId id="271" r:id="rId11"/>
    <p:sldId id="269" r:id="rId12"/>
    <p:sldId id="293" r:id="rId13"/>
    <p:sldId id="272" r:id="rId14"/>
    <p:sldId id="263" r:id="rId15"/>
    <p:sldId id="265" r:id="rId16"/>
    <p:sldId id="266" r:id="rId17"/>
    <p:sldId id="273" r:id="rId18"/>
    <p:sldId id="274" r:id="rId19"/>
    <p:sldId id="275" r:id="rId20"/>
    <p:sldId id="276" r:id="rId21"/>
    <p:sldId id="277" r:id="rId22"/>
    <p:sldId id="278" r:id="rId23"/>
    <p:sldId id="279" r:id="rId24"/>
    <p:sldId id="280" r:id="rId25"/>
    <p:sldId id="281" r:id="rId26"/>
    <p:sldId id="282" r:id="rId27"/>
    <p:sldId id="283" r:id="rId28"/>
    <p:sldId id="333" r:id="rId29"/>
    <p:sldId id="334" r:id="rId30"/>
    <p:sldId id="335" r:id="rId31"/>
    <p:sldId id="336" r:id="rId32"/>
    <p:sldId id="337" r:id="rId33"/>
    <p:sldId id="338" r:id="rId34"/>
    <p:sldId id="339" r:id="rId35"/>
    <p:sldId id="340" r:id="rId36"/>
    <p:sldId id="341" r:id="rId37"/>
    <p:sldId id="342" r:id="rId38"/>
    <p:sldId id="284" r:id="rId39"/>
    <p:sldId id="285" r:id="rId40"/>
    <p:sldId id="304" r:id="rId41"/>
    <p:sldId id="311" r:id="rId42"/>
    <p:sldId id="312" r:id="rId43"/>
    <p:sldId id="313" r:id="rId44"/>
    <p:sldId id="314" r:id="rId45"/>
    <p:sldId id="315" r:id="rId46"/>
    <p:sldId id="316" r:id="rId47"/>
    <p:sldId id="317" r:id="rId48"/>
    <p:sldId id="318" r:id="rId49"/>
    <p:sldId id="319" r:id="rId50"/>
    <p:sldId id="320" r:id="rId51"/>
    <p:sldId id="321" r:id="rId52"/>
    <p:sldId id="322" r:id="rId53"/>
    <p:sldId id="323" r:id="rId54"/>
    <p:sldId id="324" r:id="rId55"/>
    <p:sldId id="325" r:id="rId56"/>
    <p:sldId id="326" r:id="rId57"/>
    <p:sldId id="327" r:id="rId58"/>
    <p:sldId id="328" r:id="rId59"/>
    <p:sldId id="329" r:id="rId60"/>
    <p:sldId id="330" r:id="rId61"/>
    <p:sldId id="331" r:id="rId62"/>
    <p:sldId id="332" r:id="rId63"/>
    <p:sldId id="306" r:id="rId64"/>
    <p:sldId id="343" r:id="rId65"/>
    <p:sldId id="344" r:id="rId66"/>
    <p:sldId id="345" r:id="rId67"/>
    <p:sldId id="346" r:id="rId68"/>
    <p:sldId id="347" r:id="rId69"/>
    <p:sldId id="348" r:id="rId70"/>
    <p:sldId id="349" r:id="rId71"/>
    <p:sldId id="350" r:id="rId72"/>
    <p:sldId id="351" r:id="rId73"/>
    <p:sldId id="352" r:id="rId74"/>
    <p:sldId id="353" r:id="rId75"/>
    <p:sldId id="354" r:id="rId76"/>
    <p:sldId id="307" r:id="rId77"/>
    <p:sldId id="308" r:id="rId78"/>
    <p:sldId id="309" r:id="rId79"/>
    <p:sldId id="310" r:id="rId80"/>
    <p:sldId id="294" r:id="rId81"/>
    <p:sldId id="295" r:id="rId82"/>
    <p:sldId id="296" r:id="rId83"/>
    <p:sldId id="297" r:id="rId84"/>
    <p:sldId id="298" r:id="rId85"/>
    <p:sldId id="299" r:id="rId86"/>
    <p:sldId id="300" r:id="rId87"/>
    <p:sldId id="301" r:id="rId88"/>
    <p:sldId id="302" r:id="rId89"/>
    <p:sldId id="303" r:id="rId90"/>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C6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2C9645-C4AA-4FBE-85D9-9470B4C8CF55}"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s-AR"/>
        </a:p>
      </dgm:t>
    </dgm:pt>
    <dgm:pt modelId="{9FCE1A17-468C-41C9-B4CD-F2E4860202F8}">
      <dgm:prSet phldrT="[Texto]"/>
      <dgm:spPr>
        <a:solidFill>
          <a:srgbClr val="00B0F0"/>
        </a:solidFill>
        <a:ln>
          <a:solidFill>
            <a:schemeClr val="accent1"/>
          </a:solidFill>
        </a:ln>
      </dgm:spPr>
      <dgm:t>
        <a:bodyPr/>
        <a:lstStyle/>
        <a:p>
          <a:r>
            <a:rPr lang="es-AR" dirty="0" smtClean="0"/>
            <a:t>Necesidad Humana</a:t>
          </a:r>
          <a:endParaRPr lang="es-AR" dirty="0"/>
        </a:p>
      </dgm:t>
    </dgm:pt>
    <dgm:pt modelId="{308401EB-2D75-4057-9C1B-822B570E905A}" type="parTrans" cxnId="{0634A5EC-476F-40E6-97B5-6C94825EF1F6}">
      <dgm:prSet/>
      <dgm:spPr/>
      <dgm:t>
        <a:bodyPr/>
        <a:lstStyle/>
        <a:p>
          <a:endParaRPr lang="es-AR"/>
        </a:p>
      </dgm:t>
    </dgm:pt>
    <dgm:pt modelId="{60304752-F3E0-45B0-B597-FD95278CD153}" type="sibTrans" cxnId="{0634A5EC-476F-40E6-97B5-6C94825EF1F6}">
      <dgm:prSet/>
      <dgm:spPr/>
      <dgm:t>
        <a:bodyPr/>
        <a:lstStyle/>
        <a:p>
          <a:endParaRPr lang="es-AR"/>
        </a:p>
      </dgm:t>
    </dgm:pt>
    <dgm:pt modelId="{9C2F642C-601F-476F-B8A5-2216FB5C8B72}">
      <dgm:prSet phldrT="[Texto]"/>
      <dgm:spPr>
        <a:solidFill>
          <a:srgbClr val="FFC000"/>
        </a:solidFill>
      </dgm:spPr>
      <dgm:t>
        <a:bodyPr/>
        <a:lstStyle/>
        <a:p>
          <a:r>
            <a:rPr lang="es-AR" dirty="0" smtClean="0"/>
            <a:t>Deseo humano</a:t>
          </a:r>
          <a:endParaRPr lang="es-AR" dirty="0"/>
        </a:p>
      </dgm:t>
    </dgm:pt>
    <dgm:pt modelId="{048A8A02-7CB2-4487-915D-A1E5CF182830}" type="parTrans" cxnId="{99274CE2-C502-4CEB-837F-6893221C1A62}">
      <dgm:prSet/>
      <dgm:spPr/>
      <dgm:t>
        <a:bodyPr/>
        <a:lstStyle/>
        <a:p>
          <a:endParaRPr lang="es-AR"/>
        </a:p>
      </dgm:t>
    </dgm:pt>
    <dgm:pt modelId="{DBD4E011-21E8-44A1-B247-3FBE6A682E84}" type="sibTrans" cxnId="{99274CE2-C502-4CEB-837F-6893221C1A62}">
      <dgm:prSet/>
      <dgm:spPr/>
      <dgm:t>
        <a:bodyPr/>
        <a:lstStyle/>
        <a:p>
          <a:endParaRPr lang="es-AR"/>
        </a:p>
      </dgm:t>
    </dgm:pt>
    <dgm:pt modelId="{D051DE39-ECED-4468-88EC-D126B403F19D}">
      <dgm:prSet phldrT="[Texto]"/>
      <dgm:spPr>
        <a:solidFill>
          <a:srgbClr val="7030A0"/>
        </a:solidFill>
      </dgm:spPr>
      <dgm:t>
        <a:bodyPr/>
        <a:lstStyle/>
        <a:p>
          <a:r>
            <a:rPr lang="es-AR" dirty="0" smtClean="0"/>
            <a:t>Demandas</a:t>
          </a:r>
          <a:endParaRPr lang="es-AR" dirty="0"/>
        </a:p>
      </dgm:t>
    </dgm:pt>
    <dgm:pt modelId="{4D234925-623B-4E77-B5E8-DEBF2FD7F83C}" type="parTrans" cxnId="{A27BA5F4-9221-4012-B9D9-F91C3E1548D7}">
      <dgm:prSet/>
      <dgm:spPr/>
      <dgm:t>
        <a:bodyPr/>
        <a:lstStyle/>
        <a:p>
          <a:endParaRPr lang="es-AR"/>
        </a:p>
      </dgm:t>
    </dgm:pt>
    <dgm:pt modelId="{475BD358-0BC2-4AEF-921F-786DFE3F9EBD}" type="sibTrans" cxnId="{A27BA5F4-9221-4012-B9D9-F91C3E1548D7}">
      <dgm:prSet/>
      <dgm:spPr/>
      <dgm:t>
        <a:bodyPr/>
        <a:lstStyle/>
        <a:p>
          <a:endParaRPr lang="es-AR"/>
        </a:p>
      </dgm:t>
    </dgm:pt>
    <dgm:pt modelId="{5137D92D-1CF4-470B-BE20-F355B226B31E}">
      <dgm:prSet phldrT="[Texto]"/>
      <dgm:spPr/>
      <dgm:t>
        <a:bodyPr/>
        <a:lstStyle/>
        <a:p>
          <a:r>
            <a:rPr lang="es-AR" dirty="0" smtClean="0"/>
            <a:t>Producto</a:t>
          </a:r>
          <a:endParaRPr lang="es-AR" dirty="0"/>
        </a:p>
      </dgm:t>
    </dgm:pt>
    <dgm:pt modelId="{48906F9A-7D48-415E-8023-161C020DC58C}" type="parTrans" cxnId="{9D76D964-E118-444D-BE0A-D593B05B8E1B}">
      <dgm:prSet/>
      <dgm:spPr/>
      <dgm:t>
        <a:bodyPr/>
        <a:lstStyle/>
        <a:p>
          <a:endParaRPr lang="es-AR"/>
        </a:p>
      </dgm:t>
    </dgm:pt>
    <dgm:pt modelId="{7B783562-2205-4B63-9118-E8DDE8E6C6DC}" type="sibTrans" cxnId="{9D76D964-E118-444D-BE0A-D593B05B8E1B}">
      <dgm:prSet/>
      <dgm:spPr/>
      <dgm:t>
        <a:bodyPr/>
        <a:lstStyle/>
        <a:p>
          <a:endParaRPr lang="es-AR"/>
        </a:p>
      </dgm:t>
    </dgm:pt>
    <dgm:pt modelId="{208592E8-884B-4952-8861-6FCBB437E178}">
      <dgm:prSet phldrT="[Texto]"/>
      <dgm:spPr>
        <a:solidFill>
          <a:srgbClr val="00B050"/>
        </a:solidFill>
      </dgm:spPr>
      <dgm:t>
        <a:bodyPr/>
        <a:lstStyle/>
        <a:p>
          <a:r>
            <a:rPr lang="es-AR" dirty="0" smtClean="0"/>
            <a:t>Intercambio</a:t>
          </a:r>
          <a:endParaRPr lang="es-AR" dirty="0"/>
        </a:p>
      </dgm:t>
    </dgm:pt>
    <dgm:pt modelId="{8E4281B3-A96B-4C22-9408-9902E53AF7BC}" type="parTrans" cxnId="{D44AD718-E0F9-4ECE-84BA-DDA60F2BE091}">
      <dgm:prSet/>
      <dgm:spPr/>
      <dgm:t>
        <a:bodyPr/>
        <a:lstStyle/>
        <a:p>
          <a:endParaRPr lang="es-AR"/>
        </a:p>
      </dgm:t>
    </dgm:pt>
    <dgm:pt modelId="{BC4A6FB2-74A1-4E24-A627-0F937D008F7C}" type="sibTrans" cxnId="{D44AD718-E0F9-4ECE-84BA-DDA60F2BE091}">
      <dgm:prSet/>
      <dgm:spPr/>
      <dgm:t>
        <a:bodyPr/>
        <a:lstStyle/>
        <a:p>
          <a:endParaRPr lang="es-AR"/>
        </a:p>
      </dgm:t>
    </dgm:pt>
    <dgm:pt modelId="{39F320BE-F71F-407D-9617-AEBD461F251B}" type="pres">
      <dgm:prSet presAssocID="{3D2C9645-C4AA-4FBE-85D9-9470B4C8CF55}" presName="cycle" presStyleCnt="0">
        <dgm:presLayoutVars>
          <dgm:dir/>
          <dgm:resizeHandles val="exact"/>
        </dgm:presLayoutVars>
      </dgm:prSet>
      <dgm:spPr/>
      <dgm:t>
        <a:bodyPr/>
        <a:lstStyle/>
        <a:p>
          <a:endParaRPr lang="es-AR"/>
        </a:p>
      </dgm:t>
    </dgm:pt>
    <dgm:pt modelId="{26B9365A-8C8F-409A-B6AC-A83762A15EC5}" type="pres">
      <dgm:prSet presAssocID="{9FCE1A17-468C-41C9-B4CD-F2E4860202F8}" presName="node" presStyleLbl="node1" presStyleIdx="0" presStyleCnt="5">
        <dgm:presLayoutVars>
          <dgm:bulletEnabled val="1"/>
        </dgm:presLayoutVars>
      </dgm:prSet>
      <dgm:spPr/>
      <dgm:t>
        <a:bodyPr/>
        <a:lstStyle/>
        <a:p>
          <a:endParaRPr lang="es-AR"/>
        </a:p>
      </dgm:t>
    </dgm:pt>
    <dgm:pt modelId="{FBDF4867-F007-420F-A360-6995386D0CBF}" type="pres">
      <dgm:prSet presAssocID="{60304752-F3E0-45B0-B597-FD95278CD153}" presName="sibTrans" presStyleLbl="sibTrans2D1" presStyleIdx="0" presStyleCnt="5"/>
      <dgm:spPr/>
      <dgm:t>
        <a:bodyPr/>
        <a:lstStyle/>
        <a:p>
          <a:endParaRPr lang="es-AR"/>
        </a:p>
      </dgm:t>
    </dgm:pt>
    <dgm:pt modelId="{92E99406-10D2-4A72-8135-6A2ABBC27205}" type="pres">
      <dgm:prSet presAssocID="{60304752-F3E0-45B0-B597-FD95278CD153}" presName="connectorText" presStyleLbl="sibTrans2D1" presStyleIdx="0" presStyleCnt="5"/>
      <dgm:spPr/>
      <dgm:t>
        <a:bodyPr/>
        <a:lstStyle/>
        <a:p>
          <a:endParaRPr lang="es-AR"/>
        </a:p>
      </dgm:t>
    </dgm:pt>
    <dgm:pt modelId="{EA0DB310-18EF-4EF4-A79D-38ECF4523D91}" type="pres">
      <dgm:prSet presAssocID="{9C2F642C-601F-476F-B8A5-2216FB5C8B72}" presName="node" presStyleLbl="node1" presStyleIdx="1" presStyleCnt="5">
        <dgm:presLayoutVars>
          <dgm:bulletEnabled val="1"/>
        </dgm:presLayoutVars>
      </dgm:prSet>
      <dgm:spPr/>
      <dgm:t>
        <a:bodyPr/>
        <a:lstStyle/>
        <a:p>
          <a:endParaRPr lang="es-AR"/>
        </a:p>
      </dgm:t>
    </dgm:pt>
    <dgm:pt modelId="{41A89100-2A06-4399-8419-AB24DB797541}" type="pres">
      <dgm:prSet presAssocID="{DBD4E011-21E8-44A1-B247-3FBE6A682E84}" presName="sibTrans" presStyleLbl="sibTrans2D1" presStyleIdx="1" presStyleCnt="5"/>
      <dgm:spPr/>
      <dgm:t>
        <a:bodyPr/>
        <a:lstStyle/>
        <a:p>
          <a:endParaRPr lang="es-AR"/>
        </a:p>
      </dgm:t>
    </dgm:pt>
    <dgm:pt modelId="{B083305A-8A55-4741-B90D-D46E09F73C90}" type="pres">
      <dgm:prSet presAssocID="{DBD4E011-21E8-44A1-B247-3FBE6A682E84}" presName="connectorText" presStyleLbl="sibTrans2D1" presStyleIdx="1" presStyleCnt="5"/>
      <dgm:spPr/>
      <dgm:t>
        <a:bodyPr/>
        <a:lstStyle/>
        <a:p>
          <a:endParaRPr lang="es-AR"/>
        </a:p>
      </dgm:t>
    </dgm:pt>
    <dgm:pt modelId="{AB2BD0D7-4FB4-4A59-9712-B06F8A8BB22D}" type="pres">
      <dgm:prSet presAssocID="{D051DE39-ECED-4468-88EC-D126B403F19D}" presName="node" presStyleLbl="node1" presStyleIdx="2" presStyleCnt="5">
        <dgm:presLayoutVars>
          <dgm:bulletEnabled val="1"/>
        </dgm:presLayoutVars>
      </dgm:prSet>
      <dgm:spPr/>
      <dgm:t>
        <a:bodyPr/>
        <a:lstStyle/>
        <a:p>
          <a:endParaRPr lang="es-AR"/>
        </a:p>
      </dgm:t>
    </dgm:pt>
    <dgm:pt modelId="{FBAB90F6-5585-481E-A4F1-7B8F6E6D85A0}" type="pres">
      <dgm:prSet presAssocID="{475BD358-0BC2-4AEF-921F-786DFE3F9EBD}" presName="sibTrans" presStyleLbl="sibTrans2D1" presStyleIdx="2" presStyleCnt="5"/>
      <dgm:spPr/>
      <dgm:t>
        <a:bodyPr/>
        <a:lstStyle/>
        <a:p>
          <a:endParaRPr lang="es-AR"/>
        </a:p>
      </dgm:t>
    </dgm:pt>
    <dgm:pt modelId="{FC171122-788E-4C2E-8C10-3FE4B57AD8F0}" type="pres">
      <dgm:prSet presAssocID="{475BD358-0BC2-4AEF-921F-786DFE3F9EBD}" presName="connectorText" presStyleLbl="sibTrans2D1" presStyleIdx="2" presStyleCnt="5"/>
      <dgm:spPr/>
      <dgm:t>
        <a:bodyPr/>
        <a:lstStyle/>
        <a:p>
          <a:endParaRPr lang="es-AR"/>
        </a:p>
      </dgm:t>
    </dgm:pt>
    <dgm:pt modelId="{D37F51AD-A1C4-4DF8-A325-09B19F5E53A9}" type="pres">
      <dgm:prSet presAssocID="{5137D92D-1CF4-470B-BE20-F355B226B31E}" presName="node" presStyleLbl="node1" presStyleIdx="3" presStyleCnt="5">
        <dgm:presLayoutVars>
          <dgm:bulletEnabled val="1"/>
        </dgm:presLayoutVars>
      </dgm:prSet>
      <dgm:spPr/>
      <dgm:t>
        <a:bodyPr/>
        <a:lstStyle/>
        <a:p>
          <a:endParaRPr lang="es-AR"/>
        </a:p>
      </dgm:t>
    </dgm:pt>
    <dgm:pt modelId="{B9740F72-AAF8-4C12-B2BB-E5285A4AD8B9}" type="pres">
      <dgm:prSet presAssocID="{7B783562-2205-4B63-9118-E8DDE8E6C6DC}" presName="sibTrans" presStyleLbl="sibTrans2D1" presStyleIdx="3" presStyleCnt="5"/>
      <dgm:spPr/>
      <dgm:t>
        <a:bodyPr/>
        <a:lstStyle/>
        <a:p>
          <a:endParaRPr lang="es-AR"/>
        </a:p>
      </dgm:t>
    </dgm:pt>
    <dgm:pt modelId="{2DC083BD-4E7C-441D-B404-BC0D2C97A2BD}" type="pres">
      <dgm:prSet presAssocID="{7B783562-2205-4B63-9118-E8DDE8E6C6DC}" presName="connectorText" presStyleLbl="sibTrans2D1" presStyleIdx="3" presStyleCnt="5"/>
      <dgm:spPr/>
      <dgm:t>
        <a:bodyPr/>
        <a:lstStyle/>
        <a:p>
          <a:endParaRPr lang="es-AR"/>
        </a:p>
      </dgm:t>
    </dgm:pt>
    <dgm:pt modelId="{6CF666FE-2169-4D94-A2BA-1111022BA568}" type="pres">
      <dgm:prSet presAssocID="{208592E8-884B-4952-8861-6FCBB437E178}" presName="node" presStyleLbl="node1" presStyleIdx="4" presStyleCnt="5">
        <dgm:presLayoutVars>
          <dgm:bulletEnabled val="1"/>
        </dgm:presLayoutVars>
      </dgm:prSet>
      <dgm:spPr/>
      <dgm:t>
        <a:bodyPr/>
        <a:lstStyle/>
        <a:p>
          <a:endParaRPr lang="es-AR"/>
        </a:p>
      </dgm:t>
    </dgm:pt>
    <dgm:pt modelId="{8FAE403F-9735-4DCE-8DC2-68C9F99AC0C5}" type="pres">
      <dgm:prSet presAssocID="{BC4A6FB2-74A1-4E24-A627-0F937D008F7C}" presName="sibTrans" presStyleLbl="sibTrans2D1" presStyleIdx="4" presStyleCnt="5"/>
      <dgm:spPr/>
      <dgm:t>
        <a:bodyPr/>
        <a:lstStyle/>
        <a:p>
          <a:endParaRPr lang="es-AR"/>
        </a:p>
      </dgm:t>
    </dgm:pt>
    <dgm:pt modelId="{3C7F1FC6-26EA-4ED8-8BB6-3612CC3C7E6F}" type="pres">
      <dgm:prSet presAssocID="{BC4A6FB2-74A1-4E24-A627-0F937D008F7C}" presName="connectorText" presStyleLbl="sibTrans2D1" presStyleIdx="4" presStyleCnt="5"/>
      <dgm:spPr/>
      <dgm:t>
        <a:bodyPr/>
        <a:lstStyle/>
        <a:p>
          <a:endParaRPr lang="es-AR"/>
        </a:p>
      </dgm:t>
    </dgm:pt>
  </dgm:ptLst>
  <dgm:cxnLst>
    <dgm:cxn modelId="{9D76D964-E118-444D-BE0A-D593B05B8E1B}" srcId="{3D2C9645-C4AA-4FBE-85D9-9470B4C8CF55}" destId="{5137D92D-1CF4-470B-BE20-F355B226B31E}" srcOrd="3" destOrd="0" parTransId="{48906F9A-7D48-415E-8023-161C020DC58C}" sibTransId="{7B783562-2205-4B63-9118-E8DDE8E6C6DC}"/>
    <dgm:cxn modelId="{D44AD718-E0F9-4ECE-84BA-DDA60F2BE091}" srcId="{3D2C9645-C4AA-4FBE-85D9-9470B4C8CF55}" destId="{208592E8-884B-4952-8861-6FCBB437E178}" srcOrd="4" destOrd="0" parTransId="{8E4281B3-A96B-4C22-9408-9902E53AF7BC}" sibTransId="{BC4A6FB2-74A1-4E24-A627-0F937D008F7C}"/>
    <dgm:cxn modelId="{12CD23AC-FDAD-4EF4-9E0C-E4677099775F}" type="presOf" srcId="{DBD4E011-21E8-44A1-B247-3FBE6A682E84}" destId="{41A89100-2A06-4399-8419-AB24DB797541}" srcOrd="0" destOrd="0" presId="urn:microsoft.com/office/officeart/2005/8/layout/cycle2"/>
    <dgm:cxn modelId="{6C300CB8-3B25-4D07-AC5E-CE82C9F109E1}" type="presOf" srcId="{5137D92D-1CF4-470B-BE20-F355B226B31E}" destId="{D37F51AD-A1C4-4DF8-A325-09B19F5E53A9}" srcOrd="0" destOrd="0" presId="urn:microsoft.com/office/officeart/2005/8/layout/cycle2"/>
    <dgm:cxn modelId="{9AEAEA80-B247-447F-BB9D-BE94F4F89829}" type="presOf" srcId="{9FCE1A17-468C-41C9-B4CD-F2E4860202F8}" destId="{26B9365A-8C8F-409A-B6AC-A83762A15EC5}" srcOrd="0" destOrd="0" presId="urn:microsoft.com/office/officeart/2005/8/layout/cycle2"/>
    <dgm:cxn modelId="{F51FF4BB-D388-4E1A-A9EA-E15D7356BC84}" type="presOf" srcId="{475BD358-0BC2-4AEF-921F-786DFE3F9EBD}" destId="{FBAB90F6-5585-481E-A4F1-7B8F6E6D85A0}" srcOrd="0" destOrd="0" presId="urn:microsoft.com/office/officeart/2005/8/layout/cycle2"/>
    <dgm:cxn modelId="{37408E08-6DCF-4586-AE8F-ECDD498D59D2}" type="presOf" srcId="{BC4A6FB2-74A1-4E24-A627-0F937D008F7C}" destId="{3C7F1FC6-26EA-4ED8-8BB6-3612CC3C7E6F}" srcOrd="1" destOrd="0" presId="urn:microsoft.com/office/officeart/2005/8/layout/cycle2"/>
    <dgm:cxn modelId="{A27BA5F4-9221-4012-B9D9-F91C3E1548D7}" srcId="{3D2C9645-C4AA-4FBE-85D9-9470B4C8CF55}" destId="{D051DE39-ECED-4468-88EC-D126B403F19D}" srcOrd="2" destOrd="0" parTransId="{4D234925-623B-4E77-B5E8-DEBF2FD7F83C}" sibTransId="{475BD358-0BC2-4AEF-921F-786DFE3F9EBD}"/>
    <dgm:cxn modelId="{4E2A6E02-3DA7-4E39-BDE4-7FB462648E2A}" type="presOf" srcId="{208592E8-884B-4952-8861-6FCBB437E178}" destId="{6CF666FE-2169-4D94-A2BA-1111022BA568}" srcOrd="0" destOrd="0" presId="urn:microsoft.com/office/officeart/2005/8/layout/cycle2"/>
    <dgm:cxn modelId="{25EAB605-3BBE-4DA2-B5A8-67869CCA39D1}" type="presOf" srcId="{BC4A6FB2-74A1-4E24-A627-0F937D008F7C}" destId="{8FAE403F-9735-4DCE-8DC2-68C9F99AC0C5}" srcOrd="0" destOrd="0" presId="urn:microsoft.com/office/officeart/2005/8/layout/cycle2"/>
    <dgm:cxn modelId="{0634A5EC-476F-40E6-97B5-6C94825EF1F6}" srcId="{3D2C9645-C4AA-4FBE-85D9-9470B4C8CF55}" destId="{9FCE1A17-468C-41C9-B4CD-F2E4860202F8}" srcOrd="0" destOrd="0" parTransId="{308401EB-2D75-4057-9C1B-822B570E905A}" sibTransId="{60304752-F3E0-45B0-B597-FD95278CD153}"/>
    <dgm:cxn modelId="{28D4568C-B494-497E-9960-F41DEF2F6E50}" type="presOf" srcId="{9C2F642C-601F-476F-B8A5-2216FB5C8B72}" destId="{EA0DB310-18EF-4EF4-A79D-38ECF4523D91}" srcOrd="0" destOrd="0" presId="urn:microsoft.com/office/officeart/2005/8/layout/cycle2"/>
    <dgm:cxn modelId="{79AFE540-68F6-46AA-9FAC-942B36DA819F}" type="presOf" srcId="{3D2C9645-C4AA-4FBE-85D9-9470B4C8CF55}" destId="{39F320BE-F71F-407D-9617-AEBD461F251B}" srcOrd="0" destOrd="0" presId="urn:microsoft.com/office/officeart/2005/8/layout/cycle2"/>
    <dgm:cxn modelId="{D0CE6884-8D53-43AB-8667-ACC397436B17}" type="presOf" srcId="{DBD4E011-21E8-44A1-B247-3FBE6A682E84}" destId="{B083305A-8A55-4741-B90D-D46E09F73C90}" srcOrd="1" destOrd="0" presId="urn:microsoft.com/office/officeart/2005/8/layout/cycle2"/>
    <dgm:cxn modelId="{1095B93E-BFD7-46C1-8558-5E1C70195F95}" type="presOf" srcId="{7B783562-2205-4B63-9118-E8DDE8E6C6DC}" destId="{B9740F72-AAF8-4C12-B2BB-E5285A4AD8B9}" srcOrd="0" destOrd="0" presId="urn:microsoft.com/office/officeart/2005/8/layout/cycle2"/>
    <dgm:cxn modelId="{28F1017A-B3A2-4D49-9740-1A7A7C3B26D2}" type="presOf" srcId="{60304752-F3E0-45B0-B597-FD95278CD153}" destId="{FBDF4867-F007-420F-A360-6995386D0CBF}" srcOrd="0" destOrd="0" presId="urn:microsoft.com/office/officeart/2005/8/layout/cycle2"/>
    <dgm:cxn modelId="{922EE896-4135-41E5-AC49-D8FAF99C0D51}" type="presOf" srcId="{475BD358-0BC2-4AEF-921F-786DFE3F9EBD}" destId="{FC171122-788E-4C2E-8C10-3FE4B57AD8F0}" srcOrd="1" destOrd="0" presId="urn:microsoft.com/office/officeart/2005/8/layout/cycle2"/>
    <dgm:cxn modelId="{4435ADC6-E6F7-4919-AA30-AB45D96F435A}" type="presOf" srcId="{D051DE39-ECED-4468-88EC-D126B403F19D}" destId="{AB2BD0D7-4FB4-4A59-9712-B06F8A8BB22D}" srcOrd="0" destOrd="0" presId="urn:microsoft.com/office/officeart/2005/8/layout/cycle2"/>
    <dgm:cxn modelId="{99274CE2-C502-4CEB-837F-6893221C1A62}" srcId="{3D2C9645-C4AA-4FBE-85D9-9470B4C8CF55}" destId="{9C2F642C-601F-476F-B8A5-2216FB5C8B72}" srcOrd="1" destOrd="0" parTransId="{048A8A02-7CB2-4487-915D-A1E5CF182830}" sibTransId="{DBD4E011-21E8-44A1-B247-3FBE6A682E84}"/>
    <dgm:cxn modelId="{DEA283B8-C29B-47DD-8BB4-50253A54864A}" type="presOf" srcId="{7B783562-2205-4B63-9118-E8DDE8E6C6DC}" destId="{2DC083BD-4E7C-441D-B404-BC0D2C97A2BD}" srcOrd="1" destOrd="0" presId="urn:microsoft.com/office/officeart/2005/8/layout/cycle2"/>
    <dgm:cxn modelId="{E5751C2B-4B88-413B-9C91-189FCFF7D81B}" type="presOf" srcId="{60304752-F3E0-45B0-B597-FD95278CD153}" destId="{92E99406-10D2-4A72-8135-6A2ABBC27205}" srcOrd="1" destOrd="0" presId="urn:microsoft.com/office/officeart/2005/8/layout/cycle2"/>
    <dgm:cxn modelId="{2445FDDB-AB19-4217-B8F2-E8FE20FE40F9}" type="presParOf" srcId="{39F320BE-F71F-407D-9617-AEBD461F251B}" destId="{26B9365A-8C8F-409A-B6AC-A83762A15EC5}" srcOrd="0" destOrd="0" presId="urn:microsoft.com/office/officeart/2005/8/layout/cycle2"/>
    <dgm:cxn modelId="{8FE98AF4-1678-430C-A410-0576DE0661B8}" type="presParOf" srcId="{39F320BE-F71F-407D-9617-AEBD461F251B}" destId="{FBDF4867-F007-420F-A360-6995386D0CBF}" srcOrd="1" destOrd="0" presId="urn:microsoft.com/office/officeart/2005/8/layout/cycle2"/>
    <dgm:cxn modelId="{3EE1F0A6-E615-4A7C-A627-DEA897221B74}" type="presParOf" srcId="{FBDF4867-F007-420F-A360-6995386D0CBF}" destId="{92E99406-10D2-4A72-8135-6A2ABBC27205}" srcOrd="0" destOrd="0" presId="urn:microsoft.com/office/officeart/2005/8/layout/cycle2"/>
    <dgm:cxn modelId="{3D1641C1-FC49-48EB-8E9C-98B7F9834E78}" type="presParOf" srcId="{39F320BE-F71F-407D-9617-AEBD461F251B}" destId="{EA0DB310-18EF-4EF4-A79D-38ECF4523D91}" srcOrd="2" destOrd="0" presId="urn:microsoft.com/office/officeart/2005/8/layout/cycle2"/>
    <dgm:cxn modelId="{666B91A9-5C4C-4AB7-8EC8-0CF7743E37B4}" type="presParOf" srcId="{39F320BE-F71F-407D-9617-AEBD461F251B}" destId="{41A89100-2A06-4399-8419-AB24DB797541}" srcOrd="3" destOrd="0" presId="urn:microsoft.com/office/officeart/2005/8/layout/cycle2"/>
    <dgm:cxn modelId="{A8AAE1DD-AFB7-4BA3-925B-D290C4C8E2FB}" type="presParOf" srcId="{41A89100-2A06-4399-8419-AB24DB797541}" destId="{B083305A-8A55-4741-B90D-D46E09F73C90}" srcOrd="0" destOrd="0" presId="urn:microsoft.com/office/officeart/2005/8/layout/cycle2"/>
    <dgm:cxn modelId="{E6F1AAA1-7626-45F4-B94B-2A5441DF4DC8}" type="presParOf" srcId="{39F320BE-F71F-407D-9617-AEBD461F251B}" destId="{AB2BD0D7-4FB4-4A59-9712-B06F8A8BB22D}" srcOrd="4" destOrd="0" presId="urn:microsoft.com/office/officeart/2005/8/layout/cycle2"/>
    <dgm:cxn modelId="{D25841D7-560A-45E0-A07A-BD0A6B555742}" type="presParOf" srcId="{39F320BE-F71F-407D-9617-AEBD461F251B}" destId="{FBAB90F6-5585-481E-A4F1-7B8F6E6D85A0}" srcOrd="5" destOrd="0" presId="urn:microsoft.com/office/officeart/2005/8/layout/cycle2"/>
    <dgm:cxn modelId="{6FD82B38-CAB9-4227-9FB4-78882D17AE57}" type="presParOf" srcId="{FBAB90F6-5585-481E-A4F1-7B8F6E6D85A0}" destId="{FC171122-788E-4C2E-8C10-3FE4B57AD8F0}" srcOrd="0" destOrd="0" presId="urn:microsoft.com/office/officeart/2005/8/layout/cycle2"/>
    <dgm:cxn modelId="{D65042D6-18C9-4263-BA0F-C4174346995F}" type="presParOf" srcId="{39F320BE-F71F-407D-9617-AEBD461F251B}" destId="{D37F51AD-A1C4-4DF8-A325-09B19F5E53A9}" srcOrd="6" destOrd="0" presId="urn:microsoft.com/office/officeart/2005/8/layout/cycle2"/>
    <dgm:cxn modelId="{92E4BE80-0D1F-46C8-B75A-226E96A68BC4}" type="presParOf" srcId="{39F320BE-F71F-407D-9617-AEBD461F251B}" destId="{B9740F72-AAF8-4C12-B2BB-E5285A4AD8B9}" srcOrd="7" destOrd="0" presId="urn:microsoft.com/office/officeart/2005/8/layout/cycle2"/>
    <dgm:cxn modelId="{44EB828E-32EE-4DF9-AF93-257544B858EE}" type="presParOf" srcId="{B9740F72-AAF8-4C12-B2BB-E5285A4AD8B9}" destId="{2DC083BD-4E7C-441D-B404-BC0D2C97A2BD}" srcOrd="0" destOrd="0" presId="urn:microsoft.com/office/officeart/2005/8/layout/cycle2"/>
    <dgm:cxn modelId="{0D52337B-78D1-4C88-83E8-222636EF3A47}" type="presParOf" srcId="{39F320BE-F71F-407D-9617-AEBD461F251B}" destId="{6CF666FE-2169-4D94-A2BA-1111022BA568}" srcOrd="8" destOrd="0" presId="urn:microsoft.com/office/officeart/2005/8/layout/cycle2"/>
    <dgm:cxn modelId="{EBF6706B-9DC1-406B-9EDE-E9083882396C}" type="presParOf" srcId="{39F320BE-F71F-407D-9617-AEBD461F251B}" destId="{8FAE403F-9735-4DCE-8DC2-68C9F99AC0C5}" srcOrd="9" destOrd="0" presId="urn:microsoft.com/office/officeart/2005/8/layout/cycle2"/>
    <dgm:cxn modelId="{A915AEFB-7CBA-40CF-9CAA-F41B67AF2D5E}" type="presParOf" srcId="{8FAE403F-9735-4DCE-8DC2-68C9F99AC0C5}" destId="{3C7F1FC6-26EA-4ED8-8BB6-3612CC3C7E6F}"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36338C-34DB-4512-B5D7-9FF795EFB575}" type="doc">
      <dgm:prSet loTypeId="urn:microsoft.com/office/officeart/2005/8/layout/pyramid2" loCatId="pyramid" qsTypeId="urn:microsoft.com/office/officeart/2005/8/quickstyle/simple1" qsCatId="simple" csTypeId="urn:microsoft.com/office/officeart/2005/8/colors/accent1_2" csCatId="accent1" phldr="1"/>
      <dgm:spPr/>
    </dgm:pt>
    <dgm:pt modelId="{2D33E298-5E31-423F-8CB5-53CCE25DD11D}">
      <dgm:prSet phldrT="[Texto]"/>
      <dgm:spPr/>
      <dgm:t>
        <a:bodyPr/>
        <a:lstStyle/>
        <a:p>
          <a:r>
            <a:rPr lang="es-AR" dirty="0" smtClean="0"/>
            <a:t>Mercado: Conjunto de compradores reales o potenciales.</a:t>
          </a:r>
          <a:endParaRPr lang="es-AR" dirty="0"/>
        </a:p>
      </dgm:t>
    </dgm:pt>
    <dgm:pt modelId="{6B61036E-65AA-4AF8-863D-1D09B879DA40}" type="parTrans" cxnId="{EF59F494-EC1C-462D-94D8-DF9AF1E4216D}">
      <dgm:prSet/>
      <dgm:spPr/>
    </dgm:pt>
    <dgm:pt modelId="{4205FFD7-88A9-4225-A2B1-A3FD395C364B}" type="sibTrans" cxnId="{EF59F494-EC1C-462D-94D8-DF9AF1E4216D}">
      <dgm:prSet/>
      <dgm:spPr/>
    </dgm:pt>
    <dgm:pt modelId="{AC70EC45-6700-44DD-83EA-5D656470985C}">
      <dgm:prSet phldrT="[Texto]"/>
      <dgm:spPr/>
      <dgm:t>
        <a:bodyPr/>
        <a:lstStyle/>
        <a:p>
          <a:r>
            <a:rPr lang="es-AR" dirty="0" smtClean="0"/>
            <a:t>Marketing: trabaja con mercados para que se lleven a cabo intercambios.</a:t>
          </a:r>
          <a:endParaRPr lang="es-AR" dirty="0"/>
        </a:p>
      </dgm:t>
    </dgm:pt>
    <dgm:pt modelId="{50C2BFE9-BD98-4F26-B8C3-A2380A4754DE}" type="parTrans" cxnId="{B03E71CD-991C-4E32-89D2-8DA189024B31}">
      <dgm:prSet/>
      <dgm:spPr/>
    </dgm:pt>
    <dgm:pt modelId="{A58853AD-AF8C-4F9D-8134-338A2FCDF53B}" type="sibTrans" cxnId="{B03E71CD-991C-4E32-89D2-8DA189024B31}">
      <dgm:prSet/>
      <dgm:spPr/>
    </dgm:pt>
    <dgm:pt modelId="{0E9C52F3-ED64-4124-B8A3-0BEAEF0A0007}">
      <dgm:prSet phldrT="[Texto]"/>
      <dgm:spPr/>
      <dgm:t>
        <a:bodyPr/>
        <a:lstStyle/>
        <a:p>
          <a:r>
            <a:rPr lang="es-AR" dirty="0" smtClean="0"/>
            <a:t>Finalidad: satisfacer deseos y  necesidades.</a:t>
          </a:r>
          <a:endParaRPr lang="es-AR" dirty="0"/>
        </a:p>
      </dgm:t>
    </dgm:pt>
    <dgm:pt modelId="{28A1E076-E8D7-4A97-BEBF-1172DA8DEC51}" type="parTrans" cxnId="{F4AF35D0-F73D-4D92-AFF1-3F9C9C6A4362}">
      <dgm:prSet/>
      <dgm:spPr/>
    </dgm:pt>
    <dgm:pt modelId="{B8A54289-EA6F-4F1D-BCD7-793A222F18B0}" type="sibTrans" cxnId="{F4AF35D0-F73D-4D92-AFF1-3F9C9C6A4362}">
      <dgm:prSet/>
      <dgm:spPr/>
    </dgm:pt>
    <dgm:pt modelId="{18988EB8-3040-465F-8A5B-950811DCBC38}" type="pres">
      <dgm:prSet presAssocID="{E436338C-34DB-4512-B5D7-9FF795EFB575}" presName="compositeShape" presStyleCnt="0">
        <dgm:presLayoutVars>
          <dgm:dir/>
          <dgm:resizeHandles/>
        </dgm:presLayoutVars>
      </dgm:prSet>
      <dgm:spPr/>
    </dgm:pt>
    <dgm:pt modelId="{D08DE774-9D27-4B1E-9D98-928E9461B48B}" type="pres">
      <dgm:prSet presAssocID="{E436338C-34DB-4512-B5D7-9FF795EFB575}" presName="pyramid" presStyleLbl="node1" presStyleIdx="0" presStyleCnt="1"/>
      <dgm:spPr/>
    </dgm:pt>
    <dgm:pt modelId="{28D67723-D8BD-43C5-B844-A3B98D122E72}" type="pres">
      <dgm:prSet presAssocID="{E436338C-34DB-4512-B5D7-9FF795EFB575}" presName="theList" presStyleCnt="0"/>
      <dgm:spPr/>
    </dgm:pt>
    <dgm:pt modelId="{790815DC-E32F-4966-9673-F0A839967925}" type="pres">
      <dgm:prSet presAssocID="{2D33E298-5E31-423F-8CB5-53CCE25DD11D}" presName="aNode" presStyleLbl="fgAcc1" presStyleIdx="0" presStyleCnt="3">
        <dgm:presLayoutVars>
          <dgm:bulletEnabled val="1"/>
        </dgm:presLayoutVars>
      </dgm:prSet>
      <dgm:spPr/>
      <dgm:t>
        <a:bodyPr/>
        <a:lstStyle/>
        <a:p>
          <a:endParaRPr lang="es-AR"/>
        </a:p>
      </dgm:t>
    </dgm:pt>
    <dgm:pt modelId="{4E00AE59-ABFB-44C9-BD83-8EA065877110}" type="pres">
      <dgm:prSet presAssocID="{2D33E298-5E31-423F-8CB5-53CCE25DD11D}" presName="aSpace" presStyleCnt="0"/>
      <dgm:spPr/>
    </dgm:pt>
    <dgm:pt modelId="{10CE90FE-87FF-4BDE-A868-8D6941C47E86}" type="pres">
      <dgm:prSet presAssocID="{AC70EC45-6700-44DD-83EA-5D656470985C}" presName="aNode" presStyleLbl="fgAcc1" presStyleIdx="1" presStyleCnt="3">
        <dgm:presLayoutVars>
          <dgm:bulletEnabled val="1"/>
        </dgm:presLayoutVars>
      </dgm:prSet>
      <dgm:spPr/>
      <dgm:t>
        <a:bodyPr/>
        <a:lstStyle/>
        <a:p>
          <a:endParaRPr lang="es-AR"/>
        </a:p>
      </dgm:t>
    </dgm:pt>
    <dgm:pt modelId="{361F9B9C-BC37-4D17-B134-DDADB9397C7F}" type="pres">
      <dgm:prSet presAssocID="{AC70EC45-6700-44DD-83EA-5D656470985C}" presName="aSpace" presStyleCnt="0"/>
      <dgm:spPr/>
    </dgm:pt>
    <dgm:pt modelId="{06D2CC01-073A-4DDE-AACA-03E686A7F5B7}" type="pres">
      <dgm:prSet presAssocID="{0E9C52F3-ED64-4124-B8A3-0BEAEF0A0007}" presName="aNode" presStyleLbl="fgAcc1" presStyleIdx="2" presStyleCnt="3">
        <dgm:presLayoutVars>
          <dgm:bulletEnabled val="1"/>
        </dgm:presLayoutVars>
      </dgm:prSet>
      <dgm:spPr/>
      <dgm:t>
        <a:bodyPr/>
        <a:lstStyle/>
        <a:p>
          <a:endParaRPr lang="es-AR"/>
        </a:p>
      </dgm:t>
    </dgm:pt>
    <dgm:pt modelId="{0B90E750-C059-41B4-9B13-B0B1F874E969}" type="pres">
      <dgm:prSet presAssocID="{0E9C52F3-ED64-4124-B8A3-0BEAEF0A0007}" presName="aSpace" presStyleCnt="0"/>
      <dgm:spPr/>
    </dgm:pt>
  </dgm:ptLst>
  <dgm:cxnLst>
    <dgm:cxn modelId="{C66AE66C-793C-4224-B02A-9F8E87A518DC}" type="presOf" srcId="{AC70EC45-6700-44DD-83EA-5D656470985C}" destId="{10CE90FE-87FF-4BDE-A868-8D6941C47E86}" srcOrd="0" destOrd="0" presId="urn:microsoft.com/office/officeart/2005/8/layout/pyramid2"/>
    <dgm:cxn modelId="{7D30802D-D11D-4672-AC8F-25DE161D2992}" type="presOf" srcId="{2D33E298-5E31-423F-8CB5-53CCE25DD11D}" destId="{790815DC-E32F-4966-9673-F0A839967925}" srcOrd="0" destOrd="0" presId="urn:microsoft.com/office/officeart/2005/8/layout/pyramid2"/>
    <dgm:cxn modelId="{3CA2D209-B1F7-4D52-8622-D2D172989A68}" type="presOf" srcId="{0E9C52F3-ED64-4124-B8A3-0BEAEF0A0007}" destId="{06D2CC01-073A-4DDE-AACA-03E686A7F5B7}" srcOrd="0" destOrd="0" presId="urn:microsoft.com/office/officeart/2005/8/layout/pyramid2"/>
    <dgm:cxn modelId="{F4AF35D0-F73D-4D92-AFF1-3F9C9C6A4362}" srcId="{E436338C-34DB-4512-B5D7-9FF795EFB575}" destId="{0E9C52F3-ED64-4124-B8A3-0BEAEF0A0007}" srcOrd="2" destOrd="0" parTransId="{28A1E076-E8D7-4A97-BEBF-1172DA8DEC51}" sibTransId="{B8A54289-EA6F-4F1D-BCD7-793A222F18B0}"/>
    <dgm:cxn modelId="{B03E71CD-991C-4E32-89D2-8DA189024B31}" srcId="{E436338C-34DB-4512-B5D7-9FF795EFB575}" destId="{AC70EC45-6700-44DD-83EA-5D656470985C}" srcOrd="1" destOrd="0" parTransId="{50C2BFE9-BD98-4F26-B8C3-A2380A4754DE}" sibTransId="{A58853AD-AF8C-4F9D-8134-338A2FCDF53B}"/>
    <dgm:cxn modelId="{EF59F494-EC1C-462D-94D8-DF9AF1E4216D}" srcId="{E436338C-34DB-4512-B5D7-9FF795EFB575}" destId="{2D33E298-5E31-423F-8CB5-53CCE25DD11D}" srcOrd="0" destOrd="0" parTransId="{6B61036E-65AA-4AF8-863D-1D09B879DA40}" sibTransId="{4205FFD7-88A9-4225-A2B1-A3FD395C364B}"/>
    <dgm:cxn modelId="{FBAE7412-2A74-47B0-AC3D-2711D495E77C}" type="presOf" srcId="{E436338C-34DB-4512-B5D7-9FF795EFB575}" destId="{18988EB8-3040-465F-8A5B-950811DCBC38}" srcOrd="0" destOrd="0" presId="urn:microsoft.com/office/officeart/2005/8/layout/pyramid2"/>
    <dgm:cxn modelId="{AA8E12FB-9D1B-4832-AA9C-F6099C179C81}" type="presParOf" srcId="{18988EB8-3040-465F-8A5B-950811DCBC38}" destId="{D08DE774-9D27-4B1E-9D98-928E9461B48B}" srcOrd="0" destOrd="0" presId="urn:microsoft.com/office/officeart/2005/8/layout/pyramid2"/>
    <dgm:cxn modelId="{6BF8295F-74E4-44B3-B8B4-4B6764CD5759}" type="presParOf" srcId="{18988EB8-3040-465F-8A5B-950811DCBC38}" destId="{28D67723-D8BD-43C5-B844-A3B98D122E72}" srcOrd="1" destOrd="0" presId="urn:microsoft.com/office/officeart/2005/8/layout/pyramid2"/>
    <dgm:cxn modelId="{DD324076-38FD-47D6-8DDA-755F2D385E44}" type="presParOf" srcId="{28D67723-D8BD-43C5-B844-A3B98D122E72}" destId="{790815DC-E32F-4966-9673-F0A839967925}" srcOrd="0" destOrd="0" presId="urn:microsoft.com/office/officeart/2005/8/layout/pyramid2"/>
    <dgm:cxn modelId="{4188328E-8309-47CC-A3A8-4A8CF5763874}" type="presParOf" srcId="{28D67723-D8BD-43C5-B844-A3B98D122E72}" destId="{4E00AE59-ABFB-44C9-BD83-8EA065877110}" srcOrd="1" destOrd="0" presId="urn:microsoft.com/office/officeart/2005/8/layout/pyramid2"/>
    <dgm:cxn modelId="{1A6D1F55-5C1D-4D20-B58A-F9911B4F599D}" type="presParOf" srcId="{28D67723-D8BD-43C5-B844-A3B98D122E72}" destId="{10CE90FE-87FF-4BDE-A868-8D6941C47E86}" srcOrd="2" destOrd="0" presId="urn:microsoft.com/office/officeart/2005/8/layout/pyramid2"/>
    <dgm:cxn modelId="{25FD665E-2634-4DCB-80E9-27BB4C873679}" type="presParOf" srcId="{28D67723-D8BD-43C5-B844-A3B98D122E72}" destId="{361F9B9C-BC37-4D17-B134-DDADB9397C7F}" srcOrd="3" destOrd="0" presId="urn:microsoft.com/office/officeart/2005/8/layout/pyramid2"/>
    <dgm:cxn modelId="{C0491E06-584B-4E43-A57A-840B95EA5521}" type="presParOf" srcId="{28D67723-D8BD-43C5-B844-A3B98D122E72}" destId="{06D2CC01-073A-4DDE-AACA-03E686A7F5B7}" srcOrd="4" destOrd="0" presId="urn:microsoft.com/office/officeart/2005/8/layout/pyramid2"/>
    <dgm:cxn modelId="{B3367203-A470-434E-A22A-AC9E230B514B}" type="presParOf" srcId="{28D67723-D8BD-43C5-B844-A3B98D122E72}" destId="{0B90E750-C059-41B4-9B13-B0B1F874E969}"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45C00B1-D72E-4286-9A09-B656BB36E4D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AR"/>
        </a:p>
      </dgm:t>
    </dgm:pt>
    <dgm:pt modelId="{8F82CB61-0B0D-4F83-B0BE-E47974183024}">
      <dgm:prSet phldrT="[Texto]" custT="1"/>
      <dgm:spPr>
        <a:solidFill>
          <a:srgbClr val="00B050"/>
        </a:solidFill>
      </dgm:spPr>
      <dgm:t>
        <a:bodyPr/>
        <a:lstStyle/>
        <a:p>
          <a:r>
            <a:rPr lang="es-AR" sz="1800" dirty="0" smtClean="0"/>
            <a:t>Agrupamiento de consumidores en función de comportamientos  similares.</a:t>
          </a:r>
          <a:endParaRPr lang="es-AR" sz="1800" dirty="0"/>
        </a:p>
      </dgm:t>
    </dgm:pt>
    <dgm:pt modelId="{BB6A6202-9EC8-4825-AC2F-6FAE63A96DBB}" type="parTrans" cxnId="{DF9D02E4-23FC-4AAD-80EB-AC0603092F2A}">
      <dgm:prSet/>
      <dgm:spPr/>
      <dgm:t>
        <a:bodyPr/>
        <a:lstStyle/>
        <a:p>
          <a:endParaRPr lang="es-AR"/>
        </a:p>
      </dgm:t>
    </dgm:pt>
    <dgm:pt modelId="{8D3B9DCE-FF0F-4281-8C30-CD074FC164FA}" type="sibTrans" cxnId="{DF9D02E4-23FC-4AAD-80EB-AC0603092F2A}">
      <dgm:prSet/>
      <dgm:spPr/>
      <dgm:t>
        <a:bodyPr/>
        <a:lstStyle/>
        <a:p>
          <a:endParaRPr lang="es-AR"/>
        </a:p>
      </dgm:t>
    </dgm:pt>
    <dgm:pt modelId="{8855C8B8-45F1-42FE-840C-81DB9165322D}">
      <dgm:prSet phldrT="[Texto]" custT="1"/>
      <dgm:spPr>
        <a:solidFill>
          <a:srgbClr val="FFFF00"/>
        </a:solidFill>
        <a:ln>
          <a:solidFill>
            <a:schemeClr val="tx1"/>
          </a:solidFill>
        </a:ln>
      </dgm:spPr>
      <dgm:t>
        <a:bodyPr/>
        <a:lstStyle/>
        <a:p>
          <a:r>
            <a:rPr lang="es-AR" sz="1600" dirty="0" smtClean="0">
              <a:solidFill>
                <a:schemeClr val="tx1"/>
              </a:solidFill>
            </a:rPr>
            <a:t>Factores de segmentación: necesidades, recursos, ubicaciones, actitudes de compra, etc.</a:t>
          </a:r>
          <a:endParaRPr lang="es-AR" sz="1600" dirty="0">
            <a:solidFill>
              <a:schemeClr val="tx1"/>
            </a:solidFill>
          </a:endParaRPr>
        </a:p>
      </dgm:t>
    </dgm:pt>
    <dgm:pt modelId="{299234A9-C532-4E1D-86B4-5718598010C6}" type="parTrans" cxnId="{637B4DB8-2F54-4F4A-942F-59D7A3BE56F4}">
      <dgm:prSet/>
      <dgm:spPr/>
      <dgm:t>
        <a:bodyPr/>
        <a:lstStyle/>
        <a:p>
          <a:endParaRPr lang="es-AR"/>
        </a:p>
      </dgm:t>
    </dgm:pt>
    <dgm:pt modelId="{13087FB5-1C65-49A0-AC34-6448C33745B5}" type="sibTrans" cxnId="{637B4DB8-2F54-4F4A-942F-59D7A3BE56F4}">
      <dgm:prSet/>
      <dgm:spPr/>
      <dgm:t>
        <a:bodyPr/>
        <a:lstStyle/>
        <a:p>
          <a:endParaRPr lang="es-AR"/>
        </a:p>
      </dgm:t>
    </dgm:pt>
    <dgm:pt modelId="{1B570ED5-ADFA-49F9-BBCF-5DD0AB83F7A9}">
      <dgm:prSet phldrT="[Texto]"/>
      <dgm:spPr>
        <a:solidFill>
          <a:srgbClr val="7030A0"/>
        </a:solidFill>
      </dgm:spPr>
      <dgm:t>
        <a:bodyPr/>
        <a:lstStyle/>
        <a:p>
          <a:r>
            <a:rPr lang="es-AR" dirty="0" smtClean="0"/>
            <a:t>Permite conocer al consumidor utilizando menos recursos.</a:t>
          </a:r>
          <a:endParaRPr lang="es-AR" dirty="0"/>
        </a:p>
      </dgm:t>
    </dgm:pt>
    <dgm:pt modelId="{EEC4EB57-7FFD-48FE-A602-74160D4872B7}" type="parTrans" cxnId="{B92F0323-97AF-4645-ACD8-C9395AF24D7A}">
      <dgm:prSet/>
      <dgm:spPr/>
      <dgm:t>
        <a:bodyPr/>
        <a:lstStyle/>
        <a:p>
          <a:endParaRPr lang="es-AR"/>
        </a:p>
      </dgm:t>
    </dgm:pt>
    <dgm:pt modelId="{5BB905FC-71C7-4B26-BB3E-C10D7A775A9C}" type="sibTrans" cxnId="{B92F0323-97AF-4645-ACD8-C9395AF24D7A}">
      <dgm:prSet/>
      <dgm:spPr/>
      <dgm:t>
        <a:bodyPr/>
        <a:lstStyle/>
        <a:p>
          <a:endParaRPr lang="es-AR"/>
        </a:p>
      </dgm:t>
    </dgm:pt>
    <dgm:pt modelId="{3C0D0D07-9DCF-4A7B-BA9B-E929BC92B856}" type="pres">
      <dgm:prSet presAssocID="{D45C00B1-D72E-4286-9A09-B656BB36E4DD}" presName="linear" presStyleCnt="0">
        <dgm:presLayoutVars>
          <dgm:dir/>
          <dgm:animLvl val="lvl"/>
          <dgm:resizeHandles val="exact"/>
        </dgm:presLayoutVars>
      </dgm:prSet>
      <dgm:spPr/>
      <dgm:t>
        <a:bodyPr/>
        <a:lstStyle/>
        <a:p>
          <a:endParaRPr lang="es-AR"/>
        </a:p>
      </dgm:t>
    </dgm:pt>
    <dgm:pt modelId="{8CE7B9EB-7D4D-44E9-88B2-AF77C40A14A2}" type="pres">
      <dgm:prSet presAssocID="{8F82CB61-0B0D-4F83-B0BE-E47974183024}" presName="parentLin" presStyleCnt="0"/>
      <dgm:spPr/>
    </dgm:pt>
    <dgm:pt modelId="{321EDC59-F70E-412F-AAF6-29172A68E20E}" type="pres">
      <dgm:prSet presAssocID="{8F82CB61-0B0D-4F83-B0BE-E47974183024}" presName="parentLeftMargin" presStyleLbl="node1" presStyleIdx="0" presStyleCnt="3"/>
      <dgm:spPr/>
      <dgm:t>
        <a:bodyPr/>
        <a:lstStyle/>
        <a:p>
          <a:endParaRPr lang="es-AR"/>
        </a:p>
      </dgm:t>
    </dgm:pt>
    <dgm:pt modelId="{593C768F-91FB-42BC-B219-16E450E6E48D}" type="pres">
      <dgm:prSet presAssocID="{8F82CB61-0B0D-4F83-B0BE-E47974183024}" presName="parentText" presStyleLbl="node1" presStyleIdx="0" presStyleCnt="3" custScaleY="284368" custLinFactX="6319" custLinFactNeighborX="100000" custLinFactNeighborY="32636">
        <dgm:presLayoutVars>
          <dgm:chMax val="0"/>
          <dgm:bulletEnabled val="1"/>
        </dgm:presLayoutVars>
      </dgm:prSet>
      <dgm:spPr/>
      <dgm:t>
        <a:bodyPr/>
        <a:lstStyle/>
        <a:p>
          <a:endParaRPr lang="es-AR"/>
        </a:p>
      </dgm:t>
    </dgm:pt>
    <dgm:pt modelId="{36D3B104-55B5-44E5-A28E-ECD2207DE0CE}" type="pres">
      <dgm:prSet presAssocID="{8F82CB61-0B0D-4F83-B0BE-E47974183024}" presName="negativeSpace" presStyleCnt="0"/>
      <dgm:spPr/>
    </dgm:pt>
    <dgm:pt modelId="{A8D116F3-9B0F-489A-8849-D8A4449E2CE2}" type="pres">
      <dgm:prSet presAssocID="{8F82CB61-0B0D-4F83-B0BE-E47974183024}" presName="childText" presStyleLbl="conFgAcc1" presStyleIdx="0" presStyleCnt="3">
        <dgm:presLayoutVars>
          <dgm:bulletEnabled val="1"/>
        </dgm:presLayoutVars>
      </dgm:prSet>
      <dgm:spPr/>
    </dgm:pt>
    <dgm:pt modelId="{76FFD430-7182-4B0F-8CCF-0F0B83B8CD59}" type="pres">
      <dgm:prSet presAssocID="{8D3B9DCE-FF0F-4281-8C30-CD074FC164FA}" presName="spaceBetweenRectangles" presStyleCnt="0"/>
      <dgm:spPr/>
    </dgm:pt>
    <dgm:pt modelId="{0ABCB789-CCC1-49E2-836A-1CE113D5E485}" type="pres">
      <dgm:prSet presAssocID="{8855C8B8-45F1-42FE-840C-81DB9165322D}" presName="parentLin" presStyleCnt="0"/>
      <dgm:spPr/>
    </dgm:pt>
    <dgm:pt modelId="{BB531CAD-0707-48FA-8E05-83321C7EFB3F}" type="pres">
      <dgm:prSet presAssocID="{8855C8B8-45F1-42FE-840C-81DB9165322D}" presName="parentLeftMargin" presStyleLbl="node1" presStyleIdx="0" presStyleCnt="3"/>
      <dgm:spPr/>
      <dgm:t>
        <a:bodyPr/>
        <a:lstStyle/>
        <a:p>
          <a:endParaRPr lang="es-AR"/>
        </a:p>
      </dgm:t>
    </dgm:pt>
    <dgm:pt modelId="{95F34B4C-CC3F-4FC6-B767-7C474E064C53}" type="pres">
      <dgm:prSet presAssocID="{8855C8B8-45F1-42FE-840C-81DB9165322D}" presName="parentText" presStyleLbl="node1" presStyleIdx="1" presStyleCnt="3" custScaleY="303313" custLinFactX="5059" custLinFactNeighborX="100000" custLinFactNeighborY="36771">
        <dgm:presLayoutVars>
          <dgm:chMax val="0"/>
          <dgm:bulletEnabled val="1"/>
        </dgm:presLayoutVars>
      </dgm:prSet>
      <dgm:spPr/>
      <dgm:t>
        <a:bodyPr/>
        <a:lstStyle/>
        <a:p>
          <a:endParaRPr lang="es-AR"/>
        </a:p>
      </dgm:t>
    </dgm:pt>
    <dgm:pt modelId="{8A7D29B0-7CDE-4936-B0E8-9ADE62FCCC38}" type="pres">
      <dgm:prSet presAssocID="{8855C8B8-45F1-42FE-840C-81DB9165322D}" presName="negativeSpace" presStyleCnt="0"/>
      <dgm:spPr/>
    </dgm:pt>
    <dgm:pt modelId="{44D089FC-4BE5-4BAB-AB8C-C63D57BC8738}" type="pres">
      <dgm:prSet presAssocID="{8855C8B8-45F1-42FE-840C-81DB9165322D}" presName="childText" presStyleLbl="conFgAcc1" presStyleIdx="1" presStyleCnt="3">
        <dgm:presLayoutVars>
          <dgm:bulletEnabled val="1"/>
        </dgm:presLayoutVars>
      </dgm:prSet>
      <dgm:spPr/>
    </dgm:pt>
    <dgm:pt modelId="{04B4F493-B9B4-4764-B999-568BF77271EB}" type="pres">
      <dgm:prSet presAssocID="{13087FB5-1C65-49A0-AC34-6448C33745B5}" presName="spaceBetweenRectangles" presStyleCnt="0"/>
      <dgm:spPr/>
    </dgm:pt>
    <dgm:pt modelId="{CD463C3E-C1C6-4859-9486-B3926F9D7327}" type="pres">
      <dgm:prSet presAssocID="{1B570ED5-ADFA-49F9-BBCF-5DD0AB83F7A9}" presName="parentLin" presStyleCnt="0"/>
      <dgm:spPr/>
    </dgm:pt>
    <dgm:pt modelId="{0D01C678-D5DA-4845-9674-40C674F8DD24}" type="pres">
      <dgm:prSet presAssocID="{1B570ED5-ADFA-49F9-BBCF-5DD0AB83F7A9}" presName="parentLeftMargin" presStyleLbl="node1" presStyleIdx="1" presStyleCnt="3"/>
      <dgm:spPr/>
      <dgm:t>
        <a:bodyPr/>
        <a:lstStyle/>
        <a:p>
          <a:endParaRPr lang="es-AR"/>
        </a:p>
      </dgm:t>
    </dgm:pt>
    <dgm:pt modelId="{D50B5AFD-4C8A-475A-88A2-C78DE2AD6626}" type="pres">
      <dgm:prSet presAssocID="{1B570ED5-ADFA-49F9-BBCF-5DD0AB83F7A9}" presName="parentText" presStyleLbl="node1" presStyleIdx="2" presStyleCnt="3" custScaleY="263581" custLinFactX="7561" custLinFactNeighborX="100000" custLinFactNeighborY="78523">
        <dgm:presLayoutVars>
          <dgm:chMax val="0"/>
          <dgm:bulletEnabled val="1"/>
        </dgm:presLayoutVars>
      </dgm:prSet>
      <dgm:spPr/>
      <dgm:t>
        <a:bodyPr/>
        <a:lstStyle/>
        <a:p>
          <a:endParaRPr lang="es-AR"/>
        </a:p>
      </dgm:t>
    </dgm:pt>
    <dgm:pt modelId="{A27984A9-92D5-4888-8D3B-5F9F62F1096F}" type="pres">
      <dgm:prSet presAssocID="{1B570ED5-ADFA-49F9-BBCF-5DD0AB83F7A9}" presName="negativeSpace" presStyleCnt="0"/>
      <dgm:spPr/>
    </dgm:pt>
    <dgm:pt modelId="{B0BC7C1C-D894-441F-B898-3164BBE3B0C1}" type="pres">
      <dgm:prSet presAssocID="{1B570ED5-ADFA-49F9-BBCF-5DD0AB83F7A9}" presName="childText" presStyleLbl="conFgAcc1" presStyleIdx="2" presStyleCnt="3">
        <dgm:presLayoutVars>
          <dgm:bulletEnabled val="1"/>
        </dgm:presLayoutVars>
      </dgm:prSet>
      <dgm:spPr/>
    </dgm:pt>
  </dgm:ptLst>
  <dgm:cxnLst>
    <dgm:cxn modelId="{4334D674-32FA-46E6-A343-C7374249E70A}" type="presOf" srcId="{D45C00B1-D72E-4286-9A09-B656BB36E4DD}" destId="{3C0D0D07-9DCF-4A7B-BA9B-E929BC92B856}" srcOrd="0" destOrd="0" presId="urn:microsoft.com/office/officeart/2005/8/layout/list1"/>
    <dgm:cxn modelId="{C3ED454C-A375-45D6-9625-66DADCA58B94}" type="presOf" srcId="{8855C8B8-45F1-42FE-840C-81DB9165322D}" destId="{BB531CAD-0707-48FA-8E05-83321C7EFB3F}" srcOrd="0" destOrd="0" presId="urn:microsoft.com/office/officeart/2005/8/layout/list1"/>
    <dgm:cxn modelId="{DF9D02E4-23FC-4AAD-80EB-AC0603092F2A}" srcId="{D45C00B1-D72E-4286-9A09-B656BB36E4DD}" destId="{8F82CB61-0B0D-4F83-B0BE-E47974183024}" srcOrd="0" destOrd="0" parTransId="{BB6A6202-9EC8-4825-AC2F-6FAE63A96DBB}" sibTransId="{8D3B9DCE-FF0F-4281-8C30-CD074FC164FA}"/>
    <dgm:cxn modelId="{2645AF60-3A01-4310-B540-A2F6C06843A8}" type="presOf" srcId="{1B570ED5-ADFA-49F9-BBCF-5DD0AB83F7A9}" destId="{D50B5AFD-4C8A-475A-88A2-C78DE2AD6626}" srcOrd="1" destOrd="0" presId="urn:microsoft.com/office/officeart/2005/8/layout/list1"/>
    <dgm:cxn modelId="{E90B0908-79F6-4260-B18A-E5EF77F07F71}" type="presOf" srcId="{1B570ED5-ADFA-49F9-BBCF-5DD0AB83F7A9}" destId="{0D01C678-D5DA-4845-9674-40C674F8DD24}" srcOrd="0" destOrd="0" presId="urn:microsoft.com/office/officeart/2005/8/layout/list1"/>
    <dgm:cxn modelId="{F2383D0B-51B7-4FFA-B75E-75C5334B1534}" type="presOf" srcId="{8855C8B8-45F1-42FE-840C-81DB9165322D}" destId="{95F34B4C-CC3F-4FC6-B767-7C474E064C53}" srcOrd="1" destOrd="0" presId="urn:microsoft.com/office/officeart/2005/8/layout/list1"/>
    <dgm:cxn modelId="{1D3C29BB-3B7A-4ECB-9BCF-B1FA1813B16A}" type="presOf" srcId="{8F82CB61-0B0D-4F83-B0BE-E47974183024}" destId="{321EDC59-F70E-412F-AAF6-29172A68E20E}" srcOrd="0" destOrd="0" presId="urn:microsoft.com/office/officeart/2005/8/layout/list1"/>
    <dgm:cxn modelId="{B92F0323-97AF-4645-ACD8-C9395AF24D7A}" srcId="{D45C00B1-D72E-4286-9A09-B656BB36E4DD}" destId="{1B570ED5-ADFA-49F9-BBCF-5DD0AB83F7A9}" srcOrd="2" destOrd="0" parTransId="{EEC4EB57-7FFD-48FE-A602-74160D4872B7}" sibTransId="{5BB905FC-71C7-4B26-BB3E-C10D7A775A9C}"/>
    <dgm:cxn modelId="{637B4DB8-2F54-4F4A-942F-59D7A3BE56F4}" srcId="{D45C00B1-D72E-4286-9A09-B656BB36E4DD}" destId="{8855C8B8-45F1-42FE-840C-81DB9165322D}" srcOrd="1" destOrd="0" parTransId="{299234A9-C532-4E1D-86B4-5718598010C6}" sibTransId="{13087FB5-1C65-49A0-AC34-6448C33745B5}"/>
    <dgm:cxn modelId="{0CC58F93-73C4-4A1C-BD29-62897DFAFEAD}" type="presOf" srcId="{8F82CB61-0B0D-4F83-B0BE-E47974183024}" destId="{593C768F-91FB-42BC-B219-16E450E6E48D}" srcOrd="1" destOrd="0" presId="urn:microsoft.com/office/officeart/2005/8/layout/list1"/>
    <dgm:cxn modelId="{2DE1A644-E265-4B14-B681-2AA3415A9D45}" type="presParOf" srcId="{3C0D0D07-9DCF-4A7B-BA9B-E929BC92B856}" destId="{8CE7B9EB-7D4D-44E9-88B2-AF77C40A14A2}" srcOrd="0" destOrd="0" presId="urn:microsoft.com/office/officeart/2005/8/layout/list1"/>
    <dgm:cxn modelId="{BA355FE7-A22E-4EE0-B67A-7AD90C470D7D}" type="presParOf" srcId="{8CE7B9EB-7D4D-44E9-88B2-AF77C40A14A2}" destId="{321EDC59-F70E-412F-AAF6-29172A68E20E}" srcOrd="0" destOrd="0" presId="urn:microsoft.com/office/officeart/2005/8/layout/list1"/>
    <dgm:cxn modelId="{568D37DC-3E1F-4FFD-ACBA-85952C10090B}" type="presParOf" srcId="{8CE7B9EB-7D4D-44E9-88B2-AF77C40A14A2}" destId="{593C768F-91FB-42BC-B219-16E450E6E48D}" srcOrd="1" destOrd="0" presId="urn:microsoft.com/office/officeart/2005/8/layout/list1"/>
    <dgm:cxn modelId="{45FDE192-9BA0-412C-87CA-A20AD742AEC2}" type="presParOf" srcId="{3C0D0D07-9DCF-4A7B-BA9B-E929BC92B856}" destId="{36D3B104-55B5-44E5-A28E-ECD2207DE0CE}" srcOrd="1" destOrd="0" presId="urn:microsoft.com/office/officeart/2005/8/layout/list1"/>
    <dgm:cxn modelId="{F332D064-5D4F-4480-9DA1-1D478BD2B858}" type="presParOf" srcId="{3C0D0D07-9DCF-4A7B-BA9B-E929BC92B856}" destId="{A8D116F3-9B0F-489A-8849-D8A4449E2CE2}" srcOrd="2" destOrd="0" presId="urn:microsoft.com/office/officeart/2005/8/layout/list1"/>
    <dgm:cxn modelId="{D289DFD7-488C-4FA1-AD6B-8A8B1EC360C0}" type="presParOf" srcId="{3C0D0D07-9DCF-4A7B-BA9B-E929BC92B856}" destId="{76FFD430-7182-4B0F-8CCF-0F0B83B8CD59}" srcOrd="3" destOrd="0" presId="urn:microsoft.com/office/officeart/2005/8/layout/list1"/>
    <dgm:cxn modelId="{A8CBA34D-57F7-4750-861A-F1EF24237450}" type="presParOf" srcId="{3C0D0D07-9DCF-4A7B-BA9B-E929BC92B856}" destId="{0ABCB789-CCC1-49E2-836A-1CE113D5E485}" srcOrd="4" destOrd="0" presId="urn:microsoft.com/office/officeart/2005/8/layout/list1"/>
    <dgm:cxn modelId="{37971498-78BD-4133-A4A8-899EC981C469}" type="presParOf" srcId="{0ABCB789-CCC1-49E2-836A-1CE113D5E485}" destId="{BB531CAD-0707-48FA-8E05-83321C7EFB3F}" srcOrd="0" destOrd="0" presId="urn:microsoft.com/office/officeart/2005/8/layout/list1"/>
    <dgm:cxn modelId="{AFB00965-8DF9-4254-9084-A18BD3AAAE21}" type="presParOf" srcId="{0ABCB789-CCC1-49E2-836A-1CE113D5E485}" destId="{95F34B4C-CC3F-4FC6-B767-7C474E064C53}" srcOrd="1" destOrd="0" presId="urn:microsoft.com/office/officeart/2005/8/layout/list1"/>
    <dgm:cxn modelId="{F753BFB1-B655-46AF-9767-342C76CD1512}" type="presParOf" srcId="{3C0D0D07-9DCF-4A7B-BA9B-E929BC92B856}" destId="{8A7D29B0-7CDE-4936-B0E8-9ADE62FCCC38}" srcOrd="5" destOrd="0" presId="urn:microsoft.com/office/officeart/2005/8/layout/list1"/>
    <dgm:cxn modelId="{5A5B90E8-E8A7-47A5-AC97-909137D764F6}" type="presParOf" srcId="{3C0D0D07-9DCF-4A7B-BA9B-E929BC92B856}" destId="{44D089FC-4BE5-4BAB-AB8C-C63D57BC8738}" srcOrd="6" destOrd="0" presId="urn:microsoft.com/office/officeart/2005/8/layout/list1"/>
    <dgm:cxn modelId="{9A21C405-9809-4DA1-99BE-352BEF2BA9E9}" type="presParOf" srcId="{3C0D0D07-9DCF-4A7B-BA9B-E929BC92B856}" destId="{04B4F493-B9B4-4764-B999-568BF77271EB}" srcOrd="7" destOrd="0" presId="urn:microsoft.com/office/officeart/2005/8/layout/list1"/>
    <dgm:cxn modelId="{F4E0F2FC-8768-4A81-9783-AAB629B3355A}" type="presParOf" srcId="{3C0D0D07-9DCF-4A7B-BA9B-E929BC92B856}" destId="{CD463C3E-C1C6-4859-9486-B3926F9D7327}" srcOrd="8" destOrd="0" presId="urn:microsoft.com/office/officeart/2005/8/layout/list1"/>
    <dgm:cxn modelId="{2BD4E856-6E50-465C-BE69-4A61735D424C}" type="presParOf" srcId="{CD463C3E-C1C6-4859-9486-B3926F9D7327}" destId="{0D01C678-D5DA-4845-9674-40C674F8DD24}" srcOrd="0" destOrd="0" presId="urn:microsoft.com/office/officeart/2005/8/layout/list1"/>
    <dgm:cxn modelId="{FB685744-FA55-4867-8983-59DC24169CB8}" type="presParOf" srcId="{CD463C3E-C1C6-4859-9486-B3926F9D7327}" destId="{D50B5AFD-4C8A-475A-88A2-C78DE2AD6626}" srcOrd="1" destOrd="0" presId="urn:microsoft.com/office/officeart/2005/8/layout/list1"/>
    <dgm:cxn modelId="{29FB12A1-D09C-407F-BAAE-914A00D38BD5}" type="presParOf" srcId="{3C0D0D07-9DCF-4A7B-BA9B-E929BC92B856}" destId="{A27984A9-92D5-4888-8D3B-5F9F62F1096F}" srcOrd="9" destOrd="0" presId="urn:microsoft.com/office/officeart/2005/8/layout/list1"/>
    <dgm:cxn modelId="{4F985812-12AB-4266-AB6D-6B44D35FC6DB}" type="presParOf" srcId="{3C0D0D07-9DCF-4A7B-BA9B-E929BC92B856}" destId="{B0BC7C1C-D894-441F-B898-3164BBE3B0C1}"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A83069C-007E-4C4F-96AB-FB1B693626AF}"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s-AR"/>
        </a:p>
      </dgm:t>
    </dgm:pt>
    <dgm:pt modelId="{C3775562-2BF9-4BE8-ACE5-E154162A135B}">
      <dgm:prSet phldrT="[Texto]"/>
      <dgm:spPr>
        <a:solidFill>
          <a:srgbClr val="7030A0"/>
        </a:solidFill>
      </dgm:spPr>
      <dgm:t>
        <a:bodyPr/>
        <a:lstStyle/>
        <a:p>
          <a:r>
            <a:rPr lang="es-AR" dirty="0" smtClean="0"/>
            <a:t>Segmentación geográfica</a:t>
          </a:r>
          <a:endParaRPr lang="es-AR" dirty="0"/>
        </a:p>
      </dgm:t>
    </dgm:pt>
    <dgm:pt modelId="{1DB20B6A-5F65-4C94-8184-EFB31EFF9AA3}" type="parTrans" cxnId="{B4492248-57A7-4126-A8BE-B4D89B955858}">
      <dgm:prSet/>
      <dgm:spPr/>
      <dgm:t>
        <a:bodyPr/>
        <a:lstStyle/>
        <a:p>
          <a:endParaRPr lang="es-AR"/>
        </a:p>
      </dgm:t>
    </dgm:pt>
    <dgm:pt modelId="{0741819B-FF47-4497-89AB-C360880EFF1A}" type="sibTrans" cxnId="{B4492248-57A7-4126-A8BE-B4D89B955858}">
      <dgm:prSet/>
      <dgm:spPr/>
      <dgm:t>
        <a:bodyPr/>
        <a:lstStyle/>
        <a:p>
          <a:endParaRPr lang="es-AR"/>
        </a:p>
      </dgm:t>
    </dgm:pt>
    <dgm:pt modelId="{A1176F3B-6F1E-4CC3-BAAF-E732F17DA3DB}">
      <dgm:prSet phldrT="[Texto]"/>
      <dgm:spPr>
        <a:solidFill>
          <a:srgbClr val="FFC000"/>
        </a:solidFill>
      </dgm:spPr>
      <dgm:t>
        <a:bodyPr/>
        <a:lstStyle/>
        <a:p>
          <a:r>
            <a:rPr lang="es-AR" dirty="0" smtClean="0"/>
            <a:t>Segmentación demográfica</a:t>
          </a:r>
          <a:endParaRPr lang="es-AR" dirty="0"/>
        </a:p>
      </dgm:t>
    </dgm:pt>
    <dgm:pt modelId="{5C44750B-A700-4F9E-BCB4-31F8664117DD}" type="parTrans" cxnId="{E961EE9B-0BC8-4C82-BBA9-FF18655162C7}">
      <dgm:prSet/>
      <dgm:spPr/>
      <dgm:t>
        <a:bodyPr/>
        <a:lstStyle/>
        <a:p>
          <a:endParaRPr lang="es-AR"/>
        </a:p>
      </dgm:t>
    </dgm:pt>
    <dgm:pt modelId="{36CB662F-12EB-40C9-84C1-8AEA1D7B7921}" type="sibTrans" cxnId="{E961EE9B-0BC8-4C82-BBA9-FF18655162C7}">
      <dgm:prSet/>
      <dgm:spPr/>
      <dgm:t>
        <a:bodyPr/>
        <a:lstStyle/>
        <a:p>
          <a:endParaRPr lang="es-AR"/>
        </a:p>
      </dgm:t>
    </dgm:pt>
    <dgm:pt modelId="{647A986D-D051-41F9-9B1C-088C65474D7B}">
      <dgm:prSet phldrT="[Texto]"/>
      <dgm:spPr>
        <a:solidFill>
          <a:schemeClr val="accent5">
            <a:lumMod val="75000"/>
          </a:schemeClr>
        </a:solidFill>
      </dgm:spPr>
      <dgm:t>
        <a:bodyPr/>
        <a:lstStyle/>
        <a:p>
          <a:r>
            <a:rPr lang="es-AR" dirty="0" smtClean="0"/>
            <a:t>Segmentación </a:t>
          </a:r>
          <a:r>
            <a:rPr lang="es-AR" dirty="0" err="1" smtClean="0"/>
            <a:t>psicográfica</a:t>
          </a:r>
          <a:endParaRPr lang="es-AR" dirty="0"/>
        </a:p>
      </dgm:t>
    </dgm:pt>
    <dgm:pt modelId="{1ECFD116-07E2-41D4-8194-CCF80AB5EE36}" type="parTrans" cxnId="{FB6682EB-7D52-4E07-A3A8-E4AEC2B8E718}">
      <dgm:prSet/>
      <dgm:spPr/>
      <dgm:t>
        <a:bodyPr/>
        <a:lstStyle/>
        <a:p>
          <a:endParaRPr lang="es-AR"/>
        </a:p>
      </dgm:t>
    </dgm:pt>
    <dgm:pt modelId="{6B5C488C-3CD1-4454-8D12-5B0C3B921BFD}" type="sibTrans" cxnId="{FB6682EB-7D52-4E07-A3A8-E4AEC2B8E718}">
      <dgm:prSet/>
      <dgm:spPr/>
      <dgm:t>
        <a:bodyPr/>
        <a:lstStyle/>
        <a:p>
          <a:endParaRPr lang="es-AR"/>
        </a:p>
      </dgm:t>
    </dgm:pt>
    <dgm:pt modelId="{4C90CF96-AE54-46A0-8EFB-54084FAD497D}">
      <dgm:prSet phldrT="[Texto]"/>
      <dgm:spPr/>
      <dgm:t>
        <a:bodyPr/>
        <a:lstStyle/>
        <a:p>
          <a:r>
            <a:rPr lang="es-AR" dirty="0" smtClean="0"/>
            <a:t>Segmentación por conducta.</a:t>
          </a:r>
          <a:endParaRPr lang="es-AR" dirty="0"/>
        </a:p>
      </dgm:t>
    </dgm:pt>
    <dgm:pt modelId="{75AE6971-4CDE-4DF8-A99E-33969A4270D7}" type="parTrans" cxnId="{048A55AA-E462-48AF-B5E0-D7A2102ECC22}">
      <dgm:prSet/>
      <dgm:spPr/>
      <dgm:t>
        <a:bodyPr/>
        <a:lstStyle/>
        <a:p>
          <a:endParaRPr lang="es-AR"/>
        </a:p>
      </dgm:t>
    </dgm:pt>
    <dgm:pt modelId="{8F167383-C02A-42A0-B29F-317211277E9E}" type="sibTrans" cxnId="{048A55AA-E462-48AF-B5E0-D7A2102ECC22}">
      <dgm:prSet/>
      <dgm:spPr/>
      <dgm:t>
        <a:bodyPr/>
        <a:lstStyle/>
        <a:p>
          <a:endParaRPr lang="es-AR"/>
        </a:p>
      </dgm:t>
    </dgm:pt>
    <dgm:pt modelId="{8EE91B2B-6368-47FC-B1EE-A41601164CE9}" type="pres">
      <dgm:prSet presAssocID="{9A83069C-007E-4C4F-96AB-FB1B693626AF}" presName="diagram" presStyleCnt="0">
        <dgm:presLayoutVars>
          <dgm:dir/>
          <dgm:resizeHandles val="exact"/>
        </dgm:presLayoutVars>
      </dgm:prSet>
      <dgm:spPr/>
      <dgm:t>
        <a:bodyPr/>
        <a:lstStyle/>
        <a:p>
          <a:endParaRPr lang="es-AR"/>
        </a:p>
      </dgm:t>
    </dgm:pt>
    <dgm:pt modelId="{C3BD9014-52D9-4184-B8CB-2BF4E919E3F3}" type="pres">
      <dgm:prSet presAssocID="{C3775562-2BF9-4BE8-ACE5-E154162A135B}" presName="node" presStyleLbl="node1" presStyleIdx="0" presStyleCnt="4">
        <dgm:presLayoutVars>
          <dgm:bulletEnabled val="1"/>
        </dgm:presLayoutVars>
      </dgm:prSet>
      <dgm:spPr/>
      <dgm:t>
        <a:bodyPr/>
        <a:lstStyle/>
        <a:p>
          <a:endParaRPr lang="es-AR"/>
        </a:p>
      </dgm:t>
    </dgm:pt>
    <dgm:pt modelId="{D3A02113-11B1-4E81-B990-DB1A4D296639}" type="pres">
      <dgm:prSet presAssocID="{0741819B-FF47-4497-89AB-C360880EFF1A}" presName="sibTrans" presStyleCnt="0"/>
      <dgm:spPr/>
    </dgm:pt>
    <dgm:pt modelId="{C59AB63F-5216-42DD-B70E-DCCC146F8389}" type="pres">
      <dgm:prSet presAssocID="{A1176F3B-6F1E-4CC3-BAAF-E732F17DA3DB}" presName="node" presStyleLbl="node1" presStyleIdx="1" presStyleCnt="4">
        <dgm:presLayoutVars>
          <dgm:bulletEnabled val="1"/>
        </dgm:presLayoutVars>
      </dgm:prSet>
      <dgm:spPr/>
      <dgm:t>
        <a:bodyPr/>
        <a:lstStyle/>
        <a:p>
          <a:endParaRPr lang="es-AR"/>
        </a:p>
      </dgm:t>
    </dgm:pt>
    <dgm:pt modelId="{97249E36-6B03-419F-8F8A-4C48A62BEA69}" type="pres">
      <dgm:prSet presAssocID="{36CB662F-12EB-40C9-84C1-8AEA1D7B7921}" presName="sibTrans" presStyleCnt="0"/>
      <dgm:spPr/>
    </dgm:pt>
    <dgm:pt modelId="{9F529250-1E03-49DF-836A-5898BBC70316}" type="pres">
      <dgm:prSet presAssocID="{647A986D-D051-41F9-9B1C-088C65474D7B}" presName="node" presStyleLbl="node1" presStyleIdx="2" presStyleCnt="4">
        <dgm:presLayoutVars>
          <dgm:bulletEnabled val="1"/>
        </dgm:presLayoutVars>
      </dgm:prSet>
      <dgm:spPr/>
      <dgm:t>
        <a:bodyPr/>
        <a:lstStyle/>
        <a:p>
          <a:endParaRPr lang="es-AR"/>
        </a:p>
      </dgm:t>
    </dgm:pt>
    <dgm:pt modelId="{B389AEBE-E168-4394-8AB1-CDC77B06A952}" type="pres">
      <dgm:prSet presAssocID="{6B5C488C-3CD1-4454-8D12-5B0C3B921BFD}" presName="sibTrans" presStyleCnt="0"/>
      <dgm:spPr/>
    </dgm:pt>
    <dgm:pt modelId="{F02CE32F-EBFA-4384-A93D-6CC6E1888014}" type="pres">
      <dgm:prSet presAssocID="{4C90CF96-AE54-46A0-8EFB-54084FAD497D}" presName="node" presStyleLbl="node1" presStyleIdx="3" presStyleCnt="4">
        <dgm:presLayoutVars>
          <dgm:bulletEnabled val="1"/>
        </dgm:presLayoutVars>
      </dgm:prSet>
      <dgm:spPr/>
      <dgm:t>
        <a:bodyPr/>
        <a:lstStyle/>
        <a:p>
          <a:endParaRPr lang="es-AR"/>
        </a:p>
      </dgm:t>
    </dgm:pt>
  </dgm:ptLst>
  <dgm:cxnLst>
    <dgm:cxn modelId="{E49B07BF-5234-4EAF-8A2A-14A276BB1085}" type="presOf" srcId="{647A986D-D051-41F9-9B1C-088C65474D7B}" destId="{9F529250-1E03-49DF-836A-5898BBC70316}" srcOrd="0" destOrd="0" presId="urn:microsoft.com/office/officeart/2005/8/layout/default"/>
    <dgm:cxn modelId="{6B4E170F-A8EB-4CD6-91DD-88F5CCF9151B}" type="presOf" srcId="{C3775562-2BF9-4BE8-ACE5-E154162A135B}" destId="{C3BD9014-52D9-4184-B8CB-2BF4E919E3F3}" srcOrd="0" destOrd="0" presId="urn:microsoft.com/office/officeart/2005/8/layout/default"/>
    <dgm:cxn modelId="{5EA1BD4B-AF6B-4BF8-A95E-83B6CD98F4CF}" type="presOf" srcId="{9A83069C-007E-4C4F-96AB-FB1B693626AF}" destId="{8EE91B2B-6368-47FC-B1EE-A41601164CE9}" srcOrd="0" destOrd="0" presId="urn:microsoft.com/office/officeart/2005/8/layout/default"/>
    <dgm:cxn modelId="{E961EE9B-0BC8-4C82-BBA9-FF18655162C7}" srcId="{9A83069C-007E-4C4F-96AB-FB1B693626AF}" destId="{A1176F3B-6F1E-4CC3-BAAF-E732F17DA3DB}" srcOrd="1" destOrd="0" parTransId="{5C44750B-A700-4F9E-BCB4-31F8664117DD}" sibTransId="{36CB662F-12EB-40C9-84C1-8AEA1D7B7921}"/>
    <dgm:cxn modelId="{B4492248-57A7-4126-A8BE-B4D89B955858}" srcId="{9A83069C-007E-4C4F-96AB-FB1B693626AF}" destId="{C3775562-2BF9-4BE8-ACE5-E154162A135B}" srcOrd="0" destOrd="0" parTransId="{1DB20B6A-5F65-4C94-8184-EFB31EFF9AA3}" sibTransId="{0741819B-FF47-4497-89AB-C360880EFF1A}"/>
    <dgm:cxn modelId="{0DA375B9-FCDE-46FD-84F0-C601B256A8E2}" type="presOf" srcId="{4C90CF96-AE54-46A0-8EFB-54084FAD497D}" destId="{F02CE32F-EBFA-4384-A93D-6CC6E1888014}" srcOrd="0" destOrd="0" presId="urn:microsoft.com/office/officeart/2005/8/layout/default"/>
    <dgm:cxn modelId="{FB6682EB-7D52-4E07-A3A8-E4AEC2B8E718}" srcId="{9A83069C-007E-4C4F-96AB-FB1B693626AF}" destId="{647A986D-D051-41F9-9B1C-088C65474D7B}" srcOrd="2" destOrd="0" parTransId="{1ECFD116-07E2-41D4-8194-CCF80AB5EE36}" sibTransId="{6B5C488C-3CD1-4454-8D12-5B0C3B921BFD}"/>
    <dgm:cxn modelId="{E1F5D84F-15D4-4F92-AD41-3DDA3C7A753F}" type="presOf" srcId="{A1176F3B-6F1E-4CC3-BAAF-E732F17DA3DB}" destId="{C59AB63F-5216-42DD-B70E-DCCC146F8389}" srcOrd="0" destOrd="0" presId="urn:microsoft.com/office/officeart/2005/8/layout/default"/>
    <dgm:cxn modelId="{048A55AA-E462-48AF-B5E0-D7A2102ECC22}" srcId="{9A83069C-007E-4C4F-96AB-FB1B693626AF}" destId="{4C90CF96-AE54-46A0-8EFB-54084FAD497D}" srcOrd="3" destOrd="0" parTransId="{75AE6971-4CDE-4DF8-A99E-33969A4270D7}" sibTransId="{8F167383-C02A-42A0-B29F-317211277E9E}"/>
    <dgm:cxn modelId="{59110D9E-3249-41D9-98D6-177737374E46}" type="presParOf" srcId="{8EE91B2B-6368-47FC-B1EE-A41601164CE9}" destId="{C3BD9014-52D9-4184-B8CB-2BF4E919E3F3}" srcOrd="0" destOrd="0" presId="urn:microsoft.com/office/officeart/2005/8/layout/default"/>
    <dgm:cxn modelId="{9FAEA21B-6602-4680-9121-A32C33B7FECF}" type="presParOf" srcId="{8EE91B2B-6368-47FC-B1EE-A41601164CE9}" destId="{D3A02113-11B1-4E81-B990-DB1A4D296639}" srcOrd="1" destOrd="0" presId="urn:microsoft.com/office/officeart/2005/8/layout/default"/>
    <dgm:cxn modelId="{64EC5B13-4ACE-4343-ABC2-7F6D3F3BDB80}" type="presParOf" srcId="{8EE91B2B-6368-47FC-B1EE-A41601164CE9}" destId="{C59AB63F-5216-42DD-B70E-DCCC146F8389}" srcOrd="2" destOrd="0" presId="urn:microsoft.com/office/officeart/2005/8/layout/default"/>
    <dgm:cxn modelId="{F217D346-97EE-4A9F-8040-1451A7A5A0C9}" type="presParOf" srcId="{8EE91B2B-6368-47FC-B1EE-A41601164CE9}" destId="{97249E36-6B03-419F-8F8A-4C48A62BEA69}" srcOrd="3" destOrd="0" presId="urn:microsoft.com/office/officeart/2005/8/layout/default"/>
    <dgm:cxn modelId="{0DF1B50B-2E80-472A-902C-5FEEA25B4543}" type="presParOf" srcId="{8EE91B2B-6368-47FC-B1EE-A41601164CE9}" destId="{9F529250-1E03-49DF-836A-5898BBC70316}" srcOrd="4" destOrd="0" presId="urn:microsoft.com/office/officeart/2005/8/layout/default"/>
    <dgm:cxn modelId="{3AC7714E-9CCE-424D-B2BB-FBB99B73FDFC}" type="presParOf" srcId="{8EE91B2B-6368-47FC-B1EE-A41601164CE9}" destId="{B389AEBE-E168-4394-8AB1-CDC77B06A952}" srcOrd="5" destOrd="0" presId="urn:microsoft.com/office/officeart/2005/8/layout/default"/>
    <dgm:cxn modelId="{FB8A57FB-2433-45B7-8F3C-C1243901F62E}" type="presParOf" srcId="{8EE91B2B-6368-47FC-B1EE-A41601164CE9}" destId="{F02CE32F-EBFA-4384-A93D-6CC6E1888014}"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D6480A9-62E9-4511-90DF-C45B33AAE99C}"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s-AR"/>
        </a:p>
      </dgm:t>
    </dgm:pt>
    <dgm:pt modelId="{A625407D-8CE3-4DFC-A6CC-64508EB0D951}">
      <dgm:prSet phldrT="[Texto]"/>
      <dgm:spPr>
        <a:solidFill>
          <a:srgbClr val="00B050"/>
        </a:solidFill>
      </dgm:spPr>
      <dgm:t>
        <a:bodyPr/>
        <a:lstStyle/>
        <a:p>
          <a:r>
            <a:rPr lang="es-AR" b="1" dirty="0" smtClean="0">
              <a:solidFill>
                <a:schemeClr val="tx1"/>
              </a:solidFill>
            </a:rPr>
            <a:t>Mercado proveedor</a:t>
          </a:r>
          <a:endParaRPr lang="es-AR" b="1" dirty="0">
            <a:solidFill>
              <a:schemeClr val="tx1"/>
            </a:solidFill>
          </a:endParaRPr>
        </a:p>
      </dgm:t>
    </dgm:pt>
    <dgm:pt modelId="{1E1DC79D-5280-4DCF-BD91-A6D670468296}" type="parTrans" cxnId="{98866BD4-D0C7-42C7-AB9A-7E04842447E2}">
      <dgm:prSet/>
      <dgm:spPr/>
      <dgm:t>
        <a:bodyPr/>
        <a:lstStyle/>
        <a:p>
          <a:endParaRPr lang="es-AR"/>
        </a:p>
      </dgm:t>
    </dgm:pt>
    <dgm:pt modelId="{B9788A14-C25A-4EB7-A9EC-865B2F4895AD}" type="sibTrans" cxnId="{98866BD4-D0C7-42C7-AB9A-7E04842447E2}">
      <dgm:prSet/>
      <dgm:spPr/>
      <dgm:t>
        <a:bodyPr/>
        <a:lstStyle/>
        <a:p>
          <a:endParaRPr lang="es-AR"/>
        </a:p>
      </dgm:t>
    </dgm:pt>
    <dgm:pt modelId="{45CBD124-52FE-4BDB-BB27-85407C27CFC7}">
      <dgm:prSet phldrT="[Texto]"/>
      <dgm:spPr>
        <a:solidFill>
          <a:srgbClr val="FFFF00"/>
        </a:solidFill>
      </dgm:spPr>
      <dgm:t>
        <a:bodyPr/>
        <a:lstStyle/>
        <a:p>
          <a:r>
            <a:rPr lang="es-AR" dirty="0" smtClean="0">
              <a:solidFill>
                <a:schemeClr val="tx1"/>
              </a:solidFill>
            </a:rPr>
            <a:t>Mercado competidor</a:t>
          </a:r>
          <a:endParaRPr lang="es-AR" dirty="0">
            <a:solidFill>
              <a:schemeClr val="tx1"/>
            </a:solidFill>
          </a:endParaRPr>
        </a:p>
      </dgm:t>
    </dgm:pt>
    <dgm:pt modelId="{209C25CE-A894-46D2-AE2D-60A357F2660A}" type="parTrans" cxnId="{1147F584-4886-4AB4-B9C2-9621777FBAE0}">
      <dgm:prSet/>
      <dgm:spPr/>
      <dgm:t>
        <a:bodyPr/>
        <a:lstStyle/>
        <a:p>
          <a:endParaRPr lang="es-AR"/>
        </a:p>
      </dgm:t>
    </dgm:pt>
    <dgm:pt modelId="{C3FCBA1A-D648-4607-AC25-B5A44EAE9A62}" type="sibTrans" cxnId="{1147F584-4886-4AB4-B9C2-9621777FBAE0}">
      <dgm:prSet/>
      <dgm:spPr/>
      <dgm:t>
        <a:bodyPr/>
        <a:lstStyle/>
        <a:p>
          <a:endParaRPr lang="es-AR"/>
        </a:p>
      </dgm:t>
    </dgm:pt>
    <dgm:pt modelId="{5726AB7A-84DF-43A3-AAF5-9B7E0D528D0B}">
      <dgm:prSet phldrT="[Texto]"/>
      <dgm:spPr>
        <a:solidFill>
          <a:schemeClr val="tx2">
            <a:lumMod val="60000"/>
            <a:lumOff val="40000"/>
          </a:schemeClr>
        </a:solidFill>
      </dgm:spPr>
      <dgm:t>
        <a:bodyPr/>
        <a:lstStyle/>
        <a:p>
          <a:r>
            <a:rPr lang="es-AR" dirty="0" smtClean="0">
              <a:solidFill>
                <a:schemeClr val="tx1"/>
              </a:solidFill>
            </a:rPr>
            <a:t>Mercado  distribuidor</a:t>
          </a:r>
          <a:endParaRPr lang="es-AR" dirty="0">
            <a:solidFill>
              <a:schemeClr val="tx1"/>
            </a:solidFill>
          </a:endParaRPr>
        </a:p>
      </dgm:t>
    </dgm:pt>
    <dgm:pt modelId="{93FF4EB6-6686-4B1B-AF32-3C9DF37636C0}" type="parTrans" cxnId="{E417F2F9-38CF-440A-9884-FD65D0BC1383}">
      <dgm:prSet/>
      <dgm:spPr/>
      <dgm:t>
        <a:bodyPr/>
        <a:lstStyle/>
        <a:p>
          <a:endParaRPr lang="es-AR"/>
        </a:p>
      </dgm:t>
    </dgm:pt>
    <dgm:pt modelId="{7A0D0022-6B59-4A44-8D39-F99022E15343}" type="sibTrans" cxnId="{E417F2F9-38CF-440A-9884-FD65D0BC1383}">
      <dgm:prSet/>
      <dgm:spPr/>
      <dgm:t>
        <a:bodyPr/>
        <a:lstStyle/>
        <a:p>
          <a:endParaRPr lang="es-AR"/>
        </a:p>
      </dgm:t>
    </dgm:pt>
    <dgm:pt modelId="{BFC7B221-5003-4E49-B92D-807CFCDF0253}">
      <dgm:prSet phldrT="[Texto]"/>
      <dgm:spPr>
        <a:solidFill>
          <a:srgbClr val="7030A0"/>
        </a:solidFill>
      </dgm:spPr>
      <dgm:t>
        <a:bodyPr/>
        <a:lstStyle/>
        <a:p>
          <a:r>
            <a:rPr lang="es-AR" dirty="0" smtClean="0">
              <a:solidFill>
                <a:schemeClr val="tx1"/>
              </a:solidFill>
            </a:rPr>
            <a:t>Mercado Consumidor</a:t>
          </a:r>
          <a:endParaRPr lang="es-AR" dirty="0">
            <a:solidFill>
              <a:schemeClr val="tx1"/>
            </a:solidFill>
          </a:endParaRPr>
        </a:p>
      </dgm:t>
    </dgm:pt>
    <dgm:pt modelId="{D91259E3-4AFF-4ED9-B8FF-F1BB8EF47FA6}" type="parTrans" cxnId="{580DCF25-99F2-4CBF-BAA9-F1A858D2008E}">
      <dgm:prSet/>
      <dgm:spPr/>
      <dgm:t>
        <a:bodyPr/>
        <a:lstStyle/>
        <a:p>
          <a:endParaRPr lang="es-AR"/>
        </a:p>
      </dgm:t>
    </dgm:pt>
    <dgm:pt modelId="{35CF1032-B948-41FB-B8EF-7768802FDCFB}" type="sibTrans" cxnId="{580DCF25-99F2-4CBF-BAA9-F1A858D2008E}">
      <dgm:prSet/>
      <dgm:spPr/>
      <dgm:t>
        <a:bodyPr/>
        <a:lstStyle/>
        <a:p>
          <a:endParaRPr lang="es-AR"/>
        </a:p>
      </dgm:t>
    </dgm:pt>
    <dgm:pt modelId="{BBE33F4C-A0E3-4F10-88AA-93093B9FBD93}">
      <dgm:prSet phldrT="[Texto]"/>
      <dgm:spPr/>
      <dgm:t>
        <a:bodyPr/>
        <a:lstStyle/>
        <a:p>
          <a:r>
            <a:rPr lang="es-AR" dirty="0" smtClean="0">
              <a:solidFill>
                <a:schemeClr val="tx1"/>
              </a:solidFill>
            </a:rPr>
            <a:t>Mercado Externo</a:t>
          </a:r>
          <a:endParaRPr lang="es-AR" dirty="0">
            <a:solidFill>
              <a:schemeClr val="tx1"/>
            </a:solidFill>
          </a:endParaRPr>
        </a:p>
      </dgm:t>
    </dgm:pt>
    <dgm:pt modelId="{2D131CE6-FD0D-4155-A6AF-4F15FCBF8E37}" type="parTrans" cxnId="{56269D2C-421C-49E6-AD24-2FBBB8E09BFA}">
      <dgm:prSet/>
      <dgm:spPr/>
      <dgm:t>
        <a:bodyPr/>
        <a:lstStyle/>
        <a:p>
          <a:endParaRPr lang="es-AR"/>
        </a:p>
      </dgm:t>
    </dgm:pt>
    <dgm:pt modelId="{04FA9523-5C40-4071-95C0-ECE4C5C76160}" type="sibTrans" cxnId="{56269D2C-421C-49E6-AD24-2FBBB8E09BFA}">
      <dgm:prSet/>
      <dgm:spPr/>
      <dgm:t>
        <a:bodyPr/>
        <a:lstStyle/>
        <a:p>
          <a:endParaRPr lang="es-AR"/>
        </a:p>
      </dgm:t>
    </dgm:pt>
    <dgm:pt modelId="{C9727F33-F1AE-478A-827D-89723E12A764}" type="pres">
      <dgm:prSet presAssocID="{DD6480A9-62E9-4511-90DF-C45B33AAE99C}" presName="cycle" presStyleCnt="0">
        <dgm:presLayoutVars>
          <dgm:dir/>
          <dgm:resizeHandles val="exact"/>
        </dgm:presLayoutVars>
      </dgm:prSet>
      <dgm:spPr/>
      <dgm:t>
        <a:bodyPr/>
        <a:lstStyle/>
        <a:p>
          <a:endParaRPr lang="es-ES"/>
        </a:p>
      </dgm:t>
    </dgm:pt>
    <dgm:pt modelId="{7862E7BF-6306-4500-9C40-4D6F074FBE5F}" type="pres">
      <dgm:prSet presAssocID="{A625407D-8CE3-4DFC-A6CC-64508EB0D951}" presName="node" presStyleLbl="node1" presStyleIdx="0" presStyleCnt="5">
        <dgm:presLayoutVars>
          <dgm:bulletEnabled val="1"/>
        </dgm:presLayoutVars>
      </dgm:prSet>
      <dgm:spPr/>
      <dgm:t>
        <a:bodyPr/>
        <a:lstStyle/>
        <a:p>
          <a:endParaRPr lang="es-AR"/>
        </a:p>
      </dgm:t>
    </dgm:pt>
    <dgm:pt modelId="{5B24FB6A-92C3-46CC-A297-27C8A83B873C}" type="pres">
      <dgm:prSet presAssocID="{B9788A14-C25A-4EB7-A9EC-865B2F4895AD}" presName="sibTrans" presStyleLbl="sibTrans2D1" presStyleIdx="0" presStyleCnt="5"/>
      <dgm:spPr/>
      <dgm:t>
        <a:bodyPr/>
        <a:lstStyle/>
        <a:p>
          <a:endParaRPr lang="es-ES"/>
        </a:p>
      </dgm:t>
    </dgm:pt>
    <dgm:pt modelId="{778D97F7-666A-4C39-BC48-1B02666A1A43}" type="pres">
      <dgm:prSet presAssocID="{B9788A14-C25A-4EB7-A9EC-865B2F4895AD}" presName="connectorText" presStyleLbl="sibTrans2D1" presStyleIdx="0" presStyleCnt="5"/>
      <dgm:spPr/>
      <dgm:t>
        <a:bodyPr/>
        <a:lstStyle/>
        <a:p>
          <a:endParaRPr lang="es-ES"/>
        </a:p>
      </dgm:t>
    </dgm:pt>
    <dgm:pt modelId="{58E3FE06-E25C-4AA5-8490-6389373ABD37}" type="pres">
      <dgm:prSet presAssocID="{45CBD124-52FE-4BDB-BB27-85407C27CFC7}" presName="node" presStyleLbl="node1" presStyleIdx="1" presStyleCnt="5">
        <dgm:presLayoutVars>
          <dgm:bulletEnabled val="1"/>
        </dgm:presLayoutVars>
      </dgm:prSet>
      <dgm:spPr/>
      <dgm:t>
        <a:bodyPr/>
        <a:lstStyle/>
        <a:p>
          <a:endParaRPr lang="es-ES"/>
        </a:p>
      </dgm:t>
    </dgm:pt>
    <dgm:pt modelId="{CE2973A4-5045-4DC6-9B91-B06E00330549}" type="pres">
      <dgm:prSet presAssocID="{C3FCBA1A-D648-4607-AC25-B5A44EAE9A62}" presName="sibTrans" presStyleLbl="sibTrans2D1" presStyleIdx="1" presStyleCnt="5"/>
      <dgm:spPr/>
      <dgm:t>
        <a:bodyPr/>
        <a:lstStyle/>
        <a:p>
          <a:endParaRPr lang="es-ES"/>
        </a:p>
      </dgm:t>
    </dgm:pt>
    <dgm:pt modelId="{7C7D7BED-90C2-40D8-B6A9-82A42E9A3A51}" type="pres">
      <dgm:prSet presAssocID="{C3FCBA1A-D648-4607-AC25-B5A44EAE9A62}" presName="connectorText" presStyleLbl="sibTrans2D1" presStyleIdx="1" presStyleCnt="5"/>
      <dgm:spPr/>
      <dgm:t>
        <a:bodyPr/>
        <a:lstStyle/>
        <a:p>
          <a:endParaRPr lang="es-ES"/>
        </a:p>
      </dgm:t>
    </dgm:pt>
    <dgm:pt modelId="{0146CA55-FF4D-42CA-A545-0C478C9AA6A7}" type="pres">
      <dgm:prSet presAssocID="{5726AB7A-84DF-43A3-AAF5-9B7E0D528D0B}" presName="node" presStyleLbl="node1" presStyleIdx="2" presStyleCnt="5">
        <dgm:presLayoutVars>
          <dgm:bulletEnabled val="1"/>
        </dgm:presLayoutVars>
      </dgm:prSet>
      <dgm:spPr/>
      <dgm:t>
        <a:bodyPr/>
        <a:lstStyle/>
        <a:p>
          <a:endParaRPr lang="es-ES"/>
        </a:p>
      </dgm:t>
    </dgm:pt>
    <dgm:pt modelId="{7246C81A-BF9C-4D94-BB78-7B46F1B76D3D}" type="pres">
      <dgm:prSet presAssocID="{7A0D0022-6B59-4A44-8D39-F99022E15343}" presName="sibTrans" presStyleLbl="sibTrans2D1" presStyleIdx="2" presStyleCnt="5"/>
      <dgm:spPr/>
      <dgm:t>
        <a:bodyPr/>
        <a:lstStyle/>
        <a:p>
          <a:endParaRPr lang="es-ES"/>
        </a:p>
      </dgm:t>
    </dgm:pt>
    <dgm:pt modelId="{88510CB6-779E-4B64-B7E9-84DD4E2EE69D}" type="pres">
      <dgm:prSet presAssocID="{7A0D0022-6B59-4A44-8D39-F99022E15343}" presName="connectorText" presStyleLbl="sibTrans2D1" presStyleIdx="2" presStyleCnt="5"/>
      <dgm:spPr/>
      <dgm:t>
        <a:bodyPr/>
        <a:lstStyle/>
        <a:p>
          <a:endParaRPr lang="es-ES"/>
        </a:p>
      </dgm:t>
    </dgm:pt>
    <dgm:pt modelId="{2CF9A725-1089-4AD6-A3A0-4A1B8A7F8026}" type="pres">
      <dgm:prSet presAssocID="{BFC7B221-5003-4E49-B92D-807CFCDF0253}" presName="node" presStyleLbl="node1" presStyleIdx="3" presStyleCnt="5">
        <dgm:presLayoutVars>
          <dgm:bulletEnabled val="1"/>
        </dgm:presLayoutVars>
      </dgm:prSet>
      <dgm:spPr/>
      <dgm:t>
        <a:bodyPr/>
        <a:lstStyle/>
        <a:p>
          <a:endParaRPr lang="es-ES"/>
        </a:p>
      </dgm:t>
    </dgm:pt>
    <dgm:pt modelId="{05DFFEF6-74F1-45AA-9506-31692A30059E}" type="pres">
      <dgm:prSet presAssocID="{35CF1032-B948-41FB-B8EF-7768802FDCFB}" presName="sibTrans" presStyleLbl="sibTrans2D1" presStyleIdx="3" presStyleCnt="5"/>
      <dgm:spPr/>
      <dgm:t>
        <a:bodyPr/>
        <a:lstStyle/>
        <a:p>
          <a:endParaRPr lang="es-ES"/>
        </a:p>
      </dgm:t>
    </dgm:pt>
    <dgm:pt modelId="{8496A74D-C466-469F-B235-BFB34B6C66D1}" type="pres">
      <dgm:prSet presAssocID="{35CF1032-B948-41FB-B8EF-7768802FDCFB}" presName="connectorText" presStyleLbl="sibTrans2D1" presStyleIdx="3" presStyleCnt="5"/>
      <dgm:spPr/>
      <dgm:t>
        <a:bodyPr/>
        <a:lstStyle/>
        <a:p>
          <a:endParaRPr lang="es-ES"/>
        </a:p>
      </dgm:t>
    </dgm:pt>
    <dgm:pt modelId="{9BD6D4AB-2328-4B1A-97C3-72EE962A63C3}" type="pres">
      <dgm:prSet presAssocID="{BBE33F4C-A0E3-4F10-88AA-93093B9FBD93}" presName="node" presStyleLbl="node1" presStyleIdx="4" presStyleCnt="5">
        <dgm:presLayoutVars>
          <dgm:bulletEnabled val="1"/>
        </dgm:presLayoutVars>
      </dgm:prSet>
      <dgm:spPr/>
      <dgm:t>
        <a:bodyPr/>
        <a:lstStyle/>
        <a:p>
          <a:endParaRPr lang="es-ES"/>
        </a:p>
      </dgm:t>
    </dgm:pt>
    <dgm:pt modelId="{51C2DCEF-34E0-46A2-A936-CAF91755EACD}" type="pres">
      <dgm:prSet presAssocID="{04FA9523-5C40-4071-95C0-ECE4C5C76160}" presName="sibTrans" presStyleLbl="sibTrans2D1" presStyleIdx="4" presStyleCnt="5"/>
      <dgm:spPr/>
      <dgm:t>
        <a:bodyPr/>
        <a:lstStyle/>
        <a:p>
          <a:endParaRPr lang="es-ES"/>
        </a:p>
      </dgm:t>
    </dgm:pt>
    <dgm:pt modelId="{74277499-D7D3-420A-80C9-DCCD78DA40D5}" type="pres">
      <dgm:prSet presAssocID="{04FA9523-5C40-4071-95C0-ECE4C5C76160}" presName="connectorText" presStyleLbl="sibTrans2D1" presStyleIdx="4" presStyleCnt="5"/>
      <dgm:spPr/>
      <dgm:t>
        <a:bodyPr/>
        <a:lstStyle/>
        <a:p>
          <a:endParaRPr lang="es-ES"/>
        </a:p>
      </dgm:t>
    </dgm:pt>
  </dgm:ptLst>
  <dgm:cxnLst>
    <dgm:cxn modelId="{A23C94EC-1FAE-4642-9AD9-E41CC4AA4F7B}" type="presOf" srcId="{B9788A14-C25A-4EB7-A9EC-865B2F4895AD}" destId="{778D97F7-666A-4C39-BC48-1B02666A1A43}" srcOrd="1" destOrd="0" presId="urn:microsoft.com/office/officeart/2005/8/layout/cycle2"/>
    <dgm:cxn modelId="{580DCF25-99F2-4CBF-BAA9-F1A858D2008E}" srcId="{DD6480A9-62E9-4511-90DF-C45B33AAE99C}" destId="{BFC7B221-5003-4E49-B92D-807CFCDF0253}" srcOrd="3" destOrd="0" parTransId="{D91259E3-4AFF-4ED9-B8FF-F1BB8EF47FA6}" sibTransId="{35CF1032-B948-41FB-B8EF-7768802FDCFB}"/>
    <dgm:cxn modelId="{1147F584-4886-4AB4-B9C2-9621777FBAE0}" srcId="{DD6480A9-62E9-4511-90DF-C45B33AAE99C}" destId="{45CBD124-52FE-4BDB-BB27-85407C27CFC7}" srcOrd="1" destOrd="0" parTransId="{209C25CE-A894-46D2-AE2D-60A357F2660A}" sibTransId="{C3FCBA1A-D648-4607-AC25-B5A44EAE9A62}"/>
    <dgm:cxn modelId="{98866BD4-D0C7-42C7-AB9A-7E04842447E2}" srcId="{DD6480A9-62E9-4511-90DF-C45B33AAE99C}" destId="{A625407D-8CE3-4DFC-A6CC-64508EB0D951}" srcOrd="0" destOrd="0" parTransId="{1E1DC79D-5280-4DCF-BD91-A6D670468296}" sibTransId="{B9788A14-C25A-4EB7-A9EC-865B2F4895AD}"/>
    <dgm:cxn modelId="{30FFB900-7A05-4128-A910-1CEF3049BE9C}" type="presOf" srcId="{04FA9523-5C40-4071-95C0-ECE4C5C76160}" destId="{51C2DCEF-34E0-46A2-A936-CAF91755EACD}" srcOrd="0" destOrd="0" presId="urn:microsoft.com/office/officeart/2005/8/layout/cycle2"/>
    <dgm:cxn modelId="{56269D2C-421C-49E6-AD24-2FBBB8E09BFA}" srcId="{DD6480A9-62E9-4511-90DF-C45B33AAE99C}" destId="{BBE33F4C-A0E3-4F10-88AA-93093B9FBD93}" srcOrd="4" destOrd="0" parTransId="{2D131CE6-FD0D-4155-A6AF-4F15FCBF8E37}" sibTransId="{04FA9523-5C40-4071-95C0-ECE4C5C76160}"/>
    <dgm:cxn modelId="{E417F2F9-38CF-440A-9884-FD65D0BC1383}" srcId="{DD6480A9-62E9-4511-90DF-C45B33AAE99C}" destId="{5726AB7A-84DF-43A3-AAF5-9B7E0D528D0B}" srcOrd="2" destOrd="0" parTransId="{93FF4EB6-6686-4B1B-AF32-3C9DF37636C0}" sibTransId="{7A0D0022-6B59-4A44-8D39-F99022E15343}"/>
    <dgm:cxn modelId="{88C9C17B-7551-4C18-A98A-588CBC2440EA}" type="presOf" srcId="{BFC7B221-5003-4E49-B92D-807CFCDF0253}" destId="{2CF9A725-1089-4AD6-A3A0-4A1B8A7F8026}" srcOrd="0" destOrd="0" presId="urn:microsoft.com/office/officeart/2005/8/layout/cycle2"/>
    <dgm:cxn modelId="{89E2C756-4914-4CBF-80F7-F194D3F5F6B0}" type="presOf" srcId="{DD6480A9-62E9-4511-90DF-C45B33AAE99C}" destId="{C9727F33-F1AE-478A-827D-89723E12A764}" srcOrd="0" destOrd="0" presId="urn:microsoft.com/office/officeart/2005/8/layout/cycle2"/>
    <dgm:cxn modelId="{10E71856-3E91-4DA5-87B7-9CE26EB520A7}" type="presOf" srcId="{45CBD124-52FE-4BDB-BB27-85407C27CFC7}" destId="{58E3FE06-E25C-4AA5-8490-6389373ABD37}" srcOrd="0" destOrd="0" presId="urn:microsoft.com/office/officeart/2005/8/layout/cycle2"/>
    <dgm:cxn modelId="{4B420CD1-2AD6-4C30-B94E-A22C5C8DD738}" type="presOf" srcId="{35CF1032-B948-41FB-B8EF-7768802FDCFB}" destId="{05DFFEF6-74F1-45AA-9506-31692A30059E}" srcOrd="0" destOrd="0" presId="urn:microsoft.com/office/officeart/2005/8/layout/cycle2"/>
    <dgm:cxn modelId="{BE9A1ED3-8073-43A3-830E-0CB4E158D341}" type="presOf" srcId="{35CF1032-B948-41FB-B8EF-7768802FDCFB}" destId="{8496A74D-C466-469F-B235-BFB34B6C66D1}" srcOrd="1" destOrd="0" presId="urn:microsoft.com/office/officeart/2005/8/layout/cycle2"/>
    <dgm:cxn modelId="{EA13D88F-427C-420D-BC01-1FE0CCD9C1FC}" type="presOf" srcId="{B9788A14-C25A-4EB7-A9EC-865B2F4895AD}" destId="{5B24FB6A-92C3-46CC-A297-27C8A83B873C}" srcOrd="0" destOrd="0" presId="urn:microsoft.com/office/officeart/2005/8/layout/cycle2"/>
    <dgm:cxn modelId="{AC409BA2-F73F-4D4F-A562-60B68C22CCEC}" type="presOf" srcId="{BBE33F4C-A0E3-4F10-88AA-93093B9FBD93}" destId="{9BD6D4AB-2328-4B1A-97C3-72EE962A63C3}" srcOrd="0" destOrd="0" presId="urn:microsoft.com/office/officeart/2005/8/layout/cycle2"/>
    <dgm:cxn modelId="{DA8BD7DF-EBEE-4B96-AA67-6C32F5935954}" type="presOf" srcId="{04FA9523-5C40-4071-95C0-ECE4C5C76160}" destId="{74277499-D7D3-420A-80C9-DCCD78DA40D5}" srcOrd="1" destOrd="0" presId="urn:microsoft.com/office/officeart/2005/8/layout/cycle2"/>
    <dgm:cxn modelId="{97112B5D-023E-4BBE-9563-75C2E9F8A357}" type="presOf" srcId="{A625407D-8CE3-4DFC-A6CC-64508EB0D951}" destId="{7862E7BF-6306-4500-9C40-4D6F074FBE5F}" srcOrd="0" destOrd="0" presId="urn:microsoft.com/office/officeart/2005/8/layout/cycle2"/>
    <dgm:cxn modelId="{0FA43AD4-991B-4B45-8C9F-961E62F91958}" type="presOf" srcId="{7A0D0022-6B59-4A44-8D39-F99022E15343}" destId="{7246C81A-BF9C-4D94-BB78-7B46F1B76D3D}" srcOrd="0" destOrd="0" presId="urn:microsoft.com/office/officeart/2005/8/layout/cycle2"/>
    <dgm:cxn modelId="{60CF1F4B-9B0A-4567-ADA3-5B045367D9DB}" type="presOf" srcId="{C3FCBA1A-D648-4607-AC25-B5A44EAE9A62}" destId="{CE2973A4-5045-4DC6-9B91-B06E00330549}" srcOrd="0" destOrd="0" presId="urn:microsoft.com/office/officeart/2005/8/layout/cycle2"/>
    <dgm:cxn modelId="{FD186D46-F57B-4399-84FF-BFC55E1A3D8C}" type="presOf" srcId="{5726AB7A-84DF-43A3-AAF5-9B7E0D528D0B}" destId="{0146CA55-FF4D-42CA-A545-0C478C9AA6A7}" srcOrd="0" destOrd="0" presId="urn:microsoft.com/office/officeart/2005/8/layout/cycle2"/>
    <dgm:cxn modelId="{EC35A8F0-A33D-447F-8C17-D36A915F47F5}" type="presOf" srcId="{7A0D0022-6B59-4A44-8D39-F99022E15343}" destId="{88510CB6-779E-4B64-B7E9-84DD4E2EE69D}" srcOrd="1" destOrd="0" presId="urn:microsoft.com/office/officeart/2005/8/layout/cycle2"/>
    <dgm:cxn modelId="{710F327D-F496-4062-81E0-2DCC120EE884}" type="presOf" srcId="{C3FCBA1A-D648-4607-AC25-B5A44EAE9A62}" destId="{7C7D7BED-90C2-40D8-B6A9-82A42E9A3A51}" srcOrd="1" destOrd="0" presId="urn:microsoft.com/office/officeart/2005/8/layout/cycle2"/>
    <dgm:cxn modelId="{033C7F61-7B15-4FF7-9FC4-70B638E24F04}" type="presParOf" srcId="{C9727F33-F1AE-478A-827D-89723E12A764}" destId="{7862E7BF-6306-4500-9C40-4D6F074FBE5F}" srcOrd="0" destOrd="0" presId="urn:microsoft.com/office/officeart/2005/8/layout/cycle2"/>
    <dgm:cxn modelId="{EEFA1E14-24A0-4987-8917-7CFAF41C5577}" type="presParOf" srcId="{C9727F33-F1AE-478A-827D-89723E12A764}" destId="{5B24FB6A-92C3-46CC-A297-27C8A83B873C}" srcOrd="1" destOrd="0" presId="urn:microsoft.com/office/officeart/2005/8/layout/cycle2"/>
    <dgm:cxn modelId="{313AE65E-14E6-4B53-83C7-309E99CD7626}" type="presParOf" srcId="{5B24FB6A-92C3-46CC-A297-27C8A83B873C}" destId="{778D97F7-666A-4C39-BC48-1B02666A1A43}" srcOrd="0" destOrd="0" presId="urn:microsoft.com/office/officeart/2005/8/layout/cycle2"/>
    <dgm:cxn modelId="{D97E45A4-7DE0-4A71-A473-31366EB6CABA}" type="presParOf" srcId="{C9727F33-F1AE-478A-827D-89723E12A764}" destId="{58E3FE06-E25C-4AA5-8490-6389373ABD37}" srcOrd="2" destOrd="0" presId="urn:microsoft.com/office/officeart/2005/8/layout/cycle2"/>
    <dgm:cxn modelId="{427002DC-BEC2-4C23-BCFD-B5FA5A61545B}" type="presParOf" srcId="{C9727F33-F1AE-478A-827D-89723E12A764}" destId="{CE2973A4-5045-4DC6-9B91-B06E00330549}" srcOrd="3" destOrd="0" presId="urn:microsoft.com/office/officeart/2005/8/layout/cycle2"/>
    <dgm:cxn modelId="{87DC5CA5-C35D-4BB5-8CCA-26D8DAE895ED}" type="presParOf" srcId="{CE2973A4-5045-4DC6-9B91-B06E00330549}" destId="{7C7D7BED-90C2-40D8-B6A9-82A42E9A3A51}" srcOrd="0" destOrd="0" presId="urn:microsoft.com/office/officeart/2005/8/layout/cycle2"/>
    <dgm:cxn modelId="{D07E65EB-D62E-47A6-8610-B69D187EE7ED}" type="presParOf" srcId="{C9727F33-F1AE-478A-827D-89723E12A764}" destId="{0146CA55-FF4D-42CA-A545-0C478C9AA6A7}" srcOrd="4" destOrd="0" presId="urn:microsoft.com/office/officeart/2005/8/layout/cycle2"/>
    <dgm:cxn modelId="{7FB982B0-19AE-4BB3-BA71-54365323F81E}" type="presParOf" srcId="{C9727F33-F1AE-478A-827D-89723E12A764}" destId="{7246C81A-BF9C-4D94-BB78-7B46F1B76D3D}" srcOrd="5" destOrd="0" presId="urn:microsoft.com/office/officeart/2005/8/layout/cycle2"/>
    <dgm:cxn modelId="{6A35E6B2-61E6-4697-B5AF-5BAECCDD5E77}" type="presParOf" srcId="{7246C81A-BF9C-4D94-BB78-7B46F1B76D3D}" destId="{88510CB6-779E-4B64-B7E9-84DD4E2EE69D}" srcOrd="0" destOrd="0" presId="urn:microsoft.com/office/officeart/2005/8/layout/cycle2"/>
    <dgm:cxn modelId="{DE218529-B533-4AA8-AED8-B37BC9C352C5}" type="presParOf" srcId="{C9727F33-F1AE-478A-827D-89723E12A764}" destId="{2CF9A725-1089-4AD6-A3A0-4A1B8A7F8026}" srcOrd="6" destOrd="0" presId="urn:microsoft.com/office/officeart/2005/8/layout/cycle2"/>
    <dgm:cxn modelId="{29BF98EA-D7C7-4701-A278-7BDF07641ABF}" type="presParOf" srcId="{C9727F33-F1AE-478A-827D-89723E12A764}" destId="{05DFFEF6-74F1-45AA-9506-31692A30059E}" srcOrd="7" destOrd="0" presId="urn:microsoft.com/office/officeart/2005/8/layout/cycle2"/>
    <dgm:cxn modelId="{611B1246-61DE-433C-9162-0D08949DAF0D}" type="presParOf" srcId="{05DFFEF6-74F1-45AA-9506-31692A30059E}" destId="{8496A74D-C466-469F-B235-BFB34B6C66D1}" srcOrd="0" destOrd="0" presId="urn:microsoft.com/office/officeart/2005/8/layout/cycle2"/>
    <dgm:cxn modelId="{6FCE423E-2996-4CA0-A5B2-1643678071E8}" type="presParOf" srcId="{C9727F33-F1AE-478A-827D-89723E12A764}" destId="{9BD6D4AB-2328-4B1A-97C3-72EE962A63C3}" srcOrd="8" destOrd="0" presId="urn:microsoft.com/office/officeart/2005/8/layout/cycle2"/>
    <dgm:cxn modelId="{08A891F9-EE8E-4534-9716-C4DD70B872E8}" type="presParOf" srcId="{C9727F33-F1AE-478A-827D-89723E12A764}" destId="{51C2DCEF-34E0-46A2-A936-CAF91755EACD}" srcOrd="9" destOrd="0" presId="urn:microsoft.com/office/officeart/2005/8/layout/cycle2"/>
    <dgm:cxn modelId="{1C82D5DF-2050-4DA2-BB8A-98C6FB1E4572}" type="presParOf" srcId="{51C2DCEF-34E0-46A2-A936-CAF91755EACD}" destId="{74277499-D7D3-420A-80C9-DCCD78DA40D5}"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AF8F21D-DA34-4F70-B4C5-F3E33EDF95E9}" type="doc">
      <dgm:prSet loTypeId="urn:microsoft.com/office/officeart/2005/8/layout/target3" loCatId="relationship" qsTypeId="urn:microsoft.com/office/officeart/2005/8/quickstyle/simple1" qsCatId="simple" csTypeId="urn:microsoft.com/office/officeart/2005/8/colors/accent1_4" csCatId="accent1" phldr="1"/>
      <dgm:spPr/>
      <dgm:t>
        <a:bodyPr/>
        <a:lstStyle/>
        <a:p>
          <a:endParaRPr lang="es-AR"/>
        </a:p>
      </dgm:t>
    </dgm:pt>
    <dgm:pt modelId="{E07123A6-826C-43FA-9A76-2657E3467069}">
      <dgm:prSet phldrT="[Texto]"/>
      <dgm:spPr/>
      <dgm:t>
        <a:bodyPr/>
        <a:lstStyle/>
        <a:p>
          <a:r>
            <a:rPr lang="es-AR" dirty="0" smtClean="0"/>
            <a:t>Inversiones</a:t>
          </a:r>
          <a:endParaRPr lang="es-AR" dirty="0"/>
        </a:p>
      </dgm:t>
    </dgm:pt>
    <dgm:pt modelId="{5B44B1B6-1EC3-4BEC-BF8D-1B82B496FA87}" type="parTrans" cxnId="{D97C768D-B139-4745-B620-D2D513F26161}">
      <dgm:prSet/>
      <dgm:spPr/>
      <dgm:t>
        <a:bodyPr/>
        <a:lstStyle/>
        <a:p>
          <a:endParaRPr lang="es-AR"/>
        </a:p>
      </dgm:t>
    </dgm:pt>
    <dgm:pt modelId="{BBF1D25C-B087-437D-B0C8-F1FFA7B98775}" type="sibTrans" cxnId="{D97C768D-B139-4745-B620-D2D513F26161}">
      <dgm:prSet/>
      <dgm:spPr/>
      <dgm:t>
        <a:bodyPr/>
        <a:lstStyle/>
        <a:p>
          <a:endParaRPr lang="es-AR"/>
        </a:p>
      </dgm:t>
    </dgm:pt>
    <dgm:pt modelId="{D62AFEDC-9985-49CD-ACD5-66DE828701FC}">
      <dgm:prSet phldrT="[Texto]"/>
      <dgm:spPr/>
      <dgm:t>
        <a:bodyPr/>
        <a:lstStyle/>
        <a:p>
          <a:r>
            <a:rPr lang="es-AR" dirty="0" smtClean="0"/>
            <a:t>Nº de locales, mobiliario, equipamiento, letreros.</a:t>
          </a:r>
          <a:endParaRPr lang="es-AR" dirty="0"/>
        </a:p>
      </dgm:t>
    </dgm:pt>
    <dgm:pt modelId="{EEECFC88-F125-4F00-98B6-D3C25F7C97C4}" type="parTrans" cxnId="{DCDC5260-4728-4A3C-9B4F-83A24CE65A43}">
      <dgm:prSet/>
      <dgm:spPr/>
      <dgm:t>
        <a:bodyPr/>
        <a:lstStyle/>
        <a:p>
          <a:endParaRPr lang="es-AR"/>
        </a:p>
      </dgm:t>
    </dgm:pt>
    <dgm:pt modelId="{807E1DEA-CA54-4CA5-A8F1-44EFECD7EE98}" type="sibTrans" cxnId="{DCDC5260-4728-4A3C-9B4F-83A24CE65A43}">
      <dgm:prSet/>
      <dgm:spPr/>
      <dgm:t>
        <a:bodyPr/>
        <a:lstStyle/>
        <a:p>
          <a:endParaRPr lang="es-AR"/>
        </a:p>
      </dgm:t>
    </dgm:pt>
    <dgm:pt modelId="{951D9F3D-C6CC-4C33-8B9D-D29EAED5A229}">
      <dgm:prSet phldrT="[Texto]"/>
      <dgm:spPr/>
      <dgm:t>
        <a:bodyPr/>
        <a:lstStyle/>
        <a:p>
          <a:r>
            <a:rPr lang="es-AR" dirty="0" smtClean="0"/>
            <a:t>Insumos, materias primas, mercaderías.</a:t>
          </a:r>
          <a:endParaRPr lang="es-AR" dirty="0"/>
        </a:p>
      </dgm:t>
    </dgm:pt>
    <dgm:pt modelId="{A7D48E8D-7BB8-4B14-8A60-9BD10A1CF94E}" type="parTrans" cxnId="{568EDBFA-ABBA-4B81-9DD8-9B043B80965F}">
      <dgm:prSet/>
      <dgm:spPr/>
      <dgm:t>
        <a:bodyPr/>
        <a:lstStyle/>
        <a:p>
          <a:endParaRPr lang="es-AR"/>
        </a:p>
      </dgm:t>
    </dgm:pt>
    <dgm:pt modelId="{890400B9-3F92-4572-8DEB-7543DEA69D52}" type="sibTrans" cxnId="{568EDBFA-ABBA-4B81-9DD8-9B043B80965F}">
      <dgm:prSet/>
      <dgm:spPr/>
      <dgm:t>
        <a:bodyPr/>
        <a:lstStyle/>
        <a:p>
          <a:endParaRPr lang="es-AR"/>
        </a:p>
      </dgm:t>
    </dgm:pt>
    <dgm:pt modelId="{592CDB19-0308-40E2-8C26-3B3005AE2335}">
      <dgm:prSet phldrT="[Texto]"/>
      <dgm:spPr/>
      <dgm:t>
        <a:bodyPr/>
        <a:lstStyle/>
        <a:p>
          <a:r>
            <a:rPr lang="es-AR" dirty="0" smtClean="0"/>
            <a:t>Flujo de caja</a:t>
          </a:r>
          <a:endParaRPr lang="es-AR" dirty="0"/>
        </a:p>
      </dgm:t>
    </dgm:pt>
    <dgm:pt modelId="{D73C8F6A-0DF3-47CD-A7B3-EE4196F93175}" type="parTrans" cxnId="{85B6A7D4-5BEA-4B74-924F-3CAF5917E715}">
      <dgm:prSet/>
      <dgm:spPr/>
      <dgm:t>
        <a:bodyPr/>
        <a:lstStyle/>
        <a:p>
          <a:endParaRPr lang="es-AR"/>
        </a:p>
      </dgm:t>
    </dgm:pt>
    <dgm:pt modelId="{5AD62E4E-5C06-4BF4-9D0F-C9BABF749A56}" type="sibTrans" cxnId="{85B6A7D4-5BEA-4B74-924F-3CAF5917E715}">
      <dgm:prSet/>
      <dgm:spPr/>
      <dgm:t>
        <a:bodyPr/>
        <a:lstStyle/>
        <a:p>
          <a:endParaRPr lang="es-AR"/>
        </a:p>
      </dgm:t>
    </dgm:pt>
    <dgm:pt modelId="{5D5A4433-4D28-4D07-8FD6-49E65966B57E}">
      <dgm:prSet phldrT="[Texto]"/>
      <dgm:spPr/>
      <dgm:t>
        <a:bodyPr/>
        <a:lstStyle/>
        <a:p>
          <a:r>
            <a:rPr lang="es-AR" dirty="0" smtClean="0"/>
            <a:t>Cuantificación de costos operativos.</a:t>
          </a:r>
          <a:endParaRPr lang="es-AR" dirty="0"/>
        </a:p>
      </dgm:t>
    </dgm:pt>
    <dgm:pt modelId="{61A45141-518B-4720-A329-E431B1FEE10C}" type="parTrans" cxnId="{7433F401-A3C7-47FC-B683-41000CF5D53D}">
      <dgm:prSet/>
      <dgm:spPr/>
      <dgm:t>
        <a:bodyPr/>
        <a:lstStyle/>
        <a:p>
          <a:endParaRPr lang="es-AR"/>
        </a:p>
      </dgm:t>
    </dgm:pt>
    <dgm:pt modelId="{904AC563-0825-43A3-A0D3-23C2FAB9B6D0}" type="sibTrans" cxnId="{7433F401-A3C7-47FC-B683-41000CF5D53D}">
      <dgm:prSet/>
      <dgm:spPr/>
      <dgm:t>
        <a:bodyPr/>
        <a:lstStyle/>
        <a:p>
          <a:endParaRPr lang="es-AR"/>
        </a:p>
      </dgm:t>
    </dgm:pt>
    <dgm:pt modelId="{144036B0-9464-43AC-9788-5801D8EB9110}">
      <dgm:prSet phldrT="[Texto]"/>
      <dgm:spPr/>
      <dgm:t>
        <a:bodyPr/>
        <a:lstStyle/>
        <a:p>
          <a:r>
            <a:rPr lang="es-AR" dirty="0" smtClean="0"/>
            <a:t>Cuantificación de ingresos por ventas.</a:t>
          </a:r>
          <a:endParaRPr lang="es-AR" dirty="0"/>
        </a:p>
      </dgm:t>
    </dgm:pt>
    <dgm:pt modelId="{15B072B8-7998-446F-93F7-FD8A5D5247CF}" type="parTrans" cxnId="{407F6129-24E4-45BA-9172-B916135F3216}">
      <dgm:prSet/>
      <dgm:spPr/>
      <dgm:t>
        <a:bodyPr/>
        <a:lstStyle/>
        <a:p>
          <a:endParaRPr lang="es-AR"/>
        </a:p>
      </dgm:t>
    </dgm:pt>
    <dgm:pt modelId="{5C8BBC5A-451D-4143-8956-89F96EF2171C}" type="sibTrans" cxnId="{407F6129-24E4-45BA-9172-B916135F3216}">
      <dgm:prSet/>
      <dgm:spPr/>
      <dgm:t>
        <a:bodyPr/>
        <a:lstStyle/>
        <a:p>
          <a:endParaRPr lang="es-AR"/>
        </a:p>
      </dgm:t>
    </dgm:pt>
    <dgm:pt modelId="{8D375AAF-6350-402D-A30C-4AE25F7238EA}">
      <dgm:prSet phldrT="[Texto]"/>
      <dgm:spPr/>
      <dgm:t>
        <a:bodyPr/>
        <a:lstStyle/>
        <a:p>
          <a:r>
            <a:rPr lang="es-AR" dirty="0" smtClean="0"/>
            <a:t>Criterios de rentabilidad</a:t>
          </a:r>
          <a:endParaRPr lang="es-AR" dirty="0"/>
        </a:p>
      </dgm:t>
    </dgm:pt>
    <dgm:pt modelId="{3658B9BD-0803-4EE8-A734-CE274DAC6B58}" type="parTrans" cxnId="{7B6D9A07-7D84-4EC7-8A06-7474E20021F9}">
      <dgm:prSet/>
      <dgm:spPr/>
      <dgm:t>
        <a:bodyPr/>
        <a:lstStyle/>
        <a:p>
          <a:endParaRPr lang="es-AR"/>
        </a:p>
      </dgm:t>
    </dgm:pt>
    <dgm:pt modelId="{1E57EB0E-0421-4EE2-9A3F-183468A994CC}" type="sibTrans" cxnId="{7B6D9A07-7D84-4EC7-8A06-7474E20021F9}">
      <dgm:prSet/>
      <dgm:spPr/>
      <dgm:t>
        <a:bodyPr/>
        <a:lstStyle/>
        <a:p>
          <a:endParaRPr lang="es-AR"/>
        </a:p>
      </dgm:t>
    </dgm:pt>
    <dgm:pt modelId="{F49E1DE9-2BEA-4DC8-AD70-0AA1DA9C7ECF}">
      <dgm:prSet phldrT="[Texto]"/>
      <dgm:spPr/>
      <dgm:t>
        <a:bodyPr/>
        <a:lstStyle/>
        <a:p>
          <a:r>
            <a:rPr lang="es-AR" dirty="0" smtClean="0"/>
            <a:t>Cálculo de beneficios por diferentes criterios:</a:t>
          </a:r>
          <a:endParaRPr lang="es-AR" dirty="0"/>
        </a:p>
      </dgm:t>
    </dgm:pt>
    <dgm:pt modelId="{4D4B856B-2AD0-4C70-9A91-E868E9F6FECA}" type="parTrans" cxnId="{1D8D6798-B3DE-462F-8CF5-FF20EDBDCE40}">
      <dgm:prSet/>
      <dgm:spPr/>
      <dgm:t>
        <a:bodyPr/>
        <a:lstStyle/>
        <a:p>
          <a:endParaRPr lang="es-AR"/>
        </a:p>
      </dgm:t>
    </dgm:pt>
    <dgm:pt modelId="{60B37756-17D1-46DE-A4CF-6991F18EBEDF}" type="sibTrans" cxnId="{1D8D6798-B3DE-462F-8CF5-FF20EDBDCE40}">
      <dgm:prSet/>
      <dgm:spPr/>
      <dgm:t>
        <a:bodyPr/>
        <a:lstStyle/>
        <a:p>
          <a:endParaRPr lang="es-AR"/>
        </a:p>
      </dgm:t>
    </dgm:pt>
    <dgm:pt modelId="{9411B1EF-674F-4CA2-BB8D-0F82EBAE58E3}">
      <dgm:prSet phldrT="[Texto]"/>
      <dgm:spPr/>
      <dgm:t>
        <a:bodyPr/>
        <a:lstStyle/>
        <a:p>
          <a:r>
            <a:rPr lang="es-AR" dirty="0" smtClean="0"/>
            <a:t>VAN, TIR; B/C</a:t>
          </a:r>
          <a:endParaRPr lang="es-AR" dirty="0"/>
        </a:p>
      </dgm:t>
    </dgm:pt>
    <dgm:pt modelId="{8E71CC18-A135-4BCE-9290-134535D4243F}" type="parTrans" cxnId="{60DABF4E-25F9-4BEF-947C-D51E146639AF}">
      <dgm:prSet/>
      <dgm:spPr/>
      <dgm:t>
        <a:bodyPr/>
        <a:lstStyle/>
        <a:p>
          <a:endParaRPr lang="es-AR"/>
        </a:p>
      </dgm:t>
    </dgm:pt>
    <dgm:pt modelId="{B26FC939-1122-43B9-9766-9347BA6A377C}" type="sibTrans" cxnId="{60DABF4E-25F9-4BEF-947C-D51E146639AF}">
      <dgm:prSet/>
      <dgm:spPr/>
      <dgm:t>
        <a:bodyPr/>
        <a:lstStyle/>
        <a:p>
          <a:endParaRPr lang="es-AR"/>
        </a:p>
      </dgm:t>
    </dgm:pt>
    <dgm:pt modelId="{ED2BB90D-5AFA-4010-A9E8-73BDD2792E4C}" type="pres">
      <dgm:prSet presAssocID="{5AF8F21D-DA34-4F70-B4C5-F3E33EDF95E9}" presName="Name0" presStyleCnt="0">
        <dgm:presLayoutVars>
          <dgm:chMax val="7"/>
          <dgm:dir/>
          <dgm:animLvl val="lvl"/>
          <dgm:resizeHandles val="exact"/>
        </dgm:presLayoutVars>
      </dgm:prSet>
      <dgm:spPr/>
      <dgm:t>
        <a:bodyPr/>
        <a:lstStyle/>
        <a:p>
          <a:endParaRPr lang="es-ES"/>
        </a:p>
      </dgm:t>
    </dgm:pt>
    <dgm:pt modelId="{3EEF8F30-30C5-4A3F-B703-D1D5D761F272}" type="pres">
      <dgm:prSet presAssocID="{E07123A6-826C-43FA-9A76-2657E3467069}" presName="circle1" presStyleLbl="node1" presStyleIdx="0" presStyleCnt="3"/>
      <dgm:spPr/>
    </dgm:pt>
    <dgm:pt modelId="{12A04991-7803-4848-9DA6-E0FD2CF0AC90}" type="pres">
      <dgm:prSet presAssocID="{E07123A6-826C-43FA-9A76-2657E3467069}" presName="space" presStyleCnt="0"/>
      <dgm:spPr/>
    </dgm:pt>
    <dgm:pt modelId="{07F227C8-384D-4DCA-B9E2-94197847ADE8}" type="pres">
      <dgm:prSet presAssocID="{E07123A6-826C-43FA-9A76-2657E3467069}" presName="rect1" presStyleLbl="alignAcc1" presStyleIdx="0" presStyleCnt="3"/>
      <dgm:spPr/>
      <dgm:t>
        <a:bodyPr/>
        <a:lstStyle/>
        <a:p>
          <a:endParaRPr lang="es-ES"/>
        </a:p>
      </dgm:t>
    </dgm:pt>
    <dgm:pt modelId="{AEEA6693-AC9F-4A40-A927-D35316283159}" type="pres">
      <dgm:prSet presAssocID="{592CDB19-0308-40E2-8C26-3B3005AE2335}" presName="vertSpace2" presStyleLbl="node1" presStyleIdx="0" presStyleCnt="3"/>
      <dgm:spPr/>
    </dgm:pt>
    <dgm:pt modelId="{3C547F25-AE2C-414E-9547-DAEA1E4FEF9A}" type="pres">
      <dgm:prSet presAssocID="{592CDB19-0308-40E2-8C26-3B3005AE2335}" presName="circle2" presStyleLbl="node1" presStyleIdx="1" presStyleCnt="3"/>
      <dgm:spPr/>
    </dgm:pt>
    <dgm:pt modelId="{148F552C-391A-4D98-9D55-81A877FAAA3A}" type="pres">
      <dgm:prSet presAssocID="{592CDB19-0308-40E2-8C26-3B3005AE2335}" presName="rect2" presStyleLbl="alignAcc1" presStyleIdx="1" presStyleCnt="3"/>
      <dgm:spPr/>
      <dgm:t>
        <a:bodyPr/>
        <a:lstStyle/>
        <a:p>
          <a:endParaRPr lang="es-ES"/>
        </a:p>
      </dgm:t>
    </dgm:pt>
    <dgm:pt modelId="{7ABFE04F-596B-41CA-B66B-EB4349CF00D2}" type="pres">
      <dgm:prSet presAssocID="{8D375AAF-6350-402D-A30C-4AE25F7238EA}" presName="vertSpace3" presStyleLbl="node1" presStyleIdx="1" presStyleCnt="3"/>
      <dgm:spPr/>
    </dgm:pt>
    <dgm:pt modelId="{4793E39E-6F9D-4664-BEF0-690B946B3127}" type="pres">
      <dgm:prSet presAssocID="{8D375AAF-6350-402D-A30C-4AE25F7238EA}" presName="circle3" presStyleLbl="node1" presStyleIdx="2" presStyleCnt="3"/>
      <dgm:spPr/>
    </dgm:pt>
    <dgm:pt modelId="{6FB7A75D-BCE4-4B0E-AA81-58748428FDF2}" type="pres">
      <dgm:prSet presAssocID="{8D375AAF-6350-402D-A30C-4AE25F7238EA}" presName="rect3" presStyleLbl="alignAcc1" presStyleIdx="2" presStyleCnt="3"/>
      <dgm:spPr/>
      <dgm:t>
        <a:bodyPr/>
        <a:lstStyle/>
        <a:p>
          <a:endParaRPr lang="es-AR"/>
        </a:p>
      </dgm:t>
    </dgm:pt>
    <dgm:pt modelId="{3C672E00-F3F2-4E64-B4B9-7B97DC924A29}" type="pres">
      <dgm:prSet presAssocID="{E07123A6-826C-43FA-9A76-2657E3467069}" presName="rect1ParTx" presStyleLbl="alignAcc1" presStyleIdx="2" presStyleCnt="3">
        <dgm:presLayoutVars>
          <dgm:chMax val="1"/>
          <dgm:bulletEnabled val="1"/>
        </dgm:presLayoutVars>
      </dgm:prSet>
      <dgm:spPr/>
      <dgm:t>
        <a:bodyPr/>
        <a:lstStyle/>
        <a:p>
          <a:endParaRPr lang="es-ES"/>
        </a:p>
      </dgm:t>
    </dgm:pt>
    <dgm:pt modelId="{F6D5387B-36F5-4885-A6EB-1C19B7C0754E}" type="pres">
      <dgm:prSet presAssocID="{E07123A6-826C-43FA-9A76-2657E3467069}" presName="rect1ChTx" presStyleLbl="alignAcc1" presStyleIdx="2" presStyleCnt="3">
        <dgm:presLayoutVars>
          <dgm:bulletEnabled val="1"/>
        </dgm:presLayoutVars>
      </dgm:prSet>
      <dgm:spPr/>
      <dgm:t>
        <a:bodyPr/>
        <a:lstStyle/>
        <a:p>
          <a:endParaRPr lang="es-AR"/>
        </a:p>
      </dgm:t>
    </dgm:pt>
    <dgm:pt modelId="{47E18099-C665-42AE-8F34-526792574E3B}" type="pres">
      <dgm:prSet presAssocID="{592CDB19-0308-40E2-8C26-3B3005AE2335}" presName="rect2ParTx" presStyleLbl="alignAcc1" presStyleIdx="2" presStyleCnt="3">
        <dgm:presLayoutVars>
          <dgm:chMax val="1"/>
          <dgm:bulletEnabled val="1"/>
        </dgm:presLayoutVars>
      </dgm:prSet>
      <dgm:spPr/>
      <dgm:t>
        <a:bodyPr/>
        <a:lstStyle/>
        <a:p>
          <a:endParaRPr lang="es-ES"/>
        </a:p>
      </dgm:t>
    </dgm:pt>
    <dgm:pt modelId="{4E03067E-DB21-4F37-A1BB-31AE894306BA}" type="pres">
      <dgm:prSet presAssocID="{592CDB19-0308-40E2-8C26-3B3005AE2335}" presName="rect2ChTx" presStyleLbl="alignAcc1" presStyleIdx="2" presStyleCnt="3">
        <dgm:presLayoutVars>
          <dgm:bulletEnabled val="1"/>
        </dgm:presLayoutVars>
      </dgm:prSet>
      <dgm:spPr/>
      <dgm:t>
        <a:bodyPr/>
        <a:lstStyle/>
        <a:p>
          <a:endParaRPr lang="es-ES"/>
        </a:p>
      </dgm:t>
    </dgm:pt>
    <dgm:pt modelId="{149626F9-C795-4A98-AFD9-EF23F2D18227}" type="pres">
      <dgm:prSet presAssocID="{8D375AAF-6350-402D-A30C-4AE25F7238EA}" presName="rect3ParTx" presStyleLbl="alignAcc1" presStyleIdx="2" presStyleCnt="3">
        <dgm:presLayoutVars>
          <dgm:chMax val="1"/>
          <dgm:bulletEnabled val="1"/>
        </dgm:presLayoutVars>
      </dgm:prSet>
      <dgm:spPr/>
      <dgm:t>
        <a:bodyPr/>
        <a:lstStyle/>
        <a:p>
          <a:endParaRPr lang="es-AR"/>
        </a:p>
      </dgm:t>
    </dgm:pt>
    <dgm:pt modelId="{31F51019-77B5-45A8-8E11-0394F9FC9E72}" type="pres">
      <dgm:prSet presAssocID="{8D375AAF-6350-402D-A30C-4AE25F7238EA}" presName="rect3ChTx" presStyleLbl="alignAcc1" presStyleIdx="2" presStyleCnt="3">
        <dgm:presLayoutVars>
          <dgm:bulletEnabled val="1"/>
        </dgm:presLayoutVars>
      </dgm:prSet>
      <dgm:spPr/>
      <dgm:t>
        <a:bodyPr/>
        <a:lstStyle/>
        <a:p>
          <a:endParaRPr lang="es-ES"/>
        </a:p>
      </dgm:t>
    </dgm:pt>
  </dgm:ptLst>
  <dgm:cxnLst>
    <dgm:cxn modelId="{C3809D57-9546-4725-A052-623645189E65}" type="presOf" srcId="{8D375AAF-6350-402D-A30C-4AE25F7238EA}" destId="{149626F9-C795-4A98-AFD9-EF23F2D18227}" srcOrd="1" destOrd="0" presId="urn:microsoft.com/office/officeart/2005/8/layout/target3"/>
    <dgm:cxn modelId="{DCDC5260-4728-4A3C-9B4F-83A24CE65A43}" srcId="{E07123A6-826C-43FA-9A76-2657E3467069}" destId="{D62AFEDC-9985-49CD-ACD5-66DE828701FC}" srcOrd="0" destOrd="0" parTransId="{EEECFC88-F125-4F00-98B6-D3C25F7C97C4}" sibTransId="{807E1DEA-CA54-4CA5-A8F1-44EFECD7EE98}"/>
    <dgm:cxn modelId="{03CADD59-3103-40CE-B994-929EC8EBFD4E}" type="presOf" srcId="{144036B0-9464-43AC-9788-5801D8EB9110}" destId="{4E03067E-DB21-4F37-A1BB-31AE894306BA}" srcOrd="0" destOrd="1" presId="urn:microsoft.com/office/officeart/2005/8/layout/target3"/>
    <dgm:cxn modelId="{662E4EB8-BCD0-4E42-82AE-3BE609DD8409}" type="presOf" srcId="{E07123A6-826C-43FA-9A76-2657E3467069}" destId="{3C672E00-F3F2-4E64-B4B9-7B97DC924A29}" srcOrd="1" destOrd="0" presId="urn:microsoft.com/office/officeart/2005/8/layout/target3"/>
    <dgm:cxn modelId="{1D8D6798-B3DE-462F-8CF5-FF20EDBDCE40}" srcId="{8D375AAF-6350-402D-A30C-4AE25F7238EA}" destId="{F49E1DE9-2BEA-4DC8-AD70-0AA1DA9C7ECF}" srcOrd="0" destOrd="0" parTransId="{4D4B856B-2AD0-4C70-9A91-E868E9F6FECA}" sibTransId="{60B37756-17D1-46DE-A4CF-6991F18EBEDF}"/>
    <dgm:cxn modelId="{1D2FC2D5-801C-4FF8-911A-71333CFAF804}" type="presOf" srcId="{592CDB19-0308-40E2-8C26-3B3005AE2335}" destId="{148F552C-391A-4D98-9D55-81A877FAAA3A}" srcOrd="0" destOrd="0" presId="urn:microsoft.com/office/officeart/2005/8/layout/target3"/>
    <dgm:cxn modelId="{B0448D0B-33A2-47FE-A0E0-0A8B3803CC72}" type="presOf" srcId="{D62AFEDC-9985-49CD-ACD5-66DE828701FC}" destId="{F6D5387B-36F5-4885-A6EB-1C19B7C0754E}" srcOrd="0" destOrd="0" presId="urn:microsoft.com/office/officeart/2005/8/layout/target3"/>
    <dgm:cxn modelId="{BDFD0F0B-4FF7-4AB9-8809-DDD466DC36C9}" type="presOf" srcId="{5AF8F21D-DA34-4F70-B4C5-F3E33EDF95E9}" destId="{ED2BB90D-5AFA-4010-A9E8-73BDD2792E4C}" srcOrd="0" destOrd="0" presId="urn:microsoft.com/office/officeart/2005/8/layout/target3"/>
    <dgm:cxn modelId="{568EDBFA-ABBA-4B81-9DD8-9B043B80965F}" srcId="{E07123A6-826C-43FA-9A76-2657E3467069}" destId="{951D9F3D-C6CC-4C33-8B9D-D29EAED5A229}" srcOrd="1" destOrd="0" parTransId="{A7D48E8D-7BB8-4B14-8A60-9BD10A1CF94E}" sibTransId="{890400B9-3F92-4572-8DEB-7543DEA69D52}"/>
    <dgm:cxn modelId="{60DABF4E-25F9-4BEF-947C-D51E146639AF}" srcId="{8D375AAF-6350-402D-A30C-4AE25F7238EA}" destId="{9411B1EF-674F-4CA2-BB8D-0F82EBAE58E3}" srcOrd="1" destOrd="0" parTransId="{8E71CC18-A135-4BCE-9290-134535D4243F}" sibTransId="{B26FC939-1122-43B9-9766-9347BA6A377C}"/>
    <dgm:cxn modelId="{FA90DE75-34B6-4CE3-80D0-2A27BF6BC156}" type="presOf" srcId="{9411B1EF-674F-4CA2-BB8D-0F82EBAE58E3}" destId="{31F51019-77B5-45A8-8E11-0394F9FC9E72}" srcOrd="0" destOrd="1" presId="urn:microsoft.com/office/officeart/2005/8/layout/target3"/>
    <dgm:cxn modelId="{7B6D9A07-7D84-4EC7-8A06-7474E20021F9}" srcId="{5AF8F21D-DA34-4F70-B4C5-F3E33EDF95E9}" destId="{8D375AAF-6350-402D-A30C-4AE25F7238EA}" srcOrd="2" destOrd="0" parTransId="{3658B9BD-0803-4EE8-A734-CE274DAC6B58}" sibTransId="{1E57EB0E-0421-4EE2-9A3F-183468A994CC}"/>
    <dgm:cxn modelId="{85B6A7D4-5BEA-4B74-924F-3CAF5917E715}" srcId="{5AF8F21D-DA34-4F70-B4C5-F3E33EDF95E9}" destId="{592CDB19-0308-40E2-8C26-3B3005AE2335}" srcOrd="1" destOrd="0" parTransId="{D73C8F6A-0DF3-47CD-A7B3-EE4196F93175}" sibTransId="{5AD62E4E-5C06-4BF4-9D0F-C9BABF749A56}"/>
    <dgm:cxn modelId="{3E9D6C38-C1F5-4F29-BA83-567D426CB480}" type="presOf" srcId="{5D5A4433-4D28-4D07-8FD6-49E65966B57E}" destId="{4E03067E-DB21-4F37-A1BB-31AE894306BA}" srcOrd="0" destOrd="0" presId="urn:microsoft.com/office/officeart/2005/8/layout/target3"/>
    <dgm:cxn modelId="{B2725EED-514F-48CC-A5A8-759216E5C0BC}" type="presOf" srcId="{F49E1DE9-2BEA-4DC8-AD70-0AA1DA9C7ECF}" destId="{31F51019-77B5-45A8-8E11-0394F9FC9E72}" srcOrd="0" destOrd="0" presId="urn:microsoft.com/office/officeart/2005/8/layout/target3"/>
    <dgm:cxn modelId="{F8C2EC39-6383-4D2A-B7DC-A4758AA5743A}" type="presOf" srcId="{E07123A6-826C-43FA-9A76-2657E3467069}" destId="{07F227C8-384D-4DCA-B9E2-94197847ADE8}" srcOrd="0" destOrd="0" presId="urn:microsoft.com/office/officeart/2005/8/layout/target3"/>
    <dgm:cxn modelId="{7F6ABA82-9785-4EF4-8525-14EFB902E5B2}" type="presOf" srcId="{8D375AAF-6350-402D-A30C-4AE25F7238EA}" destId="{6FB7A75D-BCE4-4B0E-AA81-58748428FDF2}" srcOrd="0" destOrd="0" presId="urn:microsoft.com/office/officeart/2005/8/layout/target3"/>
    <dgm:cxn modelId="{7433F401-A3C7-47FC-B683-41000CF5D53D}" srcId="{592CDB19-0308-40E2-8C26-3B3005AE2335}" destId="{5D5A4433-4D28-4D07-8FD6-49E65966B57E}" srcOrd="0" destOrd="0" parTransId="{61A45141-518B-4720-A329-E431B1FEE10C}" sibTransId="{904AC563-0825-43A3-A0D3-23C2FAB9B6D0}"/>
    <dgm:cxn modelId="{7FD18FB7-9746-4242-9A1E-6FFFD94D98CC}" type="presOf" srcId="{592CDB19-0308-40E2-8C26-3B3005AE2335}" destId="{47E18099-C665-42AE-8F34-526792574E3B}" srcOrd="1" destOrd="0" presId="urn:microsoft.com/office/officeart/2005/8/layout/target3"/>
    <dgm:cxn modelId="{086E7158-0E49-4A80-8DCF-54AF74BBB089}" type="presOf" srcId="{951D9F3D-C6CC-4C33-8B9D-D29EAED5A229}" destId="{F6D5387B-36F5-4885-A6EB-1C19B7C0754E}" srcOrd="0" destOrd="1" presId="urn:microsoft.com/office/officeart/2005/8/layout/target3"/>
    <dgm:cxn modelId="{D97C768D-B139-4745-B620-D2D513F26161}" srcId="{5AF8F21D-DA34-4F70-B4C5-F3E33EDF95E9}" destId="{E07123A6-826C-43FA-9A76-2657E3467069}" srcOrd="0" destOrd="0" parTransId="{5B44B1B6-1EC3-4BEC-BF8D-1B82B496FA87}" sibTransId="{BBF1D25C-B087-437D-B0C8-F1FFA7B98775}"/>
    <dgm:cxn modelId="{407F6129-24E4-45BA-9172-B916135F3216}" srcId="{592CDB19-0308-40E2-8C26-3B3005AE2335}" destId="{144036B0-9464-43AC-9788-5801D8EB9110}" srcOrd="1" destOrd="0" parTransId="{15B072B8-7998-446F-93F7-FD8A5D5247CF}" sibTransId="{5C8BBC5A-451D-4143-8956-89F96EF2171C}"/>
    <dgm:cxn modelId="{B47B7558-7712-4F13-A19F-AFA33178777F}" type="presParOf" srcId="{ED2BB90D-5AFA-4010-A9E8-73BDD2792E4C}" destId="{3EEF8F30-30C5-4A3F-B703-D1D5D761F272}" srcOrd="0" destOrd="0" presId="urn:microsoft.com/office/officeart/2005/8/layout/target3"/>
    <dgm:cxn modelId="{54F9F8AF-C6B4-42D0-8E8A-1AE86282A044}" type="presParOf" srcId="{ED2BB90D-5AFA-4010-A9E8-73BDD2792E4C}" destId="{12A04991-7803-4848-9DA6-E0FD2CF0AC90}" srcOrd="1" destOrd="0" presId="urn:microsoft.com/office/officeart/2005/8/layout/target3"/>
    <dgm:cxn modelId="{28F8D14A-64BE-4A2A-819C-FAAD96548287}" type="presParOf" srcId="{ED2BB90D-5AFA-4010-A9E8-73BDD2792E4C}" destId="{07F227C8-384D-4DCA-B9E2-94197847ADE8}" srcOrd="2" destOrd="0" presId="urn:microsoft.com/office/officeart/2005/8/layout/target3"/>
    <dgm:cxn modelId="{8EB0BD31-D024-44E8-B6A9-C23177D3AE36}" type="presParOf" srcId="{ED2BB90D-5AFA-4010-A9E8-73BDD2792E4C}" destId="{AEEA6693-AC9F-4A40-A927-D35316283159}" srcOrd="3" destOrd="0" presId="urn:microsoft.com/office/officeart/2005/8/layout/target3"/>
    <dgm:cxn modelId="{F76FA202-13E7-4B17-AE5B-EA05DF3DF85B}" type="presParOf" srcId="{ED2BB90D-5AFA-4010-A9E8-73BDD2792E4C}" destId="{3C547F25-AE2C-414E-9547-DAEA1E4FEF9A}" srcOrd="4" destOrd="0" presId="urn:microsoft.com/office/officeart/2005/8/layout/target3"/>
    <dgm:cxn modelId="{C5306581-B553-4FDA-9229-3CF78B2F23B8}" type="presParOf" srcId="{ED2BB90D-5AFA-4010-A9E8-73BDD2792E4C}" destId="{148F552C-391A-4D98-9D55-81A877FAAA3A}" srcOrd="5" destOrd="0" presId="urn:microsoft.com/office/officeart/2005/8/layout/target3"/>
    <dgm:cxn modelId="{86FF30D8-7DCE-44B6-AEB3-141150119E9F}" type="presParOf" srcId="{ED2BB90D-5AFA-4010-A9E8-73BDD2792E4C}" destId="{7ABFE04F-596B-41CA-B66B-EB4349CF00D2}" srcOrd="6" destOrd="0" presId="urn:microsoft.com/office/officeart/2005/8/layout/target3"/>
    <dgm:cxn modelId="{B0D1D6E3-6692-49E2-9A74-AD5D9FB9F67B}" type="presParOf" srcId="{ED2BB90D-5AFA-4010-A9E8-73BDD2792E4C}" destId="{4793E39E-6F9D-4664-BEF0-690B946B3127}" srcOrd="7" destOrd="0" presId="urn:microsoft.com/office/officeart/2005/8/layout/target3"/>
    <dgm:cxn modelId="{C21E32F0-497B-492B-AECC-9790B8509B74}" type="presParOf" srcId="{ED2BB90D-5AFA-4010-A9E8-73BDD2792E4C}" destId="{6FB7A75D-BCE4-4B0E-AA81-58748428FDF2}" srcOrd="8" destOrd="0" presId="urn:microsoft.com/office/officeart/2005/8/layout/target3"/>
    <dgm:cxn modelId="{4EDDD6FF-7D56-44D0-80F5-A4B710517FDA}" type="presParOf" srcId="{ED2BB90D-5AFA-4010-A9E8-73BDD2792E4C}" destId="{3C672E00-F3F2-4E64-B4B9-7B97DC924A29}" srcOrd="9" destOrd="0" presId="urn:microsoft.com/office/officeart/2005/8/layout/target3"/>
    <dgm:cxn modelId="{9FEE0CCC-4D72-47CC-AEDC-3A1847EDE339}" type="presParOf" srcId="{ED2BB90D-5AFA-4010-A9E8-73BDD2792E4C}" destId="{F6D5387B-36F5-4885-A6EB-1C19B7C0754E}" srcOrd="10" destOrd="0" presId="urn:microsoft.com/office/officeart/2005/8/layout/target3"/>
    <dgm:cxn modelId="{64B71F0F-4307-4ABE-9B42-8150E7F8B3E7}" type="presParOf" srcId="{ED2BB90D-5AFA-4010-A9E8-73BDD2792E4C}" destId="{47E18099-C665-42AE-8F34-526792574E3B}" srcOrd="11" destOrd="0" presId="urn:microsoft.com/office/officeart/2005/8/layout/target3"/>
    <dgm:cxn modelId="{2C0F4593-FEE9-4D5B-BA2E-CD06A1628F55}" type="presParOf" srcId="{ED2BB90D-5AFA-4010-A9E8-73BDD2792E4C}" destId="{4E03067E-DB21-4F37-A1BB-31AE894306BA}" srcOrd="12" destOrd="0" presId="urn:microsoft.com/office/officeart/2005/8/layout/target3"/>
    <dgm:cxn modelId="{91E3CDAB-D2F1-447C-873A-F72FE2F41678}" type="presParOf" srcId="{ED2BB90D-5AFA-4010-A9E8-73BDD2792E4C}" destId="{149626F9-C795-4A98-AFD9-EF23F2D18227}" srcOrd="13" destOrd="0" presId="urn:microsoft.com/office/officeart/2005/8/layout/target3"/>
    <dgm:cxn modelId="{69661E91-1432-46BC-BA6D-2968573B055E}" type="presParOf" srcId="{ED2BB90D-5AFA-4010-A9E8-73BDD2792E4C}" destId="{31F51019-77B5-45A8-8E11-0394F9FC9E72}" srcOrd="14"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8E7C9FD-6B11-4605-89AD-081DDED2280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AR"/>
        </a:p>
      </dgm:t>
    </dgm:pt>
    <dgm:pt modelId="{5E473D7D-E8C6-4FCE-9532-08D69A65F17B}">
      <dgm:prSet phldrT="[Texto]"/>
      <dgm:spPr>
        <a:solidFill>
          <a:srgbClr val="7030A0"/>
        </a:solidFill>
      </dgm:spPr>
      <dgm:t>
        <a:bodyPr/>
        <a:lstStyle/>
        <a:p>
          <a:r>
            <a:rPr lang="es-AR" dirty="0" smtClean="0"/>
            <a:t>Análisis histórico del mercado:</a:t>
          </a:r>
          <a:endParaRPr lang="es-AR" dirty="0"/>
        </a:p>
      </dgm:t>
    </dgm:pt>
    <dgm:pt modelId="{8B6F5ADC-0610-40EF-82E9-C5741802CC6D}" type="parTrans" cxnId="{6795D13D-C300-4B4D-8766-0AA3C59D7BC0}">
      <dgm:prSet/>
      <dgm:spPr/>
      <dgm:t>
        <a:bodyPr/>
        <a:lstStyle/>
        <a:p>
          <a:endParaRPr lang="es-AR"/>
        </a:p>
      </dgm:t>
    </dgm:pt>
    <dgm:pt modelId="{7358BC58-39B6-446A-9E29-0152E9CA9DC2}" type="sibTrans" cxnId="{6795D13D-C300-4B4D-8766-0AA3C59D7BC0}">
      <dgm:prSet/>
      <dgm:spPr/>
      <dgm:t>
        <a:bodyPr/>
        <a:lstStyle/>
        <a:p>
          <a:endParaRPr lang="es-AR"/>
        </a:p>
      </dgm:t>
    </dgm:pt>
    <dgm:pt modelId="{975D97C3-0B0B-48C7-84A7-8757562212AC}">
      <dgm:prSet phldrT="[Texto]"/>
      <dgm:spPr/>
      <dgm:t>
        <a:bodyPr/>
        <a:lstStyle/>
        <a:p>
          <a:r>
            <a:rPr lang="es-AR" dirty="0" smtClean="0"/>
            <a:t>Análisis de la situación vigente:</a:t>
          </a:r>
          <a:endParaRPr lang="es-AR" dirty="0"/>
        </a:p>
      </dgm:t>
    </dgm:pt>
    <dgm:pt modelId="{7B5D7531-F06C-4227-B28E-C1BE24CD22F4}" type="parTrans" cxnId="{AB38C091-C96C-4F86-BD3C-A981EE87469C}">
      <dgm:prSet/>
      <dgm:spPr/>
      <dgm:t>
        <a:bodyPr/>
        <a:lstStyle/>
        <a:p>
          <a:endParaRPr lang="es-AR"/>
        </a:p>
      </dgm:t>
    </dgm:pt>
    <dgm:pt modelId="{DAD8D4BB-A949-4585-A43A-32738EFC8830}" type="sibTrans" cxnId="{AB38C091-C96C-4F86-BD3C-A981EE87469C}">
      <dgm:prSet/>
      <dgm:spPr/>
      <dgm:t>
        <a:bodyPr/>
        <a:lstStyle/>
        <a:p>
          <a:endParaRPr lang="es-AR"/>
        </a:p>
      </dgm:t>
    </dgm:pt>
    <dgm:pt modelId="{278C25B9-CEC1-4776-A251-541B6DF4679E}">
      <dgm:prSet phldrT="[Texto]"/>
      <dgm:spPr>
        <a:solidFill>
          <a:srgbClr val="40C610"/>
        </a:solidFill>
      </dgm:spPr>
      <dgm:t>
        <a:bodyPr/>
        <a:lstStyle/>
        <a:p>
          <a:r>
            <a:rPr lang="es-AR" dirty="0" smtClean="0"/>
            <a:t>Análisis de la situación proyectada:</a:t>
          </a:r>
          <a:endParaRPr lang="es-AR" dirty="0"/>
        </a:p>
      </dgm:t>
    </dgm:pt>
    <dgm:pt modelId="{5373550A-8814-4CC9-BB1A-FBF85B17B63F}" type="parTrans" cxnId="{FDB00EB6-C7C6-4C51-9E84-F32C1F34E5AE}">
      <dgm:prSet/>
      <dgm:spPr/>
      <dgm:t>
        <a:bodyPr/>
        <a:lstStyle/>
        <a:p>
          <a:endParaRPr lang="es-AR"/>
        </a:p>
      </dgm:t>
    </dgm:pt>
    <dgm:pt modelId="{975AF7D4-2518-4017-9FF7-6F1ACB0EA1B5}" type="sibTrans" cxnId="{FDB00EB6-C7C6-4C51-9E84-F32C1F34E5AE}">
      <dgm:prSet/>
      <dgm:spPr/>
      <dgm:t>
        <a:bodyPr/>
        <a:lstStyle/>
        <a:p>
          <a:endParaRPr lang="es-AR"/>
        </a:p>
      </dgm:t>
    </dgm:pt>
    <dgm:pt modelId="{F9C2A02A-20B6-4B1C-B1A9-390F19A31AA9}" type="pres">
      <dgm:prSet presAssocID="{58E7C9FD-6B11-4605-89AD-081DDED22805}" presName="linear" presStyleCnt="0">
        <dgm:presLayoutVars>
          <dgm:dir/>
          <dgm:animLvl val="lvl"/>
          <dgm:resizeHandles val="exact"/>
        </dgm:presLayoutVars>
      </dgm:prSet>
      <dgm:spPr/>
      <dgm:t>
        <a:bodyPr/>
        <a:lstStyle/>
        <a:p>
          <a:endParaRPr lang="es-ES"/>
        </a:p>
      </dgm:t>
    </dgm:pt>
    <dgm:pt modelId="{D2EB9FCA-7A6C-473C-B76F-EEDCFDBE1F48}" type="pres">
      <dgm:prSet presAssocID="{5E473D7D-E8C6-4FCE-9532-08D69A65F17B}" presName="parentLin" presStyleCnt="0"/>
      <dgm:spPr/>
    </dgm:pt>
    <dgm:pt modelId="{B0C67ACD-C2B5-4518-9DE8-A88ED7A93AEE}" type="pres">
      <dgm:prSet presAssocID="{5E473D7D-E8C6-4FCE-9532-08D69A65F17B}" presName="parentLeftMargin" presStyleLbl="node1" presStyleIdx="0" presStyleCnt="3"/>
      <dgm:spPr/>
      <dgm:t>
        <a:bodyPr/>
        <a:lstStyle/>
        <a:p>
          <a:endParaRPr lang="es-ES"/>
        </a:p>
      </dgm:t>
    </dgm:pt>
    <dgm:pt modelId="{B9F95820-F342-4C7A-B391-800A7D9F5D80}" type="pres">
      <dgm:prSet presAssocID="{5E473D7D-E8C6-4FCE-9532-08D69A65F17B}" presName="parentText" presStyleLbl="node1" presStyleIdx="0" presStyleCnt="3">
        <dgm:presLayoutVars>
          <dgm:chMax val="0"/>
          <dgm:bulletEnabled val="1"/>
        </dgm:presLayoutVars>
      </dgm:prSet>
      <dgm:spPr/>
      <dgm:t>
        <a:bodyPr/>
        <a:lstStyle/>
        <a:p>
          <a:endParaRPr lang="es-ES"/>
        </a:p>
      </dgm:t>
    </dgm:pt>
    <dgm:pt modelId="{5A25C010-9E6D-4159-905A-3BB0D6259AF9}" type="pres">
      <dgm:prSet presAssocID="{5E473D7D-E8C6-4FCE-9532-08D69A65F17B}" presName="negativeSpace" presStyleCnt="0"/>
      <dgm:spPr/>
    </dgm:pt>
    <dgm:pt modelId="{2172CABD-6967-431A-9BCE-B271A9565625}" type="pres">
      <dgm:prSet presAssocID="{5E473D7D-E8C6-4FCE-9532-08D69A65F17B}" presName="childText" presStyleLbl="conFgAcc1" presStyleIdx="0" presStyleCnt="3">
        <dgm:presLayoutVars>
          <dgm:bulletEnabled val="1"/>
        </dgm:presLayoutVars>
      </dgm:prSet>
      <dgm:spPr/>
    </dgm:pt>
    <dgm:pt modelId="{F86E9078-A68D-49BD-892D-F26FADF02530}" type="pres">
      <dgm:prSet presAssocID="{7358BC58-39B6-446A-9E29-0152E9CA9DC2}" presName="spaceBetweenRectangles" presStyleCnt="0"/>
      <dgm:spPr/>
    </dgm:pt>
    <dgm:pt modelId="{51E3D030-380E-49D2-A97D-8F2834D8626A}" type="pres">
      <dgm:prSet presAssocID="{975D97C3-0B0B-48C7-84A7-8757562212AC}" presName="parentLin" presStyleCnt="0"/>
      <dgm:spPr/>
    </dgm:pt>
    <dgm:pt modelId="{EFCA41AA-667D-47DB-9245-9A85A5DA2D10}" type="pres">
      <dgm:prSet presAssocID="{975D97C3-0B0B-48C7-84A7-8757562212AC}" presName="parentLeftMargin" presStyleLbl="node1" presStyleIdx="0" presStyleCnt="3"/>
      <dgm:spPr/>
      <dgm:t>
        <a:bodyPr/>
        <a:lstStyle/>
        <a:p>
          <a:endParaRPr lang="es-ES"/>
        </a:p>
      </dgm:t>
    </dgm:pt>
    <dgm:pt modelId="{45F9EA63-8A79-43DC-8384-19BB5209BD85}" type="pres">
      <dgm:prSet presAssocID="{975D97C3-0B0B-48C7-84A7-8757562212AC}" presName="parentText" presStyleLbl="node1" presStyleIdx="1" presStyleCnt="3">
        <dgm:presLayoutVars>
          <dgm:chMax val="0"/>
          <dgm:bulletEnabled val="1"/>
        </dgm:presLayoutVars>
      </dgm:prSet>
      <dgm:spPr/>
      <dgm:t>
        <a:bodyPr/>
        <a:lstStyle/>
        <a:p>
          <a:endParaRPr lang="es-AR"/>
        </a:p>
      </dgm:t>
    </dgm:pt>
    <dgm:pt modelId="{156181ED-3CDC-46D0-AF4C-1C5E64E172A7}" type="pres">
      <dgm:prSet presAssocID="{975D97C3-0B0B-48C7-84A7-8757562212AC}" presName="negativeSpace" presStyleCnt="0"/>
      <dgm:spPr/>
    </dgm:pt>
    <dgm:pt modelId="{FA3F1794-9362-49B4-8B63-9245131E0F04}" type="pres">
      <dgm:prSet presAssocID="{975D97C3-0B0B-48C7-84A7-8757562212AC}" presName="childText" presStyleLbl="conFgAcc1" presStyleIdx="1" presStyleCnt="3">
        <dgm:presLayoutVars>
          <dgm:bulletEnabled val="1"/>
        </dgm:presLayoutVars>
      </dgm:prSet>
      <dgm:spPr/>
    </dgm:pt>
    <dgm:pt modelId="{CE7D758B-D8CB-41AA-B61F-1DB19A63933E}" type="pres">
      <dgm:prSet presAssocID="{DAD8D4BB-A949-4585-A43A-32738EFC8830}" presName="spaceBetweenRectangles" presStyleCnt="0"/>
      <dgm:spPr/>
    </dgm:pt>
    <dgm:pt modelId="{53397A97-DEC8-4A91-92B7-F8145E1D43F9}" type="pres">
      <dgm:prSet presAssocID="{278C25B9-CEC1-4776-A251-541B6DF4679E}" presName="parentLin" presStyleCnt="0"/>
      <dgm:spPr/>
    </dgm:pt>
    <dgm:pt modelId="{94CB6358-D841-4D6E-88E6-98E4C78CF3A4}" type="pres">
      <dgm:prSet presAssocID="{278C25B9-CEC1-4776-A251-541B6DF4679E}" presName="parentLeftMargin" presStyleLbl="node1" presStyleIdx="1" presStyleCnt="3"/>
      <dgm:spPr/>
      <dgm:t>
        <a:bodyPr/>
        <a:lstStyle/>
        <a:p>
          <a:endParaRPr lang="es-ES"/>
        </a:p>
      </dgm:t>
    </dgm:pt>
    <dgm:pt modelId="{22277800-5462-4E3F-A007-4EF7B414B41A}" type="pres">
      <dgm:prSet presAssocID="{278C25B9-CEC1-4776-A251-541B6DF4679E}" presName="parentText" presStyleLbl="node1" presStyleIdx="2" presStyleCnt="3">
        <dgm:presLayoutVars>
          <dgm:chMax val="0"/>
          <dgm:bulletEnabled val="1"/>
        </dgm:presLayoutVars>
      </dgm:prSet>
      <dgm:spPr/>
      <dgm:t>
        <a:bodyPr/>
        <a:lstStyle/>
        <a:p>
          <a:endParaRPr lang="es-ES"/>
        </a:p>
      </dgm:t>
    </dgm:pt>
    <dgm:pt modelId="{65DC720A-F8C3-42BD-8459-7B9101428590}" type="pres">
      <dgm:prSet presAssocID="{278C25B9-CEC1-4776-A251-541B6DF4679E}" presName="negativeSpace" presStyleCnt="0"/>
      <dgm:spPr/>
    </dgm:pt>
    <dgm:pt modelId="{39088B22-26D5-4B81-8393-6A363A087EB8}" type="pres">
      <dgm:prSet presAssocID="{278C25B9-CEC1-4776-A251-541B6DF4679E}" presName="childText" presStyleLbl="conFgAcc1" presStyleIdx="2" presStyleCnt="3">
        <dgm:presLayoutVars>
          <dgm:bulletEnabled val="1"/>
        </dgm:presLayoutVars>
      </dgm:prSet>
      <dgm:spPr/>
    </dgm:pt>
  </dgm:ptLst>
  <dgm:cxnLst>
    <dgm:cxn modelId="{33ACA159-C53F-42CA-BEFA-F073AF374774}" type="presOf" srcId="{58E7C9FD-6B11-4605-89AD-081DDED22805}" destId="{F9C2A02A-20B6-4B1C-B1A9-390F19A31AA9}" srcOrd="0" destOrd="0" presId="urn:microsoft.com/office/officeart/2005/8/layout/list1"/>
    <dgm:cxn modelId="{2D3F8A88-A1EF-4397-ACBB-C99B6140A3C5}" type="presOf" srcId="{5E473D7D-E8C6-4FCE-9532-08D69A65F17B}" destId="{B9F95820-F342-4C7A-B391-800A7D9F5D80}" srcOrd="1" destOrd="0" presId="urn:microsoft.com/office/officeart/2005/8/layout/list1"/>
    <dgm:cxn modelId="{4414015C-E0F6-46E2-B987-4E68D5228B57}" type="presOf" srcId="{5E473D7D-E8C6-4FCE-9532-08D69A65F17B}" destId="{B0C67ACD-C2B5-4518-9DE8-A88ED7A93AEE}" srcOrd="0" destOrd="0" presId="urn:microsoft.com/office/officeart/2005/8/layout/list1"/>
    <dgm:cxn modelId="{6795D13D-C300-4B4D-8766-0AA3C59D7BC0}" srcId="{58E7C9FD-6B11-4605-89AD-081DDED22805}" destId="{5E473D7D-E8C6-4FCE-9532-08D69A65F17B}" srcOrd="0" destOrd="0" parTransId="{8B6F5ADC-0610-40EF-82E9-C5741802CC6D}" sibTransId="{7358BC58-39B6-446A-9E29-0152E9CA9DC2}"/>
    <dgm:cxn modelId="{4F7550D9-01CB-4B62-B1BE-F5EB457EC3E7}" type="presOf" srcId="{278C25B9-CEC1-4776-A251-541B6DF4679E}" destId="{22277800-5462-4E3F-A007-4EF7B414B41A}" srcOrd="1" destOrd="0" presId="urn:microsoft.com/office/officeart/2005/8/layout/list1"/>
    <dgm:cxn modelId="{CBDFA002-0A85-4D6B-8259-7F5C6FD257CD}" type="presOf" srcId="{975D97C3-0B0B-48C7-84A7-8757562212AC}" destId="{EFCA41AA-667D-47DB-9245-9A85A5DA2D10}" srcOrd="0" destOrd="0" presId="urn:microsoft.com/office/officeart/2005/8/layout/list1"/>
    <dgm:cxn modelId="{183DC94F-2A5C-43DD-AD9D-CA579CC709D6}" type="presOf" srcId="{278C25B9-CEC1-4776-A251-541B6DF4679E}" destId="{94CB6358-D841-4D6E-88E6-98E4C78CF3A4}" srcOrd="0" destOrd="0" presId="urn:microsoft.com/office/officeart/2005/8/layout/list1"/>
    <dgm:cxn modelId="{A587055B-952B-4A34-9677-5792019C2F2D}" type="presOf" srcId="{975D97C3-0B0B-48C7-84A7-8757562212AC}" destId="{45F9EA63-8A79-43DC-8384-19BB5209BD85}" srcOrd="1" destOrd="0" presId="urn:microsoft.com/office/officeart/2005/8/layout/list1"/>
    <dgm:cxn modelId="{AB38C091-C96C-4F86-BD3C-A981EE87469C}" srcId="{58E7C9FD-6B11-4605-89AD-081DDED22805}" destId="{975D97C3-0B0B-48C7-84A7-8757562212AC}" srcOrd="1" destOrd="0" parTransId="{7B5D7531-F06C-4227-B28E-C1BE24CD22F4}" sibTransId="{DAD8D4BB-A949-4585-A43A-32738EFC8830}"/>
    <dgm:cxn modelId="{FDB00EB6-C7C6-4C51-9E84-F32C1F34E5AE}" srcId="{58E7C9FD-6B11-4605-89AD-081DDED22805}" destId="{278C25B9-CEC1-4776-A251-541B6DF4679E}" srcOrd="2" destOrd="0" parTransId="{5373550A-8814-4CC9-BB1A-FBF85B17B63F}" sibTransId="{975AF7D4-2518-4017-9FF7-6F1ACB0EA1B5}"/>
    <dgm:cxn modelId="{82CA23DD-E4D3-4FC6-A040-24DCA1AC212A}" type="presParOf" srcId="{F9C2A02A-20B6-4B1C-B1A9-390F19A31AA9}" destId="{D2EB9FCA-7A6C-473C-B76F-EEDCFDBE1F48}" srcOrd="0" destOrd="0" presId="urn:microsoft.com/office/officeart/2005/8/layout/list1"/>
    <dgm:cxn modelId="{71655699-AE2A-419D-A15E-AD8F40675E8A}" type="presParOf" srcId="{D2EB9FCA-7A6C-473C-B76F-EEDCFDBE1F48}" destId="{B0C67ACD-C2B5-4518-9DE8-A88ED7A93AEE}" srcOrd="0" destOrd="0" presId="urn:microsoft.com/office/officeart/2005/8/layout/list1"/>
    <dgm:cxn modelId="{CB2BEA82-9E75-405F-96BE-2120C76D3D2C}" type="presParOf" srcId="{D2EB9FCA-7A6C-473C-B76F-EEDCFDBE1F48}" destId="{B9F95820-F342-4C7A-B391-800A7D9F5D80}" srcOrd="1" destOrd="0" presId="urn:microsoft.com/office/officeart/2005/8/layout/list1"/>
    <dgm:cxn modelId="{D48A224D-D4BD-4253-A3BD-F73E0A272CD2}" type="presParOf" srcId="{F9C2A02A-20B6-4B1C-B1A9-390F19A31AA9}" destId="{5A25C010-9E6D-4159-905A-3BB0D6259AF9}" srcOrd="1" destOrd="0" presId="urn:microsoft.com/office/officeart/2005/8/layout/list1"/>
    <dgm:cxn modelId="{DEAAA926-9B1B-4C3B-A826-BF5344490C7A}" type="presParOf" srcId="{F9C2A02A-20B6-4B1C-B1A9-390F19A31AA9}" destId="{2172CABD-6967-431A-9BCE-B271A9565625}" srcOrd="2" destOrd="0" presId="urn:microsoft.com/office/officeart/2005/8/layout/list1"/>
    <dgm:cxn modelId="{49761AD8-AF4C-407D-B4FD-F47EDAC6BCCC}" type="presParOf" srcId="{F9C2A02A-20B6-4B1C-B1A9-390F19A31AA9}" destId="{F86E9078-A68D-49BD-892D-F26FADF02530}" srcOrd="3" destOrd="0" presId="urn:microsoft.com/office/officeart/2005/8/layout/list1"/>
    <dgm:cxn modelId="{86555482-0D98-4DCD-B4EA-D9CD23C8FF58}" type="presParOf" srcId="{F9C2A02A-20B6-4B1C-B1A9-390F19A31AA9}" destId="{51E3D030-380E-49D2-A97D-8F2834D8626A}" srcOrd="4" destOrd="0" presId="urn:microsoft.com/office/officeart/2005/8/layout/list1"/>
    <dgm:cxn modelId="{09D99C88-B50A-420F-8B75-4D0A1C728574}" type="presParOf" srcId="{51E3D030-380E-49D2-A97D-8F2834D8626A}" destId="{EFCA41AA-667D-47DB-9245-9A85A5DA2D10}" srcOrd="0" destOrd="0" presId="urn:microsoft.com/office/officeart/2005/8/layout/list1"/>
    <dgm:cxn modelId="{2CE157A0-B58E-4610-8C4D-283C278983BB}" type="presParOf" srcId="{51E3D030-380E-49D2-A97D-8F2834D8626A}" destId="{45F9EA63-8A79-43DC-8384-19BB5209BD85}" srcOrd="1" destOrd="0" presId="urn:microsoft.com/office/officeart/2005/8/layout/list1"/>
    <dgm:cxn modelId="{A7DD9397-5EC5-4685-84BA-151E404B2976}" type="presParOf" srcId="{F9C2A02A-20B6-4B1C-B1A9-390F19A31AA9}" destId="{156181ED-3CDC-46D0-AF4C-1C5E64E172A7}" srcOrd="5" destOrd="0" presId="urn:microsoft.com/office/officeart/2005/8/layout/list1"/>
    <dgm:cxn modelId="{8059B9A1-04AD-40AA-AA80-E85F046C32EF}" type="presParOf" srcId="{F9C2A02A-20B6-4B1C-B1A9-390F19A31AA9}" destId="{FA3F1794-9362-49B4-8B63-9245131E0F04}" srcOrd="6" destOrd="0" presId="urn:microsoft.com/office/officeart/2005/8/layout/list1"/>
    <dgm:cxn modelId="{7242D83F-D8E6-458E-AD0C-8005F9448B28}" type="presParOf" srcId="{F9C2A02A-20B6-4B1C-B1A9-390F19A31AA9}" destId="{CE7D758B-D8CB-41AA-B61F-1DB19A63933E}" srcOrd="7" destOrd="0" presId="urn:microsoft.com/office/officeart/2005/8/layout/list1"/>
    <dgm:cxn modelId="{F84E7EE7-B436-43FD-BDED-74DDA2DE2D4C}" type="presParOf" srcId="{F9C2A02A-20B6-4B1C-B1A9-390F19A31AA9}" destId="{53397A97-DEC8-4A91-92B7-F8145E1D43F9}" srcOrd="8" destOrd="0" presId="urn:microsoft.com/office/officeart/2005/8/layout/list1"/>
    <dgm:cxn modelId="{000C7C1F-6D2F-4894-86C4-043D466F8F55}" type="presParOf" srcId="{53397A97-DEC8-4A91-92B7-F8145E1D43F9}" destId="{94CB6358-D841-4D6E-88E6-98E4C78CF3A4}" srcOrd="0" destOrd="0" presId="urn:microsoft.com/office/officeart/2005/8/layout/list1"/>
    <dgm:cxn modelId="{CD861662-3D46-41ED-BEA4-A04BC54CEECE}" type="presParOf" srcId="{53397A97-DEC8-4A91-92B7-F8145E1D43F9}" destId="{22277800-5462-4E3F-A007-4EF7B414B41A}" srcOrd="1" destOrd="0" presId="urn:microsoft.com/office/officeart/2005/8/layout/list1"/>
    <dgm:cxn modelId="{1BCAF7AD-7DAC-4D26-8251-65CE9D3964C4}" type="presParOf" srcId="{F9C2A02A-20B6-4B1C-B1A9-390F19A31AA9}" destId="{65DC720A-F8C3-42BD-8459-7B9101428590}" srcOrd="9" destOrd="0" presId="urn:microsoft.com/office/officeart/2005/8/layout/list1"/>
    <dgm:cxn modelId="{EB8F8BBC-5655-4EC8-9B01-0FF308B7281C}" type="presParOf" srcId="{F9C2A02A-20B6-4B1C-B1A9-390F19A31AA9}" destId="{39088B22-26D5-4B81-8393-6A363A087EB8}"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64F275E-2D4D-42F6-ACF0-2E5D4AF9541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s-AR"/>
        </a:p>
      </dgm:t>
    </dgm:pt>
    <dgm:pt modelId="{12BB9577-14BA-4B3E-9A43-FE3666B7DB19}">
      <dgm:prSet phldrT="[Texto]"/>
      <dgm:spPr/>
      <dgm:t>
        <a:bodyPr/>
        <a:lstStyle/>
        <a:p>
          <a:r>
            <a:rPr lang="es-AR" dirty="0" smtClean="0"/>
            <a:t>Atomización de Mercado</a:t>
          </a:r>
          <a:endParaRPr lang="es-AR" dirty="0"/>
        </a:p>
      </dgm:t>
    </dgm:pt>
    <dgm:pt modelId="{E7493A10-6F81-465A-823D-84E9DE2FED1F}" type="parTrans" cxnId="{BDA70F21-CEF1-4855-B2E7-ACFA5512D489}">
      <dgm:prSet/>
      <dgm:spPr/>
      <dgm:t>
        <a:bodyPr/>
        <a:lstStyle/>
        <a:p>
          <a:endParaRPr lang="es-AR"/>
        </a:p>
      </dgm:t>
    </dgm:pt>
    <dgm:pt modelId="{397789DD-970B-49D5-9D12-96A2624A29CB}" type="sibTrans" cxnId="{BDA70F21-CEF1-4855-B2E7-ACFA5512D489}">
      <dgm:prSet/>
      <dgm:spPr/>
      <dgm:t>
        <a:bodyPr/>
        <a:lstStyle/>
        <a:p>
          <a:endParaRPr lang="es-AR"/>
        </a:p>
      </dgm:t>
    </dgm:pt>
    <dgm:pt modelId="{2D06C840-EF86-44BC-965E-275F9D15FF52}">
      <dgm:prSet phldrT="[Texto]"/>
      <dgm:spPr/>
      <dgm:t>
        <a:bodyPr/>
        <a:lstStyle/>
        <a:p>
          <a:r>
            <a:rPr lang="es-AR" dirty="0" smtClean="0"/>
            <a:t>Homogeneidad del Producto</a:t>
          </a:r>
          <a:endParaRPr lang="es-AR" dirty="0"/>
        </a:p>
      </dgm:t>
    </dgm:pt>
    <dgm:pt modelId="{52C2EC72-AC9D-4CD6-8312-57781AB1CBE4}" type="parTrans" cxnId="{81F43E91-6149-44BA-96E2-3982F28AEACA}">
      <dgm:prSet/>
      <dgm:spPr/>
      <dgm:t>
        <a:bodyPr/>
        <a:lstStyle/>
        <a:p>
          <a:endParaRPr lang="es-AR"/>
        </a:p>
      </dgm:t>
    </dgm:pt>
    <dgm:pt modelId="{4B3085A1-8CE8-486B-A307-5B6286A67928}" type="sibTrans" cxnId="{81F43E91-6149-44BA-96E2-3982F28AEACA}">
      <dgm:prSet/>
      <dgm:spPr/>
      <dgm:t>
        <a:bodyPr/>
        <a:lstStyle/>
        <a:p>
          <a:endParaRPr lang="es-AR"/>
        </a:p>
      </dgm:t>
    </dgm:pt>
    <dgm:pt modelId="{B613D9A1-7BE6-4E02-BC67-7E4529DC5342}">
      <dgm:prSet phldrT="[Texto]"/>
      <dgm:spPr/>
      <dgm:t>
        <a:bodyPr/>
        <a:lstStyle/>
        <a:p>
          <a:r>
            <a:rPr lang="es-AR" dirty="0" smtClean="0"/>
            <a:t>Libre acceso al mercado.</a:t>
          </a:r>
          <a:endParaRPr lang="es-AR" dirty="0"/>
        </a:p>
      </dgm:t>
    </dgm:pt>
    <dgm:pt modelId="{0B1DEC03-5D53-4654-A0E1-3F5A01112361}" type="parTrans" cxnId="{620424A3-28A4-4E8B-9BAE-006A02B7EB52}">
      <dgm:prSet/>
      <dgm:spPr/>
      <dgm:t>
        <a:bodyPr/>
        <a:lstStyle/>
        <a:p>
          <a:endParaRPr lang="es-AR"/>
        </a:p>
      </dgm:t>
    </dgm:pt>
    <dgm:pt modelId="{2232C5F9-AB32-4709-9559-351809794F75}" type="sibTrans" cxnId="{620424A3-28A4-4E8B-9BAE-006A02B7EB52}">
      <dgm:prSet/>
      <dgm:spPr/>
      <dgm:t>
        <a:bodyPr/>
        <a:lstStyle/>
        <a:p>
          <a:endParaRPr lang="es-AR"/>
        </a:p>
      </dgm:t>
    </dgm:pt>
    <dgm:pt modelId="{BEA13D9C-2A59-4E04-AC3B-5239BA6BF401}">
      <dgm:prSet phldrT="[Texto]"/>
      <dgm:spPr/>
      <dgm:t>
        <a:bodyPr/>
        <a:lstStyle/>
        <a:p>
          <a:r>
            <a:rPr lang="es-AR" dirty="0" smtClean="0"/>
            <a:t>Transparencia: Información perfecta.</a:t>
          </a:r>
          <a:endParaRPr lang="es-AR" dirty="0"/>
        </a:p>
      </dgm:t>
    </dgm:pt>
    <dgm:pt modelId="{7A3B38A6-BE4C-447E-A829-9B6F95A90937}" type="parTrans" cxnId="{A6F4BE10-D9B8-44E5-A80B-3055A1953A85}">
      <dgm:prSet/>
      <dgm:spPr/>
      <dgm:t>
        <a:bodyPr/>
        <a:lstStyle/>
        <a:p>
          <a:endParaRPr lang="es-AR"/>
        </a:p>
      </dgm:t>
    </dgm:pt>
    <dgm:pt modelId="{852EBAF8-3B4B-43F0-987C-B43FBFA5FDB4}" type="sibTrans" cxnId="{A6F4BE10-D9B8-44E5-A80B-3055A1953A85}">
      <dgm:prSet/>
      <dgm:spPr/>
      <dgm:t>
        <a:bodyPr/>
        <a:lstStyle/>
        <a:p>
          <a:endParaRPr lang="es-AR"/>
        </a:p>
      </dgm:t>
    </dgm:pt>
    <dgm:pt modelId="{EFB8AB11-2F1E-48E8-95B8-8C74F4522950}">
      <dgm:prSet phldrT="[Texto]"/>
      <dgm:spPr/>
      <dgm:t>
        <a:bodyPr/>
        <a:lstStyle/>
        <a:p>
          <a:r>
            <a:rPr lang="es-AR" dirty="0" smtClean="0"/>
            <a:t>Movilidad de recursos sin </a:t>
          </a:r>
          <a:r>
            <a:rPr lang="es-AR" dirty="0" err="1" smtClean="0"/>
            <a:t>restrcciones</a:t>
          </a:r>
          <a:r>
            <a:rPr lang="es-AR" dirty="0" smtClean="0"/>
            <a:t>.</a:t>
          </a:r>
          <a:endParaRPr lang="es-AR" dirty="0"/>
        </a:p>
      </dgm:t>
    </dgm:pt>
    <dgm:pt modelId="{AAE515F6-987E-4879-AC4C-DFFEFF004B35}" type="parTrans" cxnId="{80ADB3C8-F3CC-458F-81ED-DE78FF9206DC}">
      <dgm:prSet/>
      <dgm:spPr/>
      <dgm:t>
        <a:bodyPr/>
        <a:lstStyle/>
        <a:p>
          <a:endParaRPr lang="es-AR"/>
        </a:p>
      </dgm:t>
    </dgm:pt>
    <dgm:pt modelId="{2A0D5635-E38A-45B1-B303-885175B64F25}" type="sibTrans" cxnId="{80ADB3C8-F3CC-458F-81ED-DE78FF9206DC}">
      <dgm:prSet/>
      <dgm:spPr/>
      <dgm:t>
        <a:bodyPr/>
        <a:lstStyle/>
        <a:p>
          <a:endParaRPr lang="es-AR"/>
        </a:p>
      </dgm:t>
    </dgm:pt>
    <dgm:pt modelId="{E80CA8A2-D54D-4A99-A2BE-B8ABB6326A8C}" type="pres">
      <dgm:prSet presAssocID="{464F275E-2D4D-42F6-ACF0-2E5D4AF9541B}" presName="diagram" presStyleCnt="0">
        <dgm:presLayoutVars>
          <dgm:dir/>
          <dgm:resizeHandles val="exact"/>
        </dgm:presLayoutVars>
      </dgm:prSet>
      <dgm:spPr/>
      <dgm:t>
        <a:bodyPr/>
        <a:lstStyle/>
        <a:p>
          <a:endParaRPr lang="es-AR"/>
        </a:p>
      </dgm:t>
    </dgm:pt>
    <dgm:pt modelId="{FE8D2054-D9BC-4A75-8F2A-8BA7B4100BF9}" type="pres">
      <dgm:prSet presAssocID="{12BB9577-14BA-4B3E-9A43-FE3666B7DB19}" presName="node" presStyleLbl="node1" presStyleIdx="0" presStyleCnt="5">
        <dgm:presLayoutVars>
          <dgm:bulletEnabled val="1"/>
        </dgm:presLayoutVars>
      </dgm:prSet>
      <dgm:spPr/>
      <dgm:t>
        <a:bodyPr/>
        <a:lstStyle/>
        <a:p>
          <a:endParaRPr lang="es-AR"/>
        </a:p>
      </dgm:t>
    </dgm:pt>
    <dgm:pt modelId="{FC4B63A7-792C-493B-A7E8-6D4879FC2EA7}" type="pres">
      <dgm:prSet presAssocID="{397789DD-970B-49D5-9D12-96A2624A29CB}" presName="sibTrans" presStyleCnt="0"/>
      <dgm:spPr/>
    </dgm:pt>
    <dgm:pt modelId="{535C7318-BF75-44DE-B47A-2BAAA90A88BD}" type="pres">
      <dgm:prSet presAssocID="{2D06C840-EF86-44BC-965E-275F9D15FF52}" presName="node" presStyleLbl="node1" presStyleIdx="1" presStyleCnt="5">
        <dgm:presLayoutVars>
          <dgm:bulletEnabled val="1"/>
        </dgm:presLayoutVars>
      </dgm:prSet>
      <dgm:spPr/>
      <dgm:t>
        <a:bodyPr/>
        <a:lstStyle/>
        <a:p>
          <a:endParaRPr lang="es-AR"/>
        </a:p>
      </dgm:t>
    </dgm:pt>
    <dgm:pt modelId="{BE79EF8D-45F0-40ED-AB41-553B7B628635}" type="pres">
      <dgm:prSet presAssocID="{4B3085A1-8CE8-486B-A307-5B6286A67928}" presName="sibTrans" presStyleCnt="0"/>
      <dgm:spPr/>
    </dgm:pt>
    <dgm:pt modelId="{6E90FB09-DC51-46A5-BF2C-B79DC36DC7A8}" type="pres">
      <dgm:prSet presAssocID="{B613D9A1-7BE6-4E02-BC67-7E4529DC5342}" presName="node" presStyleLbl="node1" presStyleIdx="2" presStyleCnt="5">
        <dgm:presLayoutVars>
          <dgm:bulletEnabled val="1"/>
        </dgm:presLayoutVars>
      </dgm:prSet>
      <dgm:spPr/>
      <dgm:t>
        <a:bodyPr/>
        <a:lstStyle/>
        <a:p>
          <a:endParaRPr lang="es-AR"/>
        </a:p>
      </dgm:t>
    </dgm:pt>
    <dgm:pt modelId="{33089481-352D-46DB-999D-1080047357A4}" type="pres">
      <dgm:prSet presAssocID="{2232C5F9-AB32-4709-9559-351809794F75}" presName="sibTrans" presStyleCnt="0"/>
      <dgm:spPr/>
    </dgm:pt>
    <dgm:pt modelId="{E11C8FD8-884B-464D-BCA0-FBBB034C60DD}" type="pres">
      <dgm:prSet presAssocID="{BEA13D9C-2A59-4E04-AC3B-5239BA6BF401}" presName="node" presStyleLbl="node1" presStyleIdx="3" presStyleCnt="5">
        <dgm:presLayoutVars>
          <dgm:bulletEnabled val="1"/>
        </dgm:presLayoutVars>
      </dgm:prSet>
      <dgm:spPr/>
      <dgm:t>
        <a:bodyPr/>
        <a:lstStyle/>
        <a:p>
          <a:endParaRPr lang="es-AR"/>
        </a:p>
      </dgm:t>
    </dgm:pt>
    <dgm:pt modelId="{6048C047-77EE-4149-8551-88718A689BC8}" type="pres">
      <dgm:prSet presAssocID="{852EBAF8-3B4B-43F0-987C-B43FBFA5FDB4}" presName="sibTrans" presStyleCnt="0"/>
      <dgm:spPr/>
    </dgm:pt>
    <dgm:pt modelId="{A39800EF-8C87-4671-BA6F-EEC40B624346}" type="pres">
      <dgm:prSet presAssocID="{EFB8AB11-2F1E-48E8-95B8-8C74F4522950}" presName="node" presStyleLbl="node1" presStyleIdx="4" presStyleCnt="5">
        <dgm:presLayoutVars>
          <dgm:bulletEnabled val="1"/>
        </dgm:presLayoutVars>
      </dgm:prSet>
      <dgm:spPr/>
      <dgm:t>
        <a:bodyPr/>
        <a:lstStyle/>
        <a:p>
          <a:endParaRPr lang="es-AR"/>
        </a:p>
      </dgm:t>
    </dgm:pt>
  </dgm:ptLst>
  <dgm:cxnLst>
    <dgm:cxn modelId="{9E58AE65-848C-4A23-A62A-F2506F2AAD6F}" type="presOf" srcId="{12BB9577-14BA-4B3E-9A43-FE3666B7DB19}" destId="{FE8D2054-D9BC-4A75-8F2A-8BA7B4100BF9}" srcOrd="0" destOrd="0" presId="urn:microsoft.com/office/officeart/2005/8/layout/default"/>
    <dgm:cxn modelId="{81F43E91-6149-44BA-96E2-3982F28AEACA}" srcId="{464F275E-2D4D-42F6-ACF0-2E5D4AF9541B}" destId="{2D06C840-EF86-44BC-965E-275F9D15FF52}" srcOrd="1" destOrd="0" parTransId="{52C2EC72-AC9D-4CD6-8312-57781AB1CBE4}" sibTransId="{4B3085A1-8CE8-486B-A307-5B6286A67928}"/>
    <dgm:cxn modelId="{679189E2-E963-42E0-9865-D1BDA9290EC7}" type="presOf" srcId="{464F275E-2D4D-42F6-ACF0-2E5D4AF9541B}" destId="{E80CA8A2-D54D-4A99-A2BE-B8ABB6326A8C}" srcOrd="0" destOrd="0" presId="urn:microsoft.com/office/officeart/2005/8/layout/default"/>
    <dgm:cxn modelId="{EB06E630-8C5B-4B98-8F34-BDC3169BC36E}" type="presOf" srcId="{BEA13D9C-2A59-4E04-AC3B-5239BA6BF401}" destId="{E11C8FD8-884B-464D-BCA0-FBBB034C60DD}" srcOrd="0" destOrd="0" presId="urn:microsoft.com/office/officeart/2005/8/layout/default"/>
    <dgm:cxn modelId="{620424A3-28A4-4E8B-9BAE-006A02B7EB52}" srcId="{464F275E-2D4D-42F6-ACF0-2E5D4AF9541B}" destId="{B613D9A1-7BE6-4E02-BC67-7E4529DC5342}" srcOrd="2" destOrd="0" parTransId="{0B1DEC03-5D53-4654-A0E1-3F5A01112361}" sibTransId="{2232C5F9-AB32-4709-9559-351809794F75}"/>
    <dgm:cxn modelId="{BA9FAA58-7DE5-462E-87B4-121F8E882B0A}" type="presOf" srcId="{EFB8AB11-2F1E-48E8-95B8-8C74F4522950}" destId="{A39800EF-8C87-4671-BA6F-EEC40B624346}" srcOrd="0" destOrd="0" presId="urn:microsoft.com/office/officeart/2005/8/layout/default"/>
    <dgm:cxn modelId="{A6F4BE10-D9B8-44E5-A80B-3055A1953A85}" srcId="{464F275E-2D4D-42F6-ACF0-2E5D4AF9541B}" destId="{BEA13D9C-2A59-4E04-AC3B-5239BA6BF401}" srcOrd="3" destOrd="0" parTransId="{7A3B38A6-BE4C-447E-A829-9B6F95A90937}" sibTransId="{852EBAF8-3B4B-43F0-987C-B43FBFA5FDB4}"/>
    <dgm:cxn modelId="{BDA70F21-CEF1-4855-B2E7-ACFA5512D489}" srcId="{464F275E-2D4D-42F6-ACF0-2E5D4AF9541B}" destId="{12BB9577-14BA-4B3E-9A43-FE3666B7DB19}" srcOrd="0" destOrd="0" parTransId="{E7493A10-6F81-465A-823D-84E9DE2FED1F}" sibTransId="{397789DD-970B-49D5-9D12-96A2624A29CB}"/>
    <dgm:cxn modelId="{D8705564-BDA3-44B3-B955-DEA4A2380679}" type="presOf" srcId="{B613D9A1-7BE6-4E02-BC67-7E4529DC5342}" destId="{6E90FB09-DC51-46A5-BF2C-B79DC36DC7A8}" srcOrd="0" destOrd="0" presId="urn:microsoft.com/office/officeart/2005/8/layout/default"/>
    <dgm:cxn modelId="{80ADB3C8-F3CC-458F-81ED-DE78FF9206DC}" srcId="{464F275E-2D4D-42F6-ACF0-2E5D4AF9541B}" destId="{EFB8AB11-2F1E-48E8-95B8-8C74F4522950}" srcOrd="4" destOrd="0" parTransId="{AAE515F6-987E-4879-AC4C-DFFEFF004B35}" sibTransId="{2A0D5635-E38A-45B1-B303-885175B64F25}"/>
    <dgm:cxn modelId="{A53756B8-9740-4FB8-A69D-8151C116D486}" type="presOf" srcId="{2D06C840-EF86-44BC-965E-275F9D15FF52}" destId="{535C7318-BF75-44DE-B47A-2BAAA90A88BD}" srcOrd="0" destOrd="0" presId="urn:microsoft.com/office/officeart/2005/8/layout/default"/>
    <dgm:cxn modelId="{85FC22FE-6DF6-4069-8A38-60B47B1B24C6}" type="presParOf" srcId="{E80CA8A2-D54D-4A99-A2BE-B8ABB6326A8C}" destId="{FE8D2054-D9BC-4A75-8F2A-8BA7B4100BF9}" srcOrd="0" destOrd="0" presId="urn:microsoft.com/office/officeart/2005/8/layout/default"/>
    <dgm:cxn modelId="{F2298685-F07F-437D-B6E4-AA98B406E6DA}" type="presParOf" srcId="{E80CA8A2-D54D-4A99-A2BE-B8ABB6326A8C}" destId="{FC4B63A7-792C-493B-A7E8-6D4879FC2EA7}" srcOrd="1" destOrd="0" presId="urn:microsoft.com/office/officeart/2005/8/layout/default"/>
    <dgm:cxn modelId="{BE40F36A-B80B-4045-BC8C-E410F7371B25}" type="presParOf" srcId="{E80CA8A2-D54D-4A99-A2BE-B8ABB6326A8C}" destId="{535C7318-BF75-44DE-B47A-2BAAA90A88BD}" srcOrd="2" destOrd="0" presId="urn:microsoft.com/office/officeart/2005/8/layout/default"/>
    <dgm:cxn modelId="{73063E35-2DB0-451A-A700-3EB5FE327D86}" type="presParOf" srcId="{E80CA8A2-D54D-4A99-A2BE-B8ABB6326A8C}" destId="{BE79EF8D-45F0-40ED-AB41-553B7B628635}" srcOrd="3" destOrd="0" presId="urn:microsoft.com/office/officeart/2005/8/layout/default"/>
    <dgm:cxn modelId="{32495B7E-161E-445E-B785-97A44C434998}" type="presParOf" srcId="{E80CA8A2-D54D-4A99-A2BE-B8ABB6326A8C}" destId="{6E90FB09-DC51-46A5-BF2C-B79DC36DC7A8}" srcOrd="4" destOrd="0" presId="urn:microsoft.com/office/officeart/2005/8/layout/default"/>
    <dgm:cxn modelId="{AFFF2545-33B8-410C-A584-2EFAD3DE1BE9}" type="presParOf" srcId="{E80CA8A2-D54D-4A99-A2BE-B8ABB6326A8C}" destId="{33089481-352D-46DB-999D-1080047357A4}" srcOrd="5" destOrd="0" presId="urn:microsoft.com/office/officeart/2005/8/layout/default"/>
    <dgm:cxn modelId="{A60A72FF-C84B-4A6E-8B43-193E7484332E}" type="presParOf" srcId="{E80CA8A2-D54D-4A99-A2BE-B8ABB6326A8C}" destId="{E11C8FD8-884B-464D-BCA0-FBBB034C60DD}" srcOrd="6" destOrd="0" presId="urn:microsoft.com/office/officeart/2005/8/layout/default"/>
    <dgm:cxn modelId="{146F810E-2B5F-45B4-A355-2E3F5433DBD3}" type="presParOf" srcId="{E80CA8A2-D54D-4A99-A2BE-B8ABB6326A8C}" destId="{6048C047-77EE-4149-8551-88718A689BC8}" srcOrd="7" destOrd="0" presId="urn:microsoft.com/office/officeart/2005/8/layout/default"/>
    <dgm:cxn modelId="{350CB60F-6E04-41C3-9551-BE0737FBAA6D}" type="presParOf" srcId="{E80CA8A2-D54D-4A99-A2BE-B8ABB6326A8C}" destId="{A39800EF-8C87-4671-BA6F-EEC40B624346}"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B9365A-8C8F-409A-B6AC-A83762A15EC5}">
      <dsp:nvSpPr>
        <dsp:cNvPr id="0" name=""/>
        <dsp:cNvSpPr/>
      </dsp:nvSpPr>
      <dsp:spPr>
        <a:xfrm>
          <a:off x="3413596" y="947"/>
          <a:ext cx="1402407" cy="1402407"/>
        </a:xfrm>
        <a:prstGeom prst="ellipse">
          <a:avLst/>
        </a:prstGeom>
        <a:solidFill>
          <a:srgbClr val="00B0F0"/>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s-AR" sz="1400" kern="1200" dirty="0" smtClean="0"/>
            <a:t>Necesidad Humana</a:t>
          </a:r>
          <a:endParaRPr lang="es-AR" sz="1400" kern="1200" dirty="0"/>
        </a:p>
      </dsp:txBody>
      <dsp:txXfrm>
        <a:off x="3618974" y="206325"/>
        <a:ext cx="991651" cy="991651"/>
      </dsp:txXfrm>
    </dsp:sp>
    <dsp:sp modelId="{FBDF4867-F007-420F-A360-6995386D0CBF}">
      <dsp:nvSpPr>
        <dsp:cNvPr id="0" name=""/>
        <dsp:cNvSpPr/>
      </dsp:nvSpPr>
      <dsp:spPr>
        <a:xfrm rot="2160000">
          <a:off x="4771569" y="1077926"/>
          <a:ext cx="372341" cy="4733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a:off x="4782236" y="1139760"/>
        <a:ext cx="260639" cy="283988"/>
      </dsp:txXfrm>
    </dsp:sp>
    <dsp:sp modelId="{EA0DB310-18EF-4EF4-A79D-38ECF4523D91}">
      <dsp:nvSpPr>
        <dsp:cNvPr id="0" name=""/>
        <dsp:cNvSpPr/>
      </dsp:nvSpPr>
      <dsp:spPr>
        <a:xfrm>
          <a:off x="5116527" y="1238199"/>
          <a:ext cx="1402407" cy="1402407"/>
        </a:xfrm>
        <a:prstGeom prst="ellipse">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s-AR" sz="1400" kern="1200" dirty="0" smtClean="0"/>
            <a:t>Deseo humano</a:t>
          </a:r>
          <a:endParaRPr lang="es-AR" sz="1400" kern="1200" dirty="0"/>
        </a:p>
      </dsp:txBody>
      <dsp:txXfrm>
        <a:off x="5321905" y="1443577"/>
        <a:ext cx="991651" cy="991651"/>
      </dsp:txXfrm>
    </dsp:sp>
    <dsp:sp modelId="{41A89100-2A06-4399-8419-AB24DB797541}">
      <dsp:nvSpPr>
        <dsp:cNvPr id="0" name=""/>
        <dsp:cNvSpPr/>
      </dsp:nvSpPr>
      <dsp:spPr>
        <a:xfrm rot="6480000">
          <a:off x="5309585" y="2693682"/>
          <a:ext cx="372341" cy="4733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rot="10800000">
        <a:off x="5382695" y="2735227"/>
        <a:ext cx="260639" cy="283988"/>
      </dsp:txXfrm>
    </dsp:sp>
    <dsp:sp modelId="{AB2BD0D7-4FB4-4A59-9712-B06F8A8BB22D}">
      <dsp:nvSpPr>
        <dsp:cNvPr id="0" name=""/>
        <dsp:cNvSpPr/>
      </dsp:nvSpPr>
      <dsp:spPr>
        <a:xfrm>
          <a:off x="4466065" y="3240115"/>
          <a:ext cx="1402407" cy="1402407"/>
        </a:xfrm>
        <a:prstGeom prst="ellipse">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s-AR" sz="1400" kern="1200" dirty="0" smtClean="0"/>
            <a:t>Demandas</a:t>
          </a:r>
          <a:endParaRPr lang="es-AR" sz="1400" kern="1200" dirty="0"/>
        </a:p>
      </dsp:txBody>
      <dsp:txXfrm>
        <a:off x="4671443" y="3445493"/>
        <a:ext cx="991651" cy="991651"/>
      </dsp:txXfrm>
    </dsp:sp>
    <dsp:sp modelId="{FBAB90F6-5585-481E-A4F1-7B8F6E6D85A0}">
      <dsp:nvSpPr>
        <dsp:cNvPr id="0" name=""/>
        <dsp:cNvSpPr/>
      </dsp:nvSpPr>
      <dsp:spPr>
        <a:xfrm rot="10800000">
          <a:off x="3939167" y="3704662"/>
          <a:ext cx="372341" cy="4733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rot="10800000">
        <a:off x="4050869" y="3799324"/>
        <a:ext cx="260639" cy="283988"/>
      </dsp:txXfrm>
    </dsp:sp>
    <dsp:sp modelId="{D37F51AD-A1C4-4DF8-A325-09B19F5E53A9}">
      <dsp:nvSpPr>
        <dsp:cNvPr id="0" name=""/>
        <dsp:cNvSpPr/>
      </dsp:nvSpPr>
      <dsp:spPr>
        <a:xfrm>
          <a:off x="2361126" y="3240115"/>
          <a:ext cx="1402407" cy="140240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s-AR" sz="1400" kern="1200" dirty="0" smtClean="0"/>
            <a:t>Producto</a:t>
          </a:r>
          <a:endParaRPr lang="es-AR" sz="1400" kern="1200" dirty="0"/>
        </a:p>
      </dsp:txBody>
      <dsp:txXfrm>
        <a:off x="2566504" y="3445493"/>
        <a:ext cx="991651" cy="991651"/>
      </dsp:txXfrm>
    </dsp:sp>
    <dsp:sp modelId="{B9740F72-AAF8-4C12-B2BB-E5285A4AD8B9}">
      <dsp:nvSpPr>
        <dsp:cNvPr id="0" name=""/>
        <dsp:cNvSpPr/>
      </dsp:nvSpPr>
      <dsp:spPr>
        <a:xfrm rot="15120000">
          <a:off x="2554185" y="2713726"/>
          <a:ext cx="372341" cy="4733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rot="10800000">
        <a:off x="2627295" y="2861505"/>
        <a:ext cx="260639" cy="283988"/>
      </dsp:txXfrm>
    </dsp:sp>
    <dsp:sp modelId="{6CF666FE-2169-4D94-A2BA-1111022BA568}">
      <dsp:nvSpPr>
        <dsp:cNvPr id="0" name=""/>
        <dsp:cNvSpPr/>
      </dsp:nvSpPr>
      <dsp:spPr>
        <a:xfrm>
          <a:off x="1710664" y="1238199"/>
          <a:ext cx="1402407" cy="1402407"/>
        </a:xfrm>
        <a:prstGeom prst="ellipse">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s-AR" sz="1400" kern="1200" dirty="0" smtClean="0"/>
            <a:t>Intercambio</a:t>
          </a:r>
          <a:endParaRPr lang="es-AR" sz="1400" kern="1200" dirty="0"/>
        </a:p>
      </dsp:txBody>
      <dsp:txXfrm>
        <a:off x="1916042" y="1443577"/>
        <a:ext cx="991651" cy="991651"/>
      </dsp:txXfrm>
    </dsp:sp>
    <dsp:sp modelId="{8FAE403F-9735-4DCE-8DC2-68C9F99AC0C5}">
      <dsp:nvSpPr>
        <dsp:cNvPr id="0" name=""/>
        <dsp:cNvSpPr/>
      </dsp:nvSpPr>
      <dsp:spPr>
        <a:xfrm rot="19440000">
          <a:off x="3068638" y="1090314"/>
          <a:ext cx="372341" cy="4733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a:off x="3079305" y="1217804"/>
        <a:ext cx="260639" cy="2839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8DE774-9D27-4B1E-9D98-928E9461B48B}">
      <dsp:nvSpPr>
        <dsp:cNvPr id="0" name=""/>
        <dsp:cNvSpPr/>
      </dsp:nvSpPr>
      <dsp:spPr>
        <a:xfrm>
          <a:off x="1590873" y="0"/>
          <a:ext cx="4389437" cy="4389437"/>
        </a:xfrm>
        <a:prstGeom prst="triangl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90815DC-E32F-4966-9673-F0A839967925}">
      <dsp:nvSpPr>
        <dsp:cNvPr id="0" name=""/>
        <dsp:cNvSpPr/>
      </dsp:nvSpPr>
      <dsp:spPr>
        <a:xfrm>
          <a:off x="3785592" y="441301"/>
          <a:ext cx="2853134" cy="1039062"/>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s-AR" sz="1700" kern="1200" dirty="0" smtClean="0"/>
            <a:t>Mercado: Conjunto de compradores reales o potenciales.</a:t>
          </a:r>
          <a:endParaRPr lang="es-AR" sz="1700" kern="1200" dirty="0"/>
        </a:p>
      </dsp:txBody>
      <dsp:txXfrm>
        <a:off x="3836315" y="492024"/>
        <a:ext cx="2751688" cy="937616"/>
      </dsp:txXfrm>
    </dsp:sp>
    <dsp:sp modelId="{10CE90FE-87FF-4BDE-A868-8D6941C47E86}">
      <dsp:nvSpPr>
        <dsp:cNvPr id="0" name=""/>
        <dsp:cNvSpPr/>
      </dsp:nvSpPr>
      <dsp:spPr>
        <a:xfrm>
          <a:off x="3785592" y="1610246"/>
          <a:ext cx="2853134" cy="1039062"/>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s-AR" sz="1700" kern="1200" dirty="0" smtClean="0"/>
            <a:t>Marketing: trabaja con mercados para que se lleven a cabo intercambios.</a:t>
          </a:r>
          <a:endParaRPr lang="es-AR" sz="1700" kern="1200" dirty="0"/>
        </a:p>
      </dsp:txBody>
      <dsp:txXfrm>
        <a:off x="3836315" y="1660969"/>
        <a:ext cx="2751688" cy="937616"/>
      </dsp:txXfrm>
    </dsp:sp>
    <dsp:sp modelId="{06D2CC01-073A-4DDE-AACA-03E686A7F5B7}">
      <dsp:nvSpPr>
        <dsp:cNvPr id="0" name=""/>
        <dsp:cNvSpPr/>
      </dsp:nvSpPr>
      <dsp:spPr>
        <a:xfrm>
          <a:off x="3785592" y="2779190"/>
          <a:ext cx="2853134" cy="1039062"/>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s-AR" sz="1700" kern="1200" dirty="0" smtClean="0"/>
            <a:t>Finalidad: satisfacer deseos y  necesidades.</a:t>
          </a:r>
          <a:endParaRPr lang="es-AR" sz="1700" kern="1200" dirty="0"/>
        </a:p>
      </dsp:txBody>
      <dsp:txXfrm>
        <a:off x="3836315" y="2829913"/>
        <a:ext cx="2751688" cy="9376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D116F3-9B0F-489A-8849-D8A4449E2CE2}">
      <dsp:nvSpPr>
        <dsp:cNvPr id="0" name=""/>
        <dsp:cNvSpPr/>
      </dsp:nvSpPr>
      <dsp:spPr>
        <a:xfrm>
          <a:off x="0" y="1209983"/>
          <a:ext cx="8229600"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93C768F-91FB-42BC-B219-16E450E6E48D}">
      <dsp:nvSpPr>
        <dsp:cNvPr id="0" name=""/>
        <dsp:cNvSpPr/>
      </dsp:nvSpPr>
      <dsp:spPr>
        <a:xfrm>
          <a:off x="1185820" y="257163"/>
          <a:ext cx="5755094" cy="1343126"/>
        </a:xfrm>
        <a:prstGeom prst="roundRect">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lvl="0" algn="l" defTabSz="800100">
            <a:lnSpc>
              <a:spcPct val="90000"/>
            </a:lnSpc>
            <a:spcBef>
              <a:spcPct val="0"/>
            </a:spcBef>
            <a:spcAft>
              <a:spcPct val="35000"/>
            </a:spcAft>
          </a:pPr>
          <a:r>
            <a:rPr lang="es-AR" sz="1800" kern="1200" dirty="0" smtClean="0"/>
            <a:t>Agrupamiento de consumidores en función de comportamientos  similares.</a:t>
          </a:r>
          <a:endParaRPr lang="es-AR" sz="1800" kern="1200" dirty="0"/>
        </a:p>
      </dsp:txBody>
      <dsp:txXfrm>
        <a:off x="1251386" y="322729"/>
        <a:ext cx="5623962" cy="1211994"/>
      </dsp:txXfrm>
    </dsp:sp>
    <dsp:sp modelId="{44D089FC-4BE5-4BAB-AB8C-C63D57BC8738}">
      <dsp:nvSpPr>
        <dsp:cNvPr id="0" name=""/>
        <dsp:cNvSpPr/>
      </dsp:nvSpPr>
      <dsp:spPr>
        <a:xfrm>
          <a:off x="0" y="2896031"/>
          <a:ext cx="8229600"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F34B4C-CC3F-4FC6-B767-7C474E064C53}">
      <dsp:nvSpPr>
        <dsp:cNvPr id="0" name=""/>
        <dsp:cNvSpPr/>
      </dsp:nvSpPr>
      <dsp:spPr>
        <a:xfrm>
          <a:off x="1113306" y="1873260"/>
          <a:ext cx="5755094" cy="1432607"/>
        </a:xfrm>
        <a:prstGeom prst="roundRect">
          <a:avLst/>
        </a:prstGeom>
        <a:solidFill>
          <a:srgbClr val="FFFF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lvl="0" algn="l" defTabSz="711200">
            <a:lnSpc>
              <a:spcPct val="90000"/>
            </a:lnSpc>
            <a:spcBef>
              <a:spcPct val="0"/>
            </a:spcBef>
            <a:spcAft>
              <a:spcPct val="35000"/>
            </a:spcAft>
          </a:pPr>
          <a:r>
            <a:rPr lang="es-AR" sz="1600" kern="1200" dirty="0" smtClean="0">
              <a:solidFill>
                <a:schemeClr val="tx1"/>
              </a:solidFill>
            </a:rPr>
            <a:t>Factores de segmentación: necesidades, recursos, ubicaciones, actitudes de compra, etc.</a:t>
          </a:r>
          <a:endParaRPr lang="es-AR" sz="1600" kern="1200" dirty="0">
            <a:solidFill>
              <a:schemeClr val="tx1"/>
            </a:solidFill>
          </a:endParaRPr>
        </a:p>
      </dsp:txBody>
      <dsp:txXfrm>
        <a:off x="1183240" y="1943194"/>
        <a:ext cx="5615226" cy="1292739"/>
      </dsp:txXfrm>
    </dsp:sp>
    <dsp:sp modelId="{B0BC7C1C-D894-441F-B898-3164BBE3B0C1}">
      <dsp:nvSpPr>
        <dsp:cNvPr id="0" name=""/>
        <dsp:cNvSpPr/>
      </dsp:nvSpPr>
      <dsp:spPr>
        <a:xfrm>
          <a:off x="0" y="4394417"/>
          <a:ext cx="8229600"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50B5AFD-4C8A-475A-88A2-C78DE2AD6626}">
      <dsp:nvSpPr>
        <dsp:cNvPr id="0" name=""/>
        <dsp:cNvSpPr/>
      </dsp:nvSpPr>
      <dsp:spPr>
        <a:xfrm>
          <a:off x="1257299" y="3655688"/>
          <a:ext cx="5755094" cy="1244945"/>
        </a:xfrm>
        <a:prstGeom prst="roundRect">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lvl="0" algn="l" defTabSz="711200">
            <a:lnSpc>
              <a:spcPct val="90000"/>
            </a:lnSpc>
            <a:spcBef>
              <a:spcPct val="0"/>
            </a:spcBef>
            <a:spcAft>
              <a:spcPct val="35000"/>
            </a:spcAft>
          </a:pPr>
          <a:r>
            <a:rPr lang="es-AR" sz="1600" kern="1200" dirty="0" smtClean="0"/>
            <a:t>Permite conocer al consumidor utilizando menos recursos.</a:t>
          </a:r>
          <a:endParaRPr lang="es-AR" sz="1600" kern="1200" dirty="0"/>
        </a:p>
      </dsp:txBody>
      <dsp:txXfrm>
        <a:off x="1318072" y="3716461"/>
        <a:ext cx="5633548" cy="11233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BD9014-52D9-4184-B8CB-2BF4E919E3F3}">
      <dsp:nvSpPr>
        <dsp:cNvPr id="0" name=""/>
        <dsp:cNvSpPr/>
      </dsp:nvSpPr>
      <dsp:spPr>
        <a:xfrm>
          <a:off x="570607" y="694"/>
          <a:ext cx="3375421" cy="2025253"/>
        </a:xfrm>
        <a:prstGeom prst="rect">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lvl="0" algn="ctr" defTabSz="1733550">
            <a:lnSpc>
              <a:spcPct val="90000"/>
            </a:lnSpc>
            <a:spcBef>
              <a:spcPct val="0"/>
            </a:spcBef>
            <a:spcAft>
              <a:spcPct val="35000"/>
            </a:spcAft>
          </a:pPr>
          <a:r>
            <a:rPr lang="es-AR" sz="3900" kern="1200" dirty="0" smtClean="0"/>
            <a:t>Segmentación geográfica</a:t>
          </a:r>
          <a:endParaRPr lang="es-AR" sz="3900" kern="1200" dirty="0"/>
        </a:p>
      </dsp:txBody>
      <dsp:txXfrm>
        <a:off x="570607" y="694"/>
        <a:ext cx="3375421" cy="2025253"/>
      </dsp:txXfrm>
    </dsp:sp>
    <dsp:sp modelId="{C59AB63F-5216-42DD-B70E-DCCC146F8389}">
      <dsp:nvSpPr>
        <dsp:cNvPr id="0" name=""/>
        <dsp:cNvSpPr/>
      </dsp:nvSpPr>
      <dsp:spPr>
        <a:xfrm>
          <a:off x="4283571" y="694"/>
          <a:ext cx="3375421" cy="2025253"/>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lvl="0" algn="ctr" defTabSz="1733550">
            <a:lnSpc>
              <a:spcPct val="90000"/>
            </a:lnSpc>
            <a:spcBef>
              <a:spcPct val="0"/>
            </a:spcBef>
            <a:spcAft>
              <a:spcPct val="35000"/>
            </a:spcAft>
          </a:pPr>
          <a:r>
            <a:rPr lang="es-AR" sz="3900" kern="1200" dirty="0" smtClean="0"/>
            <a:t>Segmentación demográfica</a:t>
          </a:r>
          <a:endParaRPr lang="es-AR" sz="3900" kern="1200" dirty="0"/>
        </a:p>
      </dsp:txBody>
      <dsp:txXfrm>
        <a:off x="4283571" y="694"/>
        <a:ext cx="3375421" cy="2025253"/>
      </dsp:txXfrm>
    </dsp:sp>
    <dsp:sp modelId="{9F529250-1E03-49DF-836A-5898BBC70316}">
      <dsp:nvSpPr>
        <dsp:cNvPr id="0" name=""/>
        <dsp:cNvSpPr/>
      </dsp:nvSpPr>
      <dsp:spPr>
        <a:xfrm>
          <a:off x="570607" y="2363489"/>
          <a:ext cx="3375421" cy="2025253"/>
        </a:xfrm>
        <a:prstGeom prst="rect">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lvl="0" algn="ctr" defTabSz="1733550">
            <a:lnSpc>
              <a:spcPct val="90000"/>
            </a:lnSpc>
            <a:spcBef>
              <a:spcPct val="0"/>
            </a:spcBef>
            <a:spcAft>
              <a:spcPct val="35000"/>
            </a:spcAft>
          </a:pPr>
          <a:r>
            <a:rPr lang="es-AR" sz="3900" kern="1200" dirty="0" smtClean="0"/>
            <a:t>Segmentación </a:t>
          </a:r>
          <a:r>
            <a:rPr lang="es-AR" sz="3900" kern="1200" dirty="0" err="1" smtClean="0"/>
            <a:t>psicográfica</a:t>
          </a:r>
          <a:endParaRPr lang="es-AR" sz="3900" kern="1200" dirty="0"/>
        </a:p>
      </dsp:txBody>
      <dsp:txXfrm>
        <a:off x="570607" y="2363489"/>
        <a:ext cx="3375421" cy="2025253"/>
      </dsp:txXfrm>
    </dsp:sp>
    <dsp:sp modelId="{F02CE32F-EBFA-4384-A93D-6CC6E1888014}">
      <dsp:nvSpPr>
        <dsp:cNvPr id="0" name=""/>
        <dsp:cNvSpPr/>
      </dsp:nvSpPr>
      <dsp:spPr>
        <a:xfrm>
          <a:off x="4283571" y="2363489"/>
          <a:ext cx="3375421" cy="202525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lvl="0" algn="ctr" defTabSz="1733550">
            <a:lnSpc>
              <a:spcPct val="90000"/>
            </a:lnSpc>
            <a:spcBef>
              <a:spcPct val="0"/>
            </a:spcBef>
            <a:spcAft>
              <a:spcPct val="35000"/>
            </a:spcAft>
          </a:pPr>
          <a:r>
            <a:rPr lang="es-AR" sz="3900" kern="1200" dirty="0" smtClean="0"/>
            <a:t>Segmentación por conducta.</a:t>
          </a:r>
          <a:endParaRPr lang="es-AR" sz="3900" kern="1200" dirty="0"/>
        </a:p>
      </dsp:txBody>
      <dsp:txXfrm>
        <a:off x="4283571" y="2363489"/>
        <a:ext cx="3375421" cy="202525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62E7BF-6306-4500-9C40-4D6F074FBE5F}">
      <dsp:nvSpPr>
        <dsp:cNvPr id="0" name=""/>
        <dsp:cNvSpPr/>
      </dsp:nvSpPr>
      <dsp:spPr>
        <a:xfrm>
          <a:off x="3451770" y="386"/>
          <a:ext cx="1326058" cy="1326058"/>
        </a:xfrm>
        <a:prstGeom prst="ellipse">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s-AR" sz="1300" b="1" kern="1200" dirty="0" smtClean="0">
              <a:solidFill>
                <a:schemeClr val="tx1"/>
              </a:solidFill>
            </a:rPr>
            <a:t>Mercado proveedor</a:t>
          </a:r>
          <a:endParaRPr lang="es-AR" sz="1300" b="1" kern="1200" dirty="0">
            <a:solidFill>
              <a:schemeClr val="tx1"/>
            </a:solidFill>
          </a:endParaRPr>
        </a:p>
      </dsp:txBody>
      <dsp:txXfrm>
        <a:off x="3645967" y="194583"/>
        <a:ext cx="937664" cy="937664"/>
      </dsp:txXfrm>
    </dsp:sp>
    <dsp:sp modelId="{5B24FB6A-92C3-46CC-A297-27C8A83B873C}">
      <dsp:nvSpPr>
        <dsp:cNvPr id="0" name=""/>
        <dsp:cNvSpPr/>
      </dsp:nvSpPr>
      <dsp:spPr>
        <a:xfrm rot="2160000">
          <a:off x="4735796" y="1018693"/>
          <a:ext cx="351995" cy="4475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a:off x="4745880" y="1077168"/>
        <a:ext cx="246397" cy="268526"/>
      </dsp:txXfrm>
    </dsp:sp>
    <dsp:sp modelId="{58E3FE06-E25C-4AA5-8490-6389373ABD37}">
      <dsp:nvSpPr>
        <dsp:cNvPr id="0" name=""/>
        <dsp:cNvSpPr/>
      </dsp:nvSpPr>
      <dsp:spPr>
        <a:xfrm>
          <a:off x="5061877" y="1170197"/>
          <a:ext cx="1326058" cy="1326058"/>
        </a:xfrm>
        <a:prstGeom prst="ellipse">
          <a:avLst/>
        </a:prstGeom>
        <a:solidFill>
          <a:srgbClr val="FFFF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s-AR" sz="1300" kern="1200" dirty="0" smtClean="0">
              <a:solidFill>
                <a:schemeClr val="tx1"/>
              </a:solidFill>
            </a:rPr>
            <a:t>Mercado competidor</a:t>
          </a:r>
          <a:endParaRPr lang="es-AR" sz="1300" kern="1200" dirty="0">
            <a:solidFill>
              <a:schemeClr val="tx1"/>
            </a:solidFill>
          </a:endParaRPr>
        </a:p>
      </dsp:txBody>
      <dsp:txXfrm>
        <a:off x="5256074" y="1364394"/>
        <a:ext cx="937664" cy="937664"/>
      </dsp:txXfrm>
    </dsp:sp>
    <dsp:sp modelId="{CE2973A4-5045-4DC6-9B91-B06E00330549}">
      <dsp:nvSpPr>
        <dsp:cNvPr id="0" name=""/>
        <dsp:cNvSpPr/>
      </dsp:nvSpPr>
      <dsp:spPr>
        <a:xfrm rot="6480000">
          <a:off x="5244484" y="2546377"/>
          <a:ext cx="351995" cy="4475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rot="10800000">
        <a:off x="5313599" y="2585671"/>
        <a:ext cx="246397" cy="268526"/>
      </dsp:txXfrm>
    </dsp:sp>
    <dsp:sp modelId="{0146CA55-FF4D-42CA-A545-0C478C9AA6A7}">
      <dsp:nvSpPr>
        <dsp:cNvPr id="0" name=""/>
        <dsp:cNvSpPr/>
      </dsp:nvSpPr>
      <dsp:spPr>
        <a:xfrm>
          <a:off x="4446871" y="3062991"/>
          <a:ext cx="1326058" cy="1326058"/>
        </a:xfrm>
        <a:prstGeom prst="ellipse">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s-AR" sz="1300" kern="1200" dirty="0" smtClean="0">
              <a:solidFill>
                <a:schemeClr val="tx1"/>
              </a:solidFill>
            </a:rPr>
            <a:t>Mercado  distribuidor</a:t>
          </a:r>
          <a:endParaRPr lang="es-AR" sz="1300" kern="1200" dirty="0">
            <a:solidFill>
              <a:schemeClr val="tx1"/>
            </a:solidFill>
          </a:endParaRPr>
        </a:p>
      </dsp:txBody>
      <dsp:txXfrm>
        <a:off x="4641068" y="3257188"/>
        <a:ext cx="937664" cy="937664"/>
      </dsp:txXfrm>
    </dsp:sp>
    <dsp:sp modelId="{7246C81A-BF9C-4D94-BB78-7B46F1B76D3D}">
      <dsp:nvSpPr>
        <dsp:cNvPr id="0" name=""/>
        <dsp:cNvSpPr/>
      </dsp:nvSpPr>
      <dsp:spPr>
        <a:xfrm rot="10800000">
          <a:off x="3948764" y="3502248"/>
          <a:ext cx="351995" cy="4475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rot="10800000">
        <a:off x="4054362" y="3591757"/>
        <a:ext cx="246397" cy="268526"/>
      </dsp:txXfrm>
    </dsp:sp>
    <dsp:sp modelId="{2CF9A725-1089-4AD6-A3A0-4A1B8A7F8026}">
      <dsp:nvSpPr>
        <dsp:cNvPr id="0" name=""/>
        <dsp:cNvSpPr/>
      </dsp:nvSpPr>
      <dsp:spPr>
        <a:xfrm>
          <a:off x="2456669" y="3062991"/>
          <a:ext cx="1326058" cy="1326058"/>
        </a:xfrm>
        <a:prstGeom prst="ellipse">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s-AR" sz="1300" kern="1200" dirty="0" smtClean="0">
              <a:solidFill>
                <a:schemeClr val="tx1"/>
              </a:solidFill>
            </a:rPr>
            <a:t>Mercado Consumidor</a:t>
          </a:r>
          <a:endParaRPr lang="es-AR" sz="1300" kern="1200" dirty="0">
            <a:solidFill>
              <a:schemeClr val="tx1"/>
            </a:solidFill>
          </a:endParaRPr>
        </a:p>
      </dsp:txBody>
      <dsp:txXfrm>
        <a:off x="2650866" y="3257188"/>
        <a:ext cx="937664" cy="937664"/>
      </dsp:txXfrm>
    </dsp:sp>
    <dsp:sp modelId="{05DFFEF6-74F1-45AA-9506-31692A30059E}">
      <dsp:nvSpPr>
        <dsp:cNvPr id="0" name=""/>
        <dsp:cNvSpPr/>
      </dsp:nvSpPr>
      <dsp:spPr>
        <a:xfrm rot="15120000">
          <a:off x="2639276" y="2565326"/>
          <a:ext cx="351995" cy="4475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rot="10800000">
        <a:off x="2708391" y="2705050"/>
        <a:ext cx="246397" cy="268526"/>
      </dsp:txXfrm>
    </dsp:sp>
    <dsp:sp modelId="{9BD6D4AB-2328-4B1A-97C3-72EE962A63C3}">
      <dsp:nvSpPr>
        <dsp:cNvPr id="0" name=""/>
        <dsp:cNvSpPr/>
      </dsp:nvSpPr>
      <dsp:spPr>
        <a:xfrm>
          <a:off x="1841663" y="1170197"/>
          <a:ext cx="1326058" cy="132605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s-AR" sz="1300" kern="1200" dirty="0" smtClean="0">
              <a:solidFill>
                <a:schemeClr val="tx1"/>
              </a:solidFill>
            </a:rPr>
            <a:t>Mercado Externo</a:t>
          </a:r>
          <a:endParaRPr lang="es-AR" sz="1300" kern="1200" dirty="0">
            <a:solidFill>
              <a:schemeClr val="tx1"/>
            </a:solidFill>
          </a:endParaRPr>
        </a:p>
      </dsp:txBody>
      <dsp:txXfrm>
        <a:off x="2035860" y="1364394"/>
        <a:ext cx="937664" cy="937664"/>
      </dsp:txXfrm>
    </dsp:sp>
    <dsp:sp modelId="{51C2DCEF-34E0-46A2-A936-CAF91755EACD}">
      <dsp:nvSpPr>
        <dsp:cNvPr id="0" name=""/>
        <dsp:cNvSpPr/>
      </dsp:nvSpPr>
      <dsp:spPr>
        <a:xfrm rot="19440000">
          <a:off x="3125689" y="1030404"/>
          <a:ext cx="351995" cy="4475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a:off x="3135773" y="1150947"/>
        <a:ext cx="246397" cy="26852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F8F30-30C5-4A3F-B703-D1D5D761F272}">
      <dsp:nvSpPr>
        <dsp:cNvPr id="0" name=""/>
        <dsp:cNvSpPr/>
      </dsp:nvSpPr>
      <dsp:spPr>
        <a:xfrm>
          <a:off x="0" y="0"/>
          <a:ext cx="4389437" cy="4389437"/>
        </a:xfrm>
        <a:prstGeom prst="pie">
          <a:avLst>
            <a:gd name="adj1" fmla="val 5400000"/>
            <a:gd name="adj2" fmla="val 16200000"/>
          </a:avLst>
        </a:prstGeom>
        <a:solidFill>
          <a:schemeClr val="accent1">
            <a:shade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7F227C8-384D-4DCA-B9E2-94197847ADE8}">
      <dsp:nvSpPr>
        <dsp:cNvPr id="0" name=""/>
        <dsp:cNvSpPr/>
      </dsp:nvSpPr>
      <dsp:spPr>
        <a:xfrm>
          <a:off x="2194718" y="0"/>
          <a:ext cx="6034881" cy="4389437"/>
        </a:xfrm>
        <a:prstGeom prst="rect">
          <a:avLst/>
        </a:prstGeom>
        <a:solidFill>
          <a:schemeClr val="lt1">
            <a:alpha val="90000"/>
            <a:hueOff val="0"/>
            <a:satOff val="0"/>
            <a:lumOff val="0"/>
            <a:alphaOff val="0"/>
          </a:schemeClr>
        </a:solidFill>
        <a:ln w="25400" cap="flat" cmpd="sng" algn="ctr">
          <a:solidFill>
            <a:schemeClr val="accent1">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lvl="0" algn="ctr" defTabSz="1644650">
            <a:lnSpc>
              <a:spcPct val="90000"/>
            </a:lnSpc>
            <a:spcBef>
              <a:spcPct val="0"/>
            </a:spcBef>
            <a:spcAft>
              <a:spcPct val="35000"/>
            </a:spcAft>
          </a:pPr>
          <a:r>
            <a:rPr lang="es-AR" sz="3700" kern="1200" dirty="0" smtClean="0"/>
            <a:t>Inversiones</a:t>
          </a:r>
          <a:endParaRPr lang="es-AR" sz="3700" kern="1200" dirty="0"/>
        </a:p>
      </dsp:txBody>
      <dsp:txXfrm>
        <a:off x="2194718" y="0"/>
        <a:ext cx="3017440" cy="1316833"/>
      </dsp:txXfrm>
    </dsp:sp>
    <dsp:sp modelId="{3C547F25-AE2C-414E-9547-DAEA1E4FEF9A}">
      <dsp:nvSpPr>
        <dsp:cNvPr id="0" name=""/>
        <dsp:cNvSpPr/>
      </dsp:nvSpPr>
      <dsp:spPr>
        <a:xfrm>
          <a:off x="768152" y="1316833"/>
          <a:ext cx="2853131" cy="2853131"/>
        </a:xfrm>
        <a:prstGeom prst="pie">
          <a:avLst>
            <a:gd name="adj1" fmla="val 5400000"/>
            <a:gd name="adj2" fmla="val 16200000"/>
          </a:avLst>
        </a:prstGeom>
        <a:solidFill>
          <a:schemeClr val="accent1">
            <a:shade val="50000"/>
            <a:hueOff val="520350"/>
            <a:satOff val="-30057"/>
            <a:lumOff val="330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8F552C-391A-4D98-9D55-81A877FAAA3A}">
      <dsp:nvSpPr>
        <dsp:cNvPr id="0" name=""/>
        <dsp:cNvSpPr/>
      </dsp:nvSpPr>
      <dsp:spPr>
        <a:xfrm>
          <a:off x="2194718" y="1316833"/>
          <a:ext cx="6034881" cy="2853131"/>
        </a:xfrm>
        <a:prstGeom prst="rect">
          <a:avLst/>
        </a:prstGeom>
        <a:solidFill>
          <a:schemeClr val="lt1">
            <a:alpha val="90000"/>
            <a:hueOff val="0"/>
            <a:satOff val="0"/>
            <a:lumOff val="0"/>
            <a:alphaOff val="0"/>
          </a:schemeClr>
        </a:solidFill>
        <a:ln w="25400" cap="flat" cmpd="sng" algn="ctr">
          <a:solidFill>
            <a:schemeClr val="accent1">
              <a:shade val="50000"/>
              <a:hueOff val="520350"/>
              <a:satOff val="-30057"/>
              <a:lumOff val="3302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lvl="0" algn="ctr" defTabSz="1644650">
            <a:lnSpc>
              <a:spcPct val="90000"/>
            </a:lnSpc>
            <a:spcBef>
              <a:spcPct val="0"/>
            </a:spcBef>
            <a:spcAft>
              <a:spcPct val="35000"/>
            </a:spcAft>
          </a:pPr>
          <a:r>
            <a:rPr lang="es-AR" sz="3700" kern="1200" dirty="0" smtClean="0"/>
            <a:t>Flujo de caja</a:t>
          </a:r>
          <a:endParaRPr lang="es-AR" sz="3700" kern="1200" dirty="0"/>
        </a:p>
      </dsp:txBody>
      <dsp:txXfrm>
        <a:off x="2194718" y="1316833"/>
        <a:ext cx="3017440" cy="1316829"/>
      </dsp:txXfrm>
    </dsp:sp>
    <dsp:sp modelId="{4793E39E-6F9D-4664-BEF0-690B946B3127}">
      <dsp:nvSpPr>
        <dsp:cNvPr id="0" name=""/>
        <dsp:cNvSpPr/>
      </dsp:nvSpPr>
      <dsp:spPr>
        <a:xfrm>
          <a:off x="1536303" y="2633663"/>
          <a:ext cx="1316829" cy="1316829"/>
        </a:xfrm>
        <a:prstGeom prst="pie">
          <a:avLst>
            <a:gd name="adj1" fmla="val 5400000"/>
            <a:gd name="adj2" fmla="val 16200000"/>
          </a:avLst>
        </a:prstGeom>
        <a:solidFill>
          <a:schemeClr val="accent1">
            <a:shade val="50000"/>
            <a:hueOff val="520350"/>
            <a:satOff val="-30057"/>
            <a:lumOff val="330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B7A75D-BCE4-4B0E-AA81-58748428FDF2}">
      <dsp:nvSpPr>
        <dsp:cNvPr id="0" name=""/>
        <dsp:cNvSpPr/>
      </dsp:nvSpPr>
      <dsp:spPr>
        <a:xfrm>
          <a:off x="2194718" y="2633663"/>
          <a:ext cx="6034881" cy="1316829"/>
        </a:xfrm>
        <a:prstGeom prst="rect">
          <a:avLst/>
        </a:prstGeom>
        <a:solidFill>
          <a:schemeClr val="lt1">
            <a:alpha val="90000"/>
            <a:hueOff val="0"/>
            <a:satOff val="0"/>
            <a:lumOff val="0"/>
            <a:alphaOff val="0"/>
          </a:schemeClr>
        </a:solidFill>
        <a:ln w="25400" cap="flat" cmpd="sng" algn="ctr">
          <a:solidFill>
            <a:schemeClr val="accent1">
              <a:shade val="50000"/>
              <a:hueOff val="520350"/>
              <a:satOff val="-30057"/>
              <a:lumOff val="3302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lvl="0" algn="ctr" defTabSz="1644650">
            <a:lnSpc>
              <a:spcPct val="90000"/>
            </a:lnSpc>
            <a:spcBef>
              <a:spcPct val="0"/>
            </a:spcBef>
            <a:spcAft>
              <a:spcPct val="35000"/>
            </a:spcAft>
          </a:pPr>
          <a:r>
            <a:rPr lang="es-AR" sz="3700" kern="1200" dirty="0" smtClean="0"/>
            <a:t>Criterios de rentabilidad</a:t>
          </a:r>
          <a:endParaRPr lang="es-AR" sz="3700" kern="1200" dirty="0"/>
        </a:p>
      </dsp:txBody>
      <dsp:txXfrm>
        <a:off x="2194718" y="2633663"/>
        <a:ext cx="3017440" cy="1316829"/>
      </dsp:txXfrm>
    </dsp:sp>
    <dsp:sp modelId="{F6D5387B-36F5-4885-A6EB-1C19B7C0754E}">
      <dsp:nvSpPr>
        <dsp:cNvPr id="0" name=""/>
        <dsp:cNvSpPr/>
      </dsp:nvSpPr>
      <dsp:spPr>
        <a:xfrm>
          <a:off x="5212159" y="0"/>
          <a:ext cx="3017440" cy="1316833"/>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s-AR" sz="1800" kern="1200" dirty="0" smtClean="0"/>
            <a:t>Nº de locales, mobiliario, equipamiento, letreros.</a:t>
          </a:r>
          <a:endParaRPr lang="es-AR" sz="1800" kern="1200" dirty="0"/>
        </a:p>
        <a:p>
          <a:pPr marL="171450" lvl="1" indent="-171450" algn="l" defTabSz="800100">
            <a:lnSpc>
              <a:spcPct val="90000"/>
            </a:lnSpc>
            <a:spcBef>
              <a:spcPct val="0"/>
            </a:spcBef>
            <a:spcAft>
              <a:spcPct val="15000"/>
            </a:spcAft>
            <a:buChar char="••"/>
          </a:pPr>
          <a:r>
            <a:rPr lang="es-AR" sz="1800" kern="1200" dirty="0" smtClean="0"/>
            <a:t>Insumos, materias primas, mercaderías.</a:t>
          </a:r>
          <a:endParaRPr lang="es-AR" sz="1800" kern="1200" dirty="0"/>
        </a:p>
      </dsp:txBody>
      <dsp:txXfrm>
        <a:off x="5212159" y="0"/>
        <a:ext cx="3017440" cy="1316833"/>
      </dsp:txXfrm>
    </dsp:sp>
    <dsp:sp modelId="{4E03067E-DB21-4F37-A1BB-31AE894306BA}">
      <dsp:nvSpPr>
        <dsp:cNvPr id="0" name=""/>
        <dsp:cNvSpPr/>
      </dsp:nvSpPr>
      <dsp:spPr>
        <a:xfrm>
          <a:off x="5212159" y="1316833"/>
          <a:ext cx="3017440" cy="131682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s-AR" sz="1800" kern="1200" dirty="0" smtClean="0"/>
            <a:t>Cuantificación de costos operativos.</a:t>
          </a:r>
          <a:endParaRPr lang="es-AR" sz="1800" kern="1200" dirty="0"/>
        </a:p>
        <a:p>
          <a:pPr marL="171450" lvl="1" indent="-171450" algn="l" defTabSz="800100">
            <a:lnSpc>
              <a:spcPct val="90000"/>
            </a:lnSpc>
            <a:spcBef>
              <a:spcPct val="0"/>
            </a:spcBef>
            <a:spcAft>
              <a:spcPct val="15000"/>
            </a:spcAft>
            <a:buChar char="••"/>
          </a:pPr>
          <a:r>
            <a:rPr lang="es-AR" sz="1800" kern="1200" dirty="0" smtClean="0"/>
            <a:t>Cuantificación de ingresos por ventas.</a:t>
          </a:r>
          <a:endParaRPr lang="es-AR" sz="1800" kern="1200" dirty="0"/>
        </a:p>
      </dsp:txBody>
      <dsp:txXfrm>
        <a:off x="5212159" y="1316833"/>
        <a:ext cx="3017440" cy="1316829"/>
      </dsp:txXfrm>
    </dsp:sp>
    <dsp:sp modelId="{31F51019-77B5-45A8-8E11-0394F9FC9E72}">
      <dsp:nvSpPr>
        <dsp:cNvPr id="0" name=""/>
        <dsp:cNvSpPr/>
      </dsp:nvSpPr>
      <dsp:spPr>
        <a:xfrm>
          <a:off x="5212159" y="2633663"/>
          <a:ext cx="3017440" cy="131682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s-AR" sz="1800" kern="1200" dirty="0" smtClean="0"/>
            <a:t>Cálculo de beneficios por diferentes criterios:</a:t>
          </a:r>
          <a:endParaRPr lang="es-AR" sz="1800" kern="1200" dirty="0"/>
        </a:p>
        <a:p>
          <a:pPr marL="171450" lvl="1" indent="-171450" algn="l" defTabSz="800100">
            <a:lnSpc>
              <a:spcPct val="90000"/>
            </a:lnSpc>
            <a:spcBef>
              <a:spcPct val="0"/>
            </a:spcBef>
            <a:spcAft>
              <a:spcPct val="15000"/>
            </a:spcAft>
            <a:buChar char="••"/>
          </a:pPr>
          <a:r>
            <a:rPr lang="es-AR" sz="1800" kern="1200" dirty="0" smtClean="0"/>
            <a:t>VAN, TIR; B/C</a:t>
          </a:r>
          <a:endParaRPr lang="es-AR" sz="1800" kern="1200" dirty="0"/>
        </a:p>
      </dsp:txBody>
      <dsp:txXfrm>
        <a:off x="5212159" y="2633663"/>
        <a:ext cx="3017440" cy="131682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72CABD-6967-431A-9BCE-B271A9565625}">
      <dsp:nvSpPr>
        <dsp:cNvPr id="0" name=""/>
        <dsp:cNvSpPr/>
      </dsp:nvSpPr>
      <dsp:spPr>
        <a:xfrm>
          <a:off x="0" y="829058"/>
          <a:ext cx="8229600"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9F95820-F342-4C7A-B391-800A7D9F5D80}">
      <dsp:nvSpPr>
        <dsp:cNvPr id="0" name=""/>
        <dsp:cNvSpPr/>
      </dsp:nvSpPr>
      <dsp:spPr>
        <a:xfrm>
          <a:off x="411480" y="430538"/>
          <a:ext cx="5760720" cy="797040"/>
        </a:xfrm>
        <a:prstGeom prst="roundRect">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lvl="0" algn="l" defTabSz="1200150">
            <a:lnSpc>
              <a:spcPct val="90000"/>
            </a:lnSpc>
            <a:spcBef>
              <a:spcPct val="0"/>
            </a:spcBef>
            <a:spcAft>
              <a:spcPct val="35000"/>
            </a:spcAft>
          </a:pPr>
          <a:r>
            <a:rPr lang="es-AR" sz="2700" kern="1200" dirty="0" smtClean="0"/>
            <a:t>Análisis histórico del mercado:</a:t>
          </a:r>
          <a:endParaRPr lang="es-AR" sz="2700" kern="1200" dirty="0"/>
        </a:p>
      </dsp:txBody>
      <dsp:txXfrm>
        <a:off x="450388" y="469446"/>
        <a:ext cx="5682904" cy="719224"/>
      </dsp:txXfrm>
    </dsp:sp>
    <dsp:sp modelId="{FA3F1794-9362-49B4-8B63-9245131E0F04}">
      <dsp:nvSpPr>
        <dsp:cNvPr id="0" name=""/>
        <dsp:cNvSpPr/>
      </dsp:nvSpPr>
      <dsp:spPr>
        <a:xfrm>
          <a:off x="0" y="2053778"/>
          <a:ext cx="8229600"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5F9EA63-8A79-43DC-8384-19BB5209BD85}">
      <dsp:nvSpPr>
        <dsp:cNvPr id="0" name=""/>
        <dsp:cNvSpPr/>
      </dsp:nvSpPr>
      <dsp:spPr>
        <a:xfrm>
          <a:off x="411480" y="1655258"/>
          <a:ext cx="5760720" cy="797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lvl="0" algn="l" defTabSz="1200150">
            <a:lnSpc>
              <a:spcPct val="90000"/>
            </a:lnSpc>
            <a:spcBef>
              <a:spcPct val="0"/>
            </a:spcBef>
            <a:spcAft>
              <a:spcPct val="35000"/>
            </a:spcAft>
          </a:pPr>
          <a:r>
            <a:rPr lang="es-AR" sz="2700" kern="1200" dirty="0" smtClean="0"/>
            <a:t>Análisis de la situación vigente:</a:t>
          </a:r>
          <a:endParaRPr lang="es-AR" sz="2700" kern="1200" dirty="0"/>
        </a:p>
      </dsp:txBody>
      <dsp:txXfrm>
        <a:off x="450388" y="1694166"/>
        <a:ext cx="5682904" cy="719224"/>
      </dsp:txXfrm>
    </dsp:sp>
    <dsp:sp modelId="{39088B22-26D5-4B81-8393-6A363A087EB8}">
      <dsp:nvSpPr>
        <dsp:cNvPr id="0" name=""/>
        <dsp:cNvSpPr/>
      </dsp:nvSpPr>
      <dsp:spPr>
        <a:xfrm>
          <a:off x="0" y="3278498"/>
          <a:ext cx="8229600"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2277800-5462-4E3F-A007-4EF7B414B41A}">
      <dsp:nvSpPr>
        <dsp:cNvPr id="0" name=""/>
        <dsp:cNvSpPr/>
      </dsp:nvSpPr>
      <dsp:spPr>
        <a:xfrm>
          <a:off x="411480" y="2879978"/>
          <a:ext cx="5760720" cy="797040"/>
        </a:xfrm>
        <a:prstGeom prst="roundRect">
          <a:avLst/>
        </a:prstGeom>
        <a:solidFill>
          <a:srgbClr val="40C61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lvl="0" algn="l" defTabSz="1200150">
            <a:lnSpc>
              <a:spcPct val="90000"/>
            </a:lnSpc>
            <a:spcBef>
              <a:spcPct val="0"/>
            </a:spcBef>
            <a:spcAft>
              <a:spcPct val="35000"/>
            </a:spcAft>
          </a:pPr>
          <a:r>
            <a:rPr lang="es-AR" sz="2700" kern="1200" dirty="0" smtClean="0"/>
            <a:t>Análisis de la situación proyectada:</a:t>
          </a:r>
          <a:endParaRPr lang="es-AR" sz="2700" kern="1200" dirty="0"/>
        </a:p>
      </dsp:txBody>
      <dsp:txXfrm>
        <a:off x="450388" y="2918886"/>
        <a:ext cx="5682904" cy="71922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8D2054-D9BC-4A75-8F2A-8BA7B4100BF9}">
      <dsp:nvSpPr>
        <dsp:cNvPr id="0" name=""/>
        <dsp:cNvSpPr/>
      </dsp:nvSpPr>
      <dsp:spPr>
        <a:xfrm>
          <a:off x="0" y="523080"/>
          <a:ext cx="2571749" cy="15430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s-AR" sz="2700" kern="1200" dirty="0" smtClean="0"/>
            <a:t>Atomización de Mercado</a:t>
          </a:r>
          <a:endParaRPr lang="es-AR" sz="2700" kern="1200" dirty="0"/>
        </a:p>
      </dsp:txBody>
      <dsp:txXfrm>
        <a:off x="0" y="523080"/>
        <a:ext cx="2571749" cy="1543050"/>
      </dsp:txXfrm>
    </dsp:sp>
    <dsp:sp modelId="{535C7318-BF75-44DE-B47A-2BAAA90A88BD}">
      <dsp:nvSpPr>
        <dsp:cNvPr id="0" name=""/>
        <dsp:cNvSpPr/>
      </dsp:nvSpPr>
      <dsp:spPr>
        <a:xfrm>
          <a:off x="2828925" y="523080"/>
          <a:ext cx="2571749" cy="15430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s-AR" sz="2700" kern="1200" dirty="0" smtClean="0"/>
            <a:t>Homogeneidad del Producto</a:t>
          </a:r>
          <a:endParaRPr lang="es-AR" sz="2700" kern="1200" dirty="0"/>
        </a:p>
      </dsp:txBody>
      <dsp:txXfrm>
        <a:off x="2828925" y="523080"/>
        <a:ext cx="2571749" cy="1543050"/>
      </dsp:txXfrm>
    </dsp:sp>
    <dsp:sp modelId="{6E90FB09-DC51-46A5-BF2C-B79DC36DC7A8}">
      <dsp:nvSpPr>
        <dsp:cNvPr id="0" name=""/>
        <dsp:cNvSpPr/>
      </dsp:nvSpPr>
      <dsp:spPr>
        <a:xfrm>
          <a:off x="5657849" y="523080"/>
          <a:ext cx="2571749" cy="15430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s-AR" sz="2700" kern="1200" dirty="0" smtClean="0"/>
            <a:t>Libre acceso al mercado.</a:t>
          </a:r>
          <a:endParaRPr lang="es-AR" sz="2700" kern="1200" dirty="0"/>
        </a:p>
      </dsp:txBody>
      <dsp:txXfrm>
        <a:off x="5657849" y="523080"/>
        <a:ext cx="2571749" cy="1543050"/>
      </dsp:txXfrm>
    </dsp:sp>
    <dsp:sp modelId="{E11C8FD8-884B-464D-BCA0-FBBB034C60DD}">
      <dsp:nvSpPr>
        <dsp:cNvPr id="0" name=""/>
        <dsp:cNvSpPr/>
      </dsp:nvSpPr>
      <dsp:spPr>
        <a:xfrm>
          <a:off x="1414462" y="2323305"/>
          <a:ext cx="2571749" cy="15430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s-AR" sz="2700" kern="1200" dirty="0" smtClean="0"/>
            <a:t>Transparencia: Información perfecta.</a:t>
          </a:r>
          <a:endParaRPr lang="es-AR" sz="2700" kern="1200" dirty="0"/>
        </a:p>
      </dsp:txBody>
      <dsp:txXfrm>
        <a:off x="1414462" y="2323305"/>
        <a:ext cx="2571749" cy="1543050"/>
      </dsp:txXfrm>
    </dsp:sp>
    <dsp:sp modelId="{A39800EF-8C87-4671-BA6F-EEC40B624346}">
      <dsp:nvSpPr>
        <dsp:cNvPr id="0" name=""/>
        <dsp:cNvSpPr/>
      </dsp:nvSpPr>
      <dsp:spPr>
        <a:xfrm>
          <a:off x="4243387" y="2323305"/>
          <a:ext cx="2571749" cy="15430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s-AR" sz="2700" kern="1200" dirty="0" smtClean="0"/>
            <a:t>Movilidad de recursos sin </a:t>
          </a:r>
          <a:r>
            <a:rPr lang="es-AR" sz="2700" kern="1200" dirty="0" err="1" smtClean="0"/>
            <a:t>restrcciones</a:t>
          </a:r>
          <a:r>
            <a:rPr lang="es-AR" sz="2700" kern="1200" dirty="0" smtClean="0"/>
            <a:t>.</a:t>
          </a:r>
          <a:endParaRPr lang="es-AR" sz="2700" kern="1200" dirty="0"/>
        </a:p>
      </dsp:txBody>
      <dsp:txXfrm>
        <a:off x="4243387" y="2323305"/>
        <a:ext cx="2571749" cy="1543050"/>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A2FA704-E9E2-498C-B7C4-8DDCF23C0425}" type="datetimeFigureOut">
              <a:rPr lang="es-AR" smtClean="0"/>
              <a:t>7/5/2025</a:t>
            </a:fld>
            <a:endParaRPr lang="es-A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A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CE45A2E-8AF8-4543-989A-6C9E5DB8F01E}" type="slidenum">
              <a:rPr lang="es-AR" smtClean="0"/>
              <a:t>‹Nº›</a:t>
            </a:fld>
            <a:endParaRPr lang="es-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dirty="0"/>
          </a:p>
        </p:txBody>
      </p:sp>
      <p:sp>
        <p:nvSpPr>
          <p:cNvPr id="4" name="3 Marcador de número de diapositiva"/>
          <p:cNvSpPr>
            <a:spLocks noGrp="1"/>
          </p:cNvSpPr>
          <p:nvPr>
            <p:ph type="sldNum" sz="quarter" idx="10"/>
          </p:nvPr>
        </p:nvSpPr>
        <p:spPr/>
        <p:txBody>
          <a:bodyPr/>
          <a:lstStyle/>
          <a:p>
            <a:fld id="{ACE45A2E-8AF8-4543-989A-6C9E5DB8F01E}" type="slidenum">
              <a:rPr lang="es-AR" smtClean="0"/>
              <a:t>25</a:t>
            </a:fld>
            <a:endParaRPr lang="es-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dirty="0"/>
          </a:p>
        </p:txBody>
      </p:sp>
      <p:sp>
        <p:nvSpPr>
          <p:cNvPr id="4" name="3 Marcador de número de diapositiva"/>
          <p:cNvSpPr>
            <a:spLocks noGrp="1"/>
          </p:cNvSpPr>
          <p:nvPr>
            <p:ph type="sldNum" sz="quarter" idx="10"/>
          </p:nvPr>
        </p:nvSpPr>
        <p:spPr/>
        <p:txBody>
          <a:bodyPr/>
          <a:lstStyle/>
          <a:p>
            <a:fld id="{B8560DDD-4186-4BBE-8C97-8A32C87C0210}" type="slidenum">
              <a:rPr lang="es-AR" smtClean="0"/>
              <a:pPr/>
              <a:t>44</a:t>
            </a:fld>
            <a:endParaRPr lang="es-AR"/>
          </a:p>
        </p:txBody>
      </p:sp>
    </p:spTree>
    <p:extLst>
      <p:ext uri="{BB962C8B-B14F-4D97-AF65-F5344CB8AC3E}">
        <p14:creationId xmlns:p14="http://schemas.microsoft.com/office/powerpoint/2010/main" val="2445311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Ref idx="1002">
        <a:schemeClr val="bg2"/>
      </p:bgRef>
    </p:bg>
    <p:spTree>
      <p:nvGrpSpPr>
        <p:cNvPr id="1" name=""/>
        <p:cNvGrpSpPr/>
        <p:nvPr/>
      </p:nvGrpSpPr>
      <p:grpSpPr>
        <a:xfrm>
          <a:off x="0" y="0"/>
          <a:ext cx="0" cy="0"/>
          <a:chOff x="0" y="0"/>
          <a:chExt cx="0" cy="0"/>
        </a:xfrm>
      </p:grpSpPr>
      <p:sp>
        <p:nvSpPr>
          <p:cNvPr id="9" name="8 Título"/>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s-ES" smtClean="0"/>
              <a:t>Haga clic para modificar el estilo de título del patrón</a:t>
            </a:r>
            <a:endParaRPr kumimoji="0" lang="en-US"/>
          </a:p>
        </p:txBody>
      </p:sp>
      <p:sp>
        <p:nvSpPr>
          <p:cNvPr id="17" name="16 Subtítulo"/>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30" name="29 Marcador de fecha"/>
          <p:cNvSpPr>
            <a:spLocks noGrp="1"/>
          </p:cNvSpPr>
          <p:nvPr>
            <p:ph type="dt" sz="half" idx="10"/>
          </p:nvPr>
        </p:nvSpPr>
        <p:spPr/>
        <p:txBody>
          <a:bodyPr/>
          <a:lstStyle/>
          <a:p>
            <a:fld id="{886E7CE1-792A-401A-9212-F319CEBDA129}" type="datetimeFigureOut">
              <a:rPr lang="es-AR" smtClean="0"/>
              <a:pPr/>
              <a:t>7/5/2025</a:t>
            </a:fld>
            <a:endParaRPr lang="es-AR"/>
          </a:p>
        </p:txBody>
      </p:sp>
      <p:sp>
        <p:nvSpPr>
          <p:cNvPr id="19" name="18 Marcador de pie de página"/>
          <p:cNvSpPr>
            <a:spLocks noGrp="1"/>
          </p:cNvSpPr>
          <p:nvPr>
            <p:ph type="ftr" sz="quarter" idx="11"/>
          </p:nvPr>
        </p:nvSpPr>
        <p:spPr/>
        <p:txBody>
          <a:bodyPr/>
          <a:lstStyle/>
          <a:p>
            <a:endParaRPr lang="es-AR"/>
          </a:p>
        </p:txBody>
      </p:sp>
      <p:sp>
        <p:nvSpPr>
          <p:cNvPr id="27" name="26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contenido"/>
          <p:cNvSpPr>
            <a:spLocks noGrp="1"/>
          </p:cNvSpPr>
          <p:nvPr>
            <p:ph idx="1"/>
          </p:nvPr>
        </p:nvSpPr>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886E7CE1-792A-401A-9212-F319CEBDA129}" type="datetimeFigureOut">
              <a:rPr lang="es-AR" smtClean="0"/>
              <a:pPr/>
              <a:t>7/5/2025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886E7CE1-792A-401A-9212-F319CEBDA129}" type="datetimeFigureOut">
              <a:rPr lang="es-AR" smtClean="0"/>
              <a:pPr/>
              <a:t>7/5/2025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704088"/>
            <a:ext cx="8229600" cy="1143000"/>
          </a:xfrm>
        </p:spPr>
        <p:txBody>
          <a:bodyPr/>
          <a:lstStyle/>
          <a:p>
            <a:r>
              <a:rPr kumimoji="0" lang="es-ES" smtClean="0"/>
              <a:t>Haga clic para modificar el estilo de título del patrón</a:t>
            </a:r>
            <a:endParaRPr kumimoji="0" lang="en-US"/>
          </a:p>
        </p:txBody>
      </p:sp>
      <p:sp>
        <p:nvSpPr>
          <p:cNvPr id="3" name="2 Marcador de contenido"/>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p>
            <a:fld id="{886E7CE1-792A-401A-9212-F319CEBDA129}" type="datetimeFigureOut">
              <a:rPr lang="es-AR" smtClean="0"/>
              <a:pPr/>
              <a:t>7/5/2025</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704088"/>
            <a:ext cx="8229600" cy="1143000"/>
          </a:xfrm>
        </p:spPr>
        <p:txBody>
          <a:bodyPr tIns="45720" anchor="b"/>
          <a:lstStyle>
            <a:lvl1pPr>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p:txBody>
          <a:bodyPr/>
          <a:lstStyle/>
          <a:p>
            <a:fld id="{886E7CE1-792A-401A-9212-F319CEBDA129}" type="datetimeFigureOut">
              <a:rPr lang="es-AR" smtClean="0"/>
              <a:pPr/>
              <a:t>7/5/2025</a:t>
            </a:fld>
            <a:endParaRPr lang="es-AR"/>
          </a:p>
        </p:txBody>
      </p:sp>
      <p:sp>
        <p:nvSpPr>
          <p:cNvPr id="8" name="7 Marcador de pie de página"/>
          <p:cNvSpPr>
            <a:spLocks noGrp="1"/>
          </p:cNvSpPr>
          <p:nvPr>
            <p:ph type="ftr" sz="quarter" idx="11"/>
          </p:nvPr>
        </p:nvSpPr>
        <p:spPr/>
        <p:txBody>
          <a:bodyPr/>
          <a:lstStyle/>
          <a:p>
            <a:endParaRPr lang="es-AR"/>
          </a:p>
        </p:txBody>
      </p:sp>
      <p:sp>
        <p:nvSpPr>
          <p:cNvPr id="9" name="8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886E7CE1-792A-401A-9212-F319CEBDA129}" type="datetimeFigureOut">
              <a:rPr lang="es-AR" smtClean="0"/>
              <a:pPr/>
              <a:t>7/5/2025</a:t>
            </a:fld>
            <a:endParaRPr lang="es-AR"/>
          </a:p>
        </p:txBody>
      </p:sp>
      <p:sp>
        <p:nvSpPr>
          <p:cNvPr id="4" name="3 Marcador de pie de página"/>
          <p:cNvSpPr>
            <a:spLocks noGrp="1"/>
          </p:cNvSpPr>
          <p:nvPr>
            <p:ph type="ftr" sz="quarter" idx="11"/>
          </p:nvPr>
        </p:nvSpPr>
        <p:spPr/>
        <p:txBody>
          <a:bodyPr/>
          <a:lstStyle/>
          <a:p>
            <a:endParaRPr lang="es-AR"/>
          </a:p>
        </p:txBody>
      </p:sp>
      <p:sp>
        <p:nvSpPr>
          <p:cNvPr id="5" name="4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886E7CE1-792A-401A-9212-F319CEBDA129}" type="datetimeFigureOut">
              <a:rPr lang="es-AR" smtClean="0"/>
              <a:pPr/>
              <a:t>7/5/2025</a:t>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p>
            <a:fld id="{886E7CE1-792A-401A-9212-F319CEBDA129}" type="datetimeFigureOut">
              <a:rPr lang="es-AR" smtClean="0"/>
              <a:pPr/>
              <a:t>7/5/2025</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9" name="8 Recortar y redondear rectángulo de esquina sencilla"/>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11 Triángulo rectángulo"/>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1 Título"/>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s-ES" smtClean="0"/>
              <a:t>Haga clic para modificar el estilo de título del patrón</a:t>
            </a:r>
            <a:endParaRPr kumimoji="0" lang="en-US"/>
          </a:p>
        </p:txBody>
      </p:sp>
      <p:sp>
        <p:nvSpPr>
          <p:cNvPr id="4" name="3 Marcador de texto"/>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886E7CE1-792A-401A-9212-F319CEBDA129}" type="datetimeFigureOut">
              <a:rPr lang="es-AR" smtClean="0"/>
              <a:pPr/>
              <a:t>7/5/2025</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a:xfrm>
            <a:off x="8077200" y="6356350"/>
            <a:ext cx="609600" cy="365125"/>
          </a:xfrm>
        </p:spPr>
        <p:txBody>
          <a:bodyPr/>
          <a:lstStyle/>
          <a:p>
            <a:fld id="{3FA7A2AA-9983-4E87-BF59-93B61ED52C10}" type="slidenum">
              <a:rPr lang="es-AR" smtClean="0"/>
              <a:pPr/>
              <a:t>‹Nº›</a:t>
            </a:fld>
            <a:endParaRPr lang="es-AR"/>
          </a:p>
        </p:txBody>
      </p:sp>
      <p:sp>
        <p:nvSpPr>
          <p:cNvPr id="3" name="2 Marcador de posición de imagen"/>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s-ES" smtClean="0"/>
              <a:t>Haga clic en el icono para agregar una imagen</a:t>
            </a:r>
            <a:endParaRPr kumimoji="0" lang="en-US" dirty="0"/>
          </a:p>
        </p:txBody>
      </p:sp>
      <p:sp>
        <p:nvSpPr>
          <p:cNvPr id="10" name="9 Forma libre"/>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10 Forma libre"/>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886E7CE1-792A-401A-9212-F319CEBDA129}" type="datetimeFigureOut">
              <a:rPr lang="es-AR" smtClean="0"/>
              <a:pPr/>
              <a:t>7/5/2025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914401"/>
            <a:ext cx="2057400" cy="5211763"/>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914401"/>
            <a:ext cx="6019800" cy="5211763"/>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886E7CE1-792A-401A-9212-F319CEBDA129}" type="datetimeFigureOut">
              <a:rPr lang="es-AR" smtClean="0"/>
              <a:pPr/>
              <a:t>7/5/2025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6 Forma libre"/>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7 Forma libre"/>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8 Marcador de título"/>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s-ES" smtClean="0"/>
              <a:t>Haga clic para modificar el estilo de título del patrón</a:t>
            </a:r>
            <a:endParaRPr kumimoji="0" lang="en-US"/>
          </a:p>
        </p:txBody>
      </p:sp>
      <p:sp>
        <p:nvSpPr>
          <p:cNvPr id="30" name="29 Marcador de texto"/>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0" name="9 Marcador de fecha"/>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886E7CE1-792A-401A-9212-F319CEBDA129}" type="datetimeFigureOut">
              <a:rPr lang="es-AR" smtClean="0"/>
              <a:pPr/>
              <a:t>7/5/2025</a:t>
            </a:fld>
            <a:endParaRPr lang="es-AR"/>
          </a:p>
        </p:txBody>
      </p:sp>
      <p:sp>
        <p:nvSpPr>
          <p:cNvPr id="22" name="21 Marcador de pie de página"/>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s-AR"/>
          </a:p>
        </p:txBody>
      </p:sp>
      <p:sp>
        <p:nvSpPr>
          <p:cNvPr id="18" name="17 Marcador de número de diapositiva"/>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FA7A2AA-9983-4E87-BF59-93B61ED52C10}" type="slidenum">
              <a:rPr lang="es-AR" smtClean="0"/>
              <a:pPr/>
              <a:t>‹Nº›</a:t>
            </a:fld>
            <a:endParaRPr lang="es-AR"/>
          </a:p>
        </p:txBody>
      </p:sp>
      <p:grpSp>
        <p:nvGrpSpPr>
          <p:cNvPr id="2" name="1 Grupo"/>
          <p:cNvGrpSpPr/>
          <p:nvPr/>
        </p:nvGrpSpPr>
        <p:grpSpPr>
          <a:xfrm>
            <a:off x="-19017" y="202408"/>
            <a:ext cx="9180548" cy="649224"/>
            <a:chOff x="-19045" y="216550"/>
            <a:chExt cx="9180548" cy="649224"/>
          </a:xfrm>
        </p:grpSpPr>
        <p:sp>
          <p:nvSpPr>
            <p:cNvPr id="12" name="11 Forma libre"/>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12 Forma libre"/>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package" Target="../embeddings/Hoja_de_c_lculo_de_Microsoft_Excel.xls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1.e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AR" dirty="0" smtClean="0"/>
              <a:t>Economía Aplicada: Módulo Marketing.</a:t>
            </a:r>
            <a:endParaRPr lang="es-AR" dirty="0"/>
          </a:p>
        </p:txBody>
      </p:sp>
      <p:sp>
        <p:nvSpPr>
          <p:cNvPr id="3" name="2 Subtítulo"/>
          <p:cNvSpPr>
            <a:spLocks noGrp="1"/>
          </p:cNvSpPr>
          <p:nvPr>
            <p:ph type="subTitle" idx="1"/>
          </p:nvPr>
        </p:nvSpPr>
        <p:spPr/>
        <p:txBody>
          <a:bodyPr>
            <a:normAutofit fontScale="92500" lnSpcReduction="20000"/>
          </a:bodyPr>
          <a:lstStyle/>
          <a:p>
            <a:r>
              <a:rPr lang="es-AR" dirty="0" smtClean="0"/>
              <a:t>Bibliografía:</a:t>
            </a:r>
          </a:p>
          <a:p>
            <a:r>
              <a:rPr lang="es-AR" i="1" dirty="0" err="1" smtClean="0"/>
              <a:t>Kotler</a:t>
            </a:r>
            <a:r>
              <a:rPr lang="es-AR" i="1" dirty="0" smtClean="0"/>
              <a:t> P, Armstrong G (1991) Fundamentos de Mercadotecnia. 2da </a:t>
            </a:r>
            <a:r>
              <a:rPr lang="es-AR" i="1" dirty="0" err="1" smtClean="0"/>
              <a:t>Edic</a:t>
            </a:r>
            <a:r>
              <a:rPr lang="es-AR" i="1" dirty="0" smtClean="0"/>
              <a:t>.</a:t>
            </a:r>
          </a:p>
          <a:p>
            <a:r>
              <a:rPr lang="es-AR" i="1" dirty="0" err="1" smtClean="0"/>
              <a:t>Sapag</a:t>
            </a:r>
            <a:r>
              <a:rPr lang="es-AR" i="1" dirty="0" smtClean="0"/>
              <a:t> </a:t>
            </a:r>
            <a:r>
              <a:rPr lang="es-AR" i="1" dirty="0" err="1" smtClean="0"/>
              <a:t>Chain</a:t>
            </a:r>
            <a:r>
              <a:rPr lang="es-AR" i="1" dirty="0" smtClean="0"/>
              <a:t> N (2013) Preparación y Evaluación de Proyectos. Mc </a:t>
            </a:r>
            <a:r>
              <a:rPr lang="es-AR" i="1" dirty="0" err="1" smtClean="0"/>
              <a:t>Graw</a:t>
            </a:r>
            <a:r>
              <a:rPr lang="es-AR" i="1" dirty="0" smtClean="0"/>
              <a:t> Hill 6ta </a:t>
            </a:r>
            <a:r>
              <a:rPr lang="es-AR" i="1" dirty="0" err="1" smtClean="0"/>
              <a:t>Edic</a:t>
            </a:r>
            <a:r>
              <a:rPr lang="es-AR" i="1" dirty="0" smtClean="0"/>
              <a:t>.</a:t>
            </a:r>
            <a:endParaRPr lang="es-AR" i="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solidFill>
            <a:srgbClr val="7030A0"/>
          </a:solidFill>
        </p:spPr>
        <p:txBody>
          <a:bodyPr/>
          <a:lstStyle/>
          <a:p>
            <a:r>
              <a:rPr lang="es-AR" b="1" dirty="0" smtClean="0">
                <a:solidFill>
                  <a:schemeClr val="tx1"/>
                </a:solidFill>
              </a:rPr>
              <a:t>Concepto de Marketing:</a:t>
            </a:r>
            <a:endParaRPr lang="es-AR" b="1" dirty="0">
              <a:solidFill>
                <a:schemeClr val="tx1"/>
              </a:solidFill>
            </a:endParaRPr>
          </a:p>
        </p:txBody>
      </p:sp>
      <p:sp>
        <p:nvSpPr>
          <p:cNvPr id="3" name="2 Marcador de contenido"/>
          <p:cNvSpPr>
            <a:spLocks noGrp="1"/>
          </p:cNvSpPr>
          <p:nvPr>
            <p:ph idx="1"/>
          </p:nvPr>
        </p:nvSpPr>
        <p:spPr/>
        <p:style>
          <a:lnRef idx="2">
            <a:schemeClr val="accent1">
              <a:shade val="50000"/>
            </a:schemeClr>
          </a:lnRef>
          <a:fillRef idx="1">
            <a:schemeClr val="accent1"/>
          </a:fillRef>
          <a:effectRef idx="0">
            <a:schemeClr val="accent1"/>
          </a:effectRef>
          <a:fontRef idx="minor">
            <a:schemeClr val="lt1"/>
          </a:fontRef>
        </p:style>
        <p:txBody>
          <a:bodyPr>
            <a:normAutofit/>
          </a:bodyPr>
          <a:lstStyle/>
          <a:p>
            <a:pPr algn="just"/>
            <a:r>
              <a:rPr lang="es-AR" dirty="0" smtClean="0"/>
              <a:t>Es un proceso social y administrativo por medio del cual individuos y grupos obtienen lo que necesitan y desean al crear e intercambiar productos y valores por otros.</a:t>
            </a:r>
          </a:p>
          <a:p>
            <a:pPr algn="just"/>
            <a:r>
              <a:rPr lang="es-AR" dirty="0" smtClean="0"/>
              <a:t>Estudia el comportamiento de los mercados y consumidores.</a:t>
            </a:r>
          </a:p>
          <a:p>
            <a:pPr algn="just"/>
            <a:r>
              <a:rPr lang="es-AR" dirty="0" smtClean="0"/>
              <a:t>Objetivo del marketing: Conocer y comprender tan bien al cliente que el producto o servicio se le adecúe y se venda por sí solo.</a:t>
            </a:r>
            <a:endParaRPr lang="es-A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57166"/>
            <a:ext cx="8229600" cy="1489922"/>
          </a:xfrm>
        </p:spPr>
        <p:txBody>
          <a:bodyPr/>
          <a:lstStyle/>
          <a:p>
            <a:r>
              <a:rPr lang="es-AR" dirty="0" smtClean="0"/>
              <a:t>Conceptos básicos:</a:t>
            </a:r>
            <a:endParaRPr lang="es-AR" dirty="0"/>
          </a:p>
        </p:txBody>
      </p:sp>
      <p:graphicFrame>
        <p:nvGraphicFramePr>
          <p:cNvPr id="4" name="3 Marcador de contenido"/>
          <p:cNvGraphicFramePr>
            <a:graphicFrameLocks noGrp="1"/>
          </p:cNvGraphicFramePr>
          <p:nvPr>
            <p:ph idx="1"/>
          </p:nvPr>
        </p:nvGraphicFramePr>
        <p:xfrm>
          <a:off x="457200" y="1785926"/>
          <a:ext cx="8229600" cy="46434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500042"/>
            <a:ext cx="8229600" cy="5929354"/>
          </a:xfrm>
        </p:spPr>
        <p:txBody>
          <a:bodyPr>
            <a:normAutofit/>
          </a:bodyPr>
          <a:lstStyle/>
          <a:p>
            <a:pPr algn="just"/>
            <a:r>
              <a:rPr lang="es-AR" b="1" dirty="0" smtClean="0"/>
              <a:t>Necesidad:</a:t>
            </a:r>
            <a:r>
              <a:rPr lang="es-AR" dirty="0" smtClean="0"/>
              <a:t> Experiencia de un estado de carencia.</a:t>
            </a:r>
          </a:p>
          <a:p>
            <a:pPr algn="just"/>
            <a:endParaRPr lang="es-AR" dirty="0" smtClean="0"/>
          </a:p>
          <a:p>
            <a:pPr algn="just"/>
            <a:r>
              <a:rPr lang="es-AR" b="1" dirty="0" smtClean="0"/>
              <a:t>Deseo:</a:t>
            </a:r>
            <a:r>
              <a:rPr lang="es-AR" dirty="0" smtClean="0"/>
              <a:t> Forma que adopta una necesidad humana tal como la configura la cultura y la personalidad.</a:t>
            </a:r>
          </a:p>
          <a:p>
            <a:pPr algn="just"/>
            <a:endParaRPr lang="es-AR" dirty="0" smtClean="0"/>
          </a:p>
          <a:p>
            <a:pPr algn="just"/>
            <a:r>
              <a:rPr lang="es-AR" b="1" dirty="0" smtClean="0"/>
              <a:t>Demandas:</a:t>
            </a:r>
            <a:r>
              <a:rPr lang="es-AR" dirty="0" smtClean="0"/>
              <a:t> Deseos humanos respaldados con poder adquisitivo.</a:t>
            </a:r>
          </a:p>
          <a:p>
            <a:pPr algn="just"/>
            <a:r>
              <a:rPr lang="es-AR" b="1" dirty="0" smtClean="0"/>
              <a:t>Producto:</a:t>
            </a:r>
            <a:r>
              <a:rPr lang="es-AR" dirty="0" smtClean="0"/>
              <a:t> Cualquier objeto que puede ofrecerse a la atención de un mercado para su adquisición, utilización o consumo.</a:t>
            </a:r>
          </a:p>
          <a:p>
            <a:pPr algn="just"/>
            <a:endParaRPr lang="es-AR" dirty="0" smtClean="0"/>
          </a:p>
          <a:p>
            <a:pPr algn="just"/>
            <a:r>
              <a:rPr lang="es-AR" b="1" dirty="0" smtClean="0"/>
              <a:t>Intercambio:</a:t>
            </a:r>
            <a:r>
              <a:rPr lang="es-AR" dirty="0" smtClean="0"/>
              <a:t> Acto de obtener de alguien un objeto deseado ofreciéndole algo a cambio.</a:t>
            </a:r>
            <a:endParaRPr lang="es-A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solidFill>
            <a:srgbClr val="7030A0"/>
          </a:solidFill>
        </p:spPr>
        <p:txBody>
          <a:bodyPr/>
          <a:lstStyle/>
          <a:p>
            <a:r>
              <a:rPr lang="es-AR" b="1" dirty="0" smtClean="0">
                <a:solidFill>
                  <a:schemeClr val="tx1"/>
                </a:solidFill>
              </a:rPr>
              <a:t>Mercado y Marketing:</a:t>
            </a:r>
            <a:endParaRPr lang="es-AR" b="1" dirty="0">
              <a:solidFill>
                <a:schemeClr val="tx1"/>
              </a:solidFill>
            </a:endParaRPr>
          </a:p>
        </p:txBody>
      </p:sp>
      <p:graphicFrame>
        <p:nvGraphicFramePr>
          <p:cNvPr id="4" name="3 Marcador de contenido"/>
          <p:cNvGraphicFramePr>
            <a:graphicFrameLocks noGrp="1"/>
          </p:cNvGraphicFramePr>
          <p:nvPr>
            <p:ph idx="1"/>
          </p:nvPr>
        </p:nvGraphicFramePr>
        <p:xfrm>
          <a:off x="457200" y="1935163"/>
          <a:ext cx="8229600" cy="4389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solidFill>
            <a:srgbClr val="0070C0"/>
          </a:solidFill>
        </p:spPr>
        <p:txBody>
          <a:bodyPr/>
          <a:lstStyle/>
          <a:p>
            <a:r>
              <a:rPr lang="es-AR" b="1" dirty="0" smtClean="0">
                <a:solidFill>
                  <a:schemeClr val="tx1"/>
                </a:solidFill>
              </a:rPr>
              <a:t>Segmentación del Mercado</a:t>
            </a:r>
            <a:r>
              <a:rPr lang="es-AR" dirty="0" smtClean="0"/>
              <a:t>:</a:t>
            </a:r>
            <a:endParaRPr lang="es-AR" dirty="0"/>
          </a:p>
        </p:txBody>
      </p:sp>
      <p:graphicFrame>
        <p:nvGraphicFramePr>
          <p:cNvPr id="4" name="3 Marcador de contenido"/>
          <p:cNvGraphicFramePr>
            <a:graphicFrameLocks noGrp="1"/>
          </p:cNvGraphicFramePr>
          <p:nvPr>
            <p:ph idx="1"/>
          </p:nvPr>
        </p:nvGraphicFramePr>
        <p:xfrm>
          <a:off x="457200" y="1600200"/>
          <a:ext cx="8229600" cy="4900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s-AR" b="1" dirty="0" smtClean="0">
                <a:solidFill>
                  <a:schemeClr val="tx1"/>
                </a:solidFill>
              </a:rPr>
              <a:t>Tipos de Segmentación de mercado:</a:t>
            </a:r>
            <a:endParaRPr lang="es-AR" b="1" dirty="0">
              <a:solidFill>
                <a:schemeClr val="tx1"/>
              </a:solidFill>
            </a:endParaRPr>
          </a:p>
        </p:txBody>
      </p:sp>
      <p:graphicFrame>
        <p:nvGraphicFramePr>
          <p:cNvPr id="4" name="3 Marcador de contenido"/>
          <p:cNvGraphicFramePr>
            <a:graphicFrameLocks noGrp="1"/>
          </p:cNvGraphicFramePr>
          <p:nvPr>
            <p:ph idx="1"/>
          </p:nvPr>
        </p:nvGraphicFramePr>
        <p:xfrm>
          <a:off x="457200" y="1935163"/>
          <a:ext cx="8229600" cy="4389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Ejemplos:</a:t>
            </a:r>
            <a:endParaRPr lang="es-AR" dirty="0"/>
          </a:p>
        </p:txBody>
      </p:sp>
      <p:pic>
        <p:nvPicPr>
          <p:cNvPr id="1027" name="Picture 3"/>
          <p:cNvPicPr>
            <a:picLocks noGrp="1" noChangeAspect="1" noChangeArrowheads="1"/>
          </p:cNvPicPr>
          <p:nvPr>
            <p:ph idx="1"/>
          </p:nvPr>
        </p:nvPicPr>
        <p:blipFill>
          <a:blip r:embed="rId2"/>
          <a:srcRect/>
          <a:stretch>
            <a:fillRect/>
          </a:stretch>
        </p:blipFill>
        <p:spPr bwMode="auto">
          <a:xfrm>
            <a:off x="0" y="1600200"/>
            <a:ext cx="8572527" cy="4900634"/>
          </a:xfrm>
          <a:prstGeom prst="rect">
            <a:avLst/>
          </a:prstGeom>
          <a:noFill/>
          <a:ln w="9525">
            <a:noFill/>
            <a:miter lim="800000"/>
            <a:headEnd/>
            <a:tailEnd/>
          </a:ln>
          <a:effectLst/>
        </p:spPr>
      </p:pic>
      <p:sp>
        <p:nvSpPr>
          <p:cNvPr id="1026" name="AutoShape 2" descr="Resultado de imagen para segmentacion conductual de coca cola"/>
          <p:cNvSpPr>
            <a:spLocks noChangeAspect="1" noChangeArrowheads="1"/>
          </p:cNvSpPr>
          <p:nvPr/>
        </p:nvSpPr>
        <p:spPr bwMode="auto">
          <a:xfrm>
            <a:off x="155575" y="-1638300"/>
            <a:ext cx="4552950" cy="3419475"/>
          </a:xfrm>
          <a:prstGeom prst="rect">
            <a:avLst/>
          </a:prstGeom>
          <a:noFill/>
        </p:spPr>
        <p:txBody>
          <a:bodyPr vert="horz" wrap="square" lIns="91440" tIns="45720" rIns="91440" bIns="45720" numCol="1" anchor="t" anchorCtr="0" compatLnSpc="1">
            <a:prstTxWarp prst="textNoShape">
              <a:avLst/>
            </a:prstTxWarp>
          </a:bodyPr>
          <a:lstStyle/>
          <a:p>
            <a:endParaRPr lang="es-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Segmentación </a:t>
            </a:r>
            <a:r>
              <a:rPr lang="es-AR" dirty="0" err="1" smtClean="0"/>
              <a:t>psicográfica</a:t>
            </a:r>
            <a:r>
              <a:rPr lang="es-AR" dirty="0" smtClean="0"/>
              <a:t>:</a:t>
            </a:r>
            <a:endParaRPr lang="es-AR" dirty="0"/>
          </a:p>
        </p:txBody>
      </p:sp>
      <p:sp>
        <p:nvSpPr>
          <p:cNvPr id="3" name="Marcador de contenido 2"/>
          <p:cNvSpPr>
            <a:spLocks noGrp="1"/>
          </p:cNvSpPr>
          <p:nvPr>
            <p:ph idx="1"/>
          </p:nvPr>
        </p:nvSpPr>
        <p:spPr/>
        <p:txBody>
          <a:bodyPr/>
          <a:lstStyle/>
          <a:p>
            <a:r>
              <a:rPr lang="es-MX" dirty="0" smtClean="0"/>
              <a:t>Divide a los consumidores en grupos basados en características psicológicas como estilo de vida, personalidad, valores, actitudes.</a:t>
            </a:r>
          </a:p>
          <a:p>
            <a:r>
              <a:rPr lang="es-MX" dirty="0" smtClean="0"/>
              <a:t>Por </a:t>
            </a:r>
            <a:r>
              <a:rPr lang="es-MX" dirty="0" err="1" smtClean="0"/>
              <a:t>ej</a:t>
            </a:r>
            <a:r>
              <a:rPr lang="es-MX" dirty="0" smtClean="0"/>
              <a:t>: Una empresa que vende ropa deportiva podría segmentar a sus clientes en fitness, alto rendimiento, sedentarios, entre otros.</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Ejemplos de segmentación de mercado:</a:t>
            </a:r>
            <a:endParaRPr lang="es-AR" dirty="0"/>
          </a:p>
        </p:txBody>
      </p:sp>
      <p:pic>
        <p:nvPicPr>
          <p:cNvPr id="27650" name="Picture 2"/>
          <p:cNvPicPr>
            <a:picLocks noGrp="1" noChangeAspect="1" noChangeArrowheads="1"/>
          </p:cNvPicPr>
          <p:nvPr>
            <p:ph idx="1"/>
          </p:nvPr>
        </p:nvPicPr>
        <p:blipFill>
          <a:blip r:embed="rId2"/>
          <a:srcRect/>
          <a:stretch>
            <a:fillRect/>
          </a:stretch>
        </p:blipFill>
        <p:spPr bwMode="auto">
          <a:xfrm>
            <a:off x="500034" y="0"/>
            <a:ext cx="8072493" cy="635795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Segmentación conductual:</a:t>
            </a:r>
            <a:endParaRPr lang="es-AR" dirty="0"/>
          </a:p>
        </p:txBody>
      </p:sp>
      <p:sp>
        <p:nvSpPr>
          <p:cNvPr id="3" name="Marcador de contenido 2"/>
          <p:cNvSpPr>
            <a:spLocks noGrp="1"/>
          </p:cNvSpPr>
          <p:nvPr>
            <p:ph idx="1"/>
          </p:nvPr>
        </p:nvSpPr>
        <p:spPr>
          <a:xfrm>
            <a:off x="457200" y="1847088"/>
            <a:ext cx="8435280" cy="5010912"/>
          </a:xfrm>
        </p:spPr>
        <p:txBody>
          <a:bodyPr>
            <a:normAutofit fontScale="85000" lnSpcReduction="20000"/>
          </a:bodyPr>
          <a:lstStyle/>
          <a:p>
            <a:pPr marL="0" indent="0" algn="ctr">
              <a:buNone/>
            </a:pPr>
            <a:r>
              <a:rPr lang="es-MX" b="1" u="sng" dirty="0" smtClean="0"/>
              <a:t>Es un proceso que agrupa a los clientes en función de sus acciones y comportamientos como hábitos de compra, uso de productos o servicios, reacciones a las promociones.</a:t>
            </a:r>
          </a:p>
          <a:p>
            <a:pPr marL="0" lvl="0" indent="0" algn="just" eaLnBrk="0" fontAlgn="base" hangingPunct="0">
              <a:spcBef>
                <a:spcPct val="0"/>
              </a:spcBef>
              <a:spcAft>
                <a:spcPct val="0"/>
              </a:spcAft>
              <a:buClrTx/>
              <a:buSzTx/>
              <a:buNone/>
            </a:pPr>
            <a:r>
              <a:rPr lang="en-US" altLang="en-US" dirty="0" err="1">
                <a:latin typeface="Google Sans"/>
              </a:rPr>
              <a:t>Beneficios</a:t>
            </a:r>
            <a:r>
              <a:rPr lang="en-US" altLang="en-US" dirty="0">
                <a:latin typeface="Google Sans"/>
              </a:rPr>
              <a:t> de la </a:t>
            </a:r>
            <a:r>
              <a:rPr lang="en-US" altLang="en-US" dirty="0" err="1">
                <a:latin typeface="Google Sans"/>
              </a:rPr>
              <a:t>segmentación</a:t>
            </a:r>
            <a:r>
              <a:rPr lang="en-US" altLang="en-US" dirty="0">
                <a:latin typeface="Google Sans"/>
              </a:rPr>
              <a:t> </a:t>
            </a:r>
            <a:r>
              <a:rPr lang="en-US" altLang="en-US" dirty="0" err="1">
                <a:latin typeface="Google Sans"/>
              </a:rPr>
              <a:t>conductual</a:t>
            </a:r>
            <a:r>
              <a:rPr lang="en-US" altLang="en-US" dirty="0">
                <a:latin typeface="Google Sans"/>
              </a:rPr>
              <a:t>:</a:t>
            </a:r>
            <a:endParaRPr lang="en-US" altLang="en-US" dirty="0"/>
          </a:p>
          <a:p>
            <a:pPr marL="0" lvl="0" indent="0" algn="just" eaLnBrk="0" fontAlgn="base" hangingPunct="0">
              <a:spcBef>
                <a:spcPct val="0"/>
              </a:spcBef>
              <a:spcAft>
                <a:spcPct val="0"/>
              </a:spcAft>
              <a:buClrTx/>
              <a:buSzTx/>
              <a:buFontTx/>
              <a:buChar char="•"/>
            </a:pPr>
            <a:r>
              <a:rPr lang="en-US" altLang="en-US" b="1" dirty="0">
                <a:latin typeface="Google Sans"/>
              </a:rPr>
              <a:t>Mayor </a:t>
            </a:r>
            <a:r>
              <a:rPr lang="en-US" altLang="en-US" b="1" dirty="0" err="1">
                <a:latin typeface="Google Sans"/>
              </a:rPr>
              <a:t>personalización</a:t>
            </a:r>
            <a:r>
              <a:rPr lang="en-US" altLang="en-US" b="1" dirty="0">
                <a:latin typeface="Google Sans"/>
              </a:rPr>
              <a:t>:</a:t>
            </a:r>
            <a:endParaRPr lang="en-US" altLang="en-US" dirty="0">
              <a:latin typeface="Google Sans"/>
            </a:endParaRPr>
          </a:p>
          <a:p>
            <a:pPr marL="0" lvl="0" indent="0" algn="just" eaLnBrk="0" fontAlgn="base" hangingPunct="0">
              <a:spcBef>
                <a:spcPct val="0"/>
              </a:spcBef>
              <a:spcAft>
                <a:spcPct val="0"/>
              </a:spcAft>
              <a:buClrTx/>
              <a:buSzTx/>
              <a:buNone/>
            </a:pPr>
            <a:r>
              <a:rPr lang="en-US" altLang="en-US" dirty="0">
                <a:latin typeface="Google Sans"/>
              </a:rPr>
              <a:t>se </a:t>
            </a:r>
            <a:r>
              <a:rPr lang="en-US" altLang="en-US" dirty="0" err="1">
                <a:latin typeface="Google Sans"/>
              </a:rPr>
              <a:t>pueden</a:t>
            </a:r>
            <a:r>
              <a:rPr lang="en-US" altLang="en-US" dirty="0">
                <a:latin typeface="Google Sans"/>
              </a:rPr>
              <a:t> </a:t>
            </a:r>
            <a:r>
              <a:rPr lang="en-US" altLang="en-US" dirty="0" err="1">
                <a:latin typeface="Google Sans"/>
              </a:rPr>
              <a:t>enviar</a:t>
            </a:r>
            <a:r>
              <a:rPr lang="en-US" altLang="en-US" dirty="0">
                <a:latin typeface="Google Sans"/>
              </a:rPr>
              <a:t> </a:t>
            </a:r>
            <a:r>
              <a:rPr lang="en-US" altLang="en-US" dirty="0" err="1">
                <a:latin typeface="Google Sans"/>
              </a:rPr>
              <a:t>mensajes</a:t>
            </a:r>
            <a:r>
              <a:rPr lang="en-US" altLang="en-US" dirty="0">
                <a:latin typeface="Google Sans"/>
              </a:rPr>
              <a:t> y </a:t>
            </a:r>
            <a:r>
              <a:rPr lang="en-US" altLang="en-US" dirty="0" err="1">
                <a:latin typeface="Google Sans"/>
              </a:rPr>
              <a:t>ofertas</a:t>
            </a:r>
            <a:r>
              <a:rPr lang="en-US" altLang="en-US" dirty="0">
                <a:latin typeface="Google Sans"/>
              </a:rPr>
              <a:t> </a:t>
            </a:r>
            <a:r>
              <a:rPr lang="en-US" altLang="en-US" dirty="0" err="1">
                <a:latin typeface="Google Sans"/>
              </a:rPr>
              <a:t>más</a:t>
            </a:r>
            <a:r>
              <a:rPr lang="en-US" altLang="en-US" dirty="0">
                <a:latin typeface="Google Sans"/>
              </a:rPr>
              <a:t> </a:t>
            </a:r>
            <a:r>
              <a:rPr lang="en-US" altLang="en-US" dirty="0" err="1">
                <a:latin typeface="Google Sans"/>
              </a:rPr>
              <a:t>relevantes</a:t>
            </a:r>
            <a:r>
              <a:rPr lang="en-US" altLang="en-US" dirty="0">
                <a:latin typeface="Google Sans"/>
              </a:rPr>
              <a:t> a </a:t>
            </a:r>
            <a:r>
              <a:rPr lang="en-US" altLang="en-US" dirty="0" err="1">
                <a:latin typeface="Google Sans"/>
              </a:rPr>
              <a:t>cada</a:t>
            </a:r>
            <a:r>
              <a:rPr lang="en-US" altLang="en-US" dirty="0">
                <a:latin typeface="Google Sans"/>
              </a:rPr>
              <a:t> </a:t>
            </a:r>
            <a:r>
              <a:rPr lang="en-US" altLang="en-US" dirty="0" err="1">
                <a:latin typeface="Google Sans"/>
              </a:rPr>
              <a:t>grupo</a:t>
            </a:r>
            <a:r>
              <a:rPr lang="en-US" altLang="en-US" dirty="0">
                <a:latin typeface="Google Sans"/>
              </a:rPr>
              <a:t> de </a:t>
            </a:r>
            <a:r>
              <a:rPr lang="en-US" altLang="en-US" dirty="0" err="1">
                <a:latin typeface="Google Sans"/>
              </a:rPr>
              <a:t>clientes</a:t>
            </a:r>
            <a:r>
              <a:rPr lang="en-US" altLang="en-US" dirty="0">
                <a:latin typeface="Google Sans"/>
              </a:rPr>
              <a:t>. </a:t>
            </a:r>
          </a:p>
          <a:p>
            <a:pPr marL="0" lvl="0" indent="0" algn="just" eaLnBrk="0" fontAlgn="base" hangingPunct="0">
              <a:spcBef>
                <a:spcPct val="0"/>
              </a:spcBef>
              <a:spcAft>
                <a:spcPct val="0"/>
              </a:spcAft>
              <a:buClrTx/>
              <a:buSzTx/>
              <a:buFontTx/>
              <a:buChar char="•"/>
            </a:pPr>
            <a:r>
              <a:rPr lang="en-US" altLang="en-US" b="1" dirty="0">
                <a:latin typeface="Google Sans"/>
              </a:rPr>
              <a:t>Mayor </a:t>
            </a:r>
            <a:r>
              <a:rPr lang="en-US" altLang="en-US" b="1" dirty="0" err="1">
                <a:latin typeface="Google Sans"/>
              </a:rPr>
              <a:t>efectividad</a:t>
            </a:r>
            <a:r>
              <a:rPr lang="en-US" altLang="en-US" b="1" dirty="0">
                <a:latin typeface="Google Sans"/>
              </a:rPr>
              <a:t>:</a:t>
            </a:r>
            <a:endParaRPr lang="en-US" altLang="en-US" dirty="0">
              <a:latin typeface="Google Sans"/>
            </a:endParaRPr>
          </a:p>
          <a:p>
            <a:pPr marL="0" lvl="0" indent="0" algn="just" eaLnBrk="0" fontAlgn="base" hangingPunct="0">
              <a:spcBef>
                <a:spcPct val="0"/>
              </a:spcBef>
              <a:spcAft>
                <a:spcPct val="0"/>
              </a:spcAft>
              <a:buClrTx/>
              <a:buSzTx/>
              <a:buNone/>
            </a:pPr>
            <a:r>
              <a:rPr lang="en-US" altLang="en-US" dirty="0">
                <a:latin typeface="Google Sans"/>
              </a:rPr>
              <a:t>las </a:t>
            </a:r>
            <a:r>
              <a:rPr lang="en-US" altLang="en-US" dirty="0" err="1">
                <a:latin typeface="Google Sans"/>
              </a:rPr>
              <a:t>campañas</a:t>
            </a:r>
            <a:r>
              <a:rPr lang="en-US" altLang="en-US" dirty="0">
                <a:latin typeface="Google Sans"/>
              </a:rPr>
              <a:t> de marketing son </a:t>
            </a:r>
            <a:r>
              <a:rPr lang="en-US" altLang="en-US" dirty="0" err="1">
                <a:latin typeface="Google Sans"/>
              </a:rPr>
              <a:t>más</a:t>
            </a:r>
            <a:r>
              <a:rPr lang="en-US" altLang="en-US" dirty="0">
                <a:latin typeface="Google Sans"/>
              </a:rPr>
              <a:t> </a:t>
            </a:r>
            <a:r>
              <a:rPr lang="en-US" altLang="en-US" dirty="0" err="1">
                <a:latin typeface="Google Sans"/>
              </a:rPr>
              <a:t>precisas</a:t>
            </a:r>
            <a:r>
              <a:rPr lang="en-US" altLang="en-US" dirty="0">
                <a:latin typeface="Google Sans"/>
              </a:rPr>
              <a:t> y </a:t>
            </a:r>
            <a:r>
              <a:rPr lang="en-US" altLang="en-US" dirty="0" err="1">
                <a:latin typeface="Google Sans"/>
              </a:rPr>
              <a:t>alcanzan</a:t>
            </a:r>
            <a:r>
              <a:rPr lang="en-US" altLang="en-US" dirty="0">
                <a:latin typeface="Google Sans"/>
              </a:rPr>
              <a:t> a </a:t>
            </a:r>
            <a:r>
              <a:rPr lang="en-US" altLang="en-US" dirty="0" err="1">
                <a:latin typeface="Google Sans"/>
              </a:rPr>
              <a:t>los</a:t>
            </a:r>
            <a:r>
              <a:rPr lang="en-US" altLang="en-US" dirty="0">
                <a:latin typeface="Google Sans"/>
              </a:rPr>
              <a:t> </a:t>
            </a:r>
            <a:r>
              <a:rPr lang="en-US" altLang="en-US" dirty="0" err="1">
                <a:latin typeface="Google Sans"/>
              </a:rPr>
              <a:t>clientes</a:t>
            </a:r>
            <a:r>
              <a:rPr lang="en-US" altLang="en-US" dirty="0">
                <a:latin typeface="Google Sans"/>
              </a:rPr>
              <a:t> </a:t>
            </a:r>
            <a:r>
              <a:rPr lang="en-US" altLang="en-US" dirty="0" err="1">
                <a:latin typeface="Google Sans"/>
              </a:rPr>
              <a:t>más</a:t>
            </a:r>
            <a:r>
              <a:rPr lang="en-US" altLang="en-US" dirty="0">
                <a:latin typeface="Google Sans"/>
              </a:rPr>
              <a:t> </a:t>
            </a:r>
            <a:r>
              <a:rPr lang="en-US" altLang="en-US" dirty="0" err="1">
                <a:latin typeface="Google Sans"/>
              </a:rPr>
              <a:t>propensos</a:t>
            </a:r>
            <a:r>
              <a:rPr lang="en-US" altLang="en-US" dirty="0">
                <a:latin typeface="Google Sans"/>
              </a:rPr>
              <a:t> a la </a:t>
            </a:r>
            <a:r>
              <a:rPr lang="en-US" altLang="en-US" dirty="0" err="1">
                <a:latin typeface="Google Sans"/>
              </a:rPr>
              <a:t>conversión</a:t>
            </a:r>
            <a:r>
              <a:rPr lang="en-US" altLang="en-US" dirty="0">
                <a:latin typeface="Google Sans"/>
              </a:rPr>
              <a:t>. </a:t>
            </a:r>
          </a:p>
          <a:p>
            <a:pPr marL="0" lvl="0" indent="0" algn="just" eaLnBrk="0" fontAlgn="base" hangingPunct="0">
              <a:spcBef>
                <a:spcPct val="0"/>
              </a:spcBef>
              <a:spcAft>
                <a:spcPct val="0"/>
              </a:spcAft>
              <a:buClrTx/>
              <a:buSzTx/>
              <a:buFontTx/>
              <a:buChar char="•"/>
            </a:pPr>
            <a:r>
              <a:rPr lang="en-US" altLang="en-US" b="1" dirty="0" err="1">
                <a:latin typeface="Google Sans"/>
              </a:rPr>
              <a:t>Mejor</a:t>
            </a:r>
            <a:r>
              <a:rPr lang="en-US" altLang="en-US" b="1" dirty="0">
                <a:latin typeface="Google Sans"/>
              </a:rPr>
              <a:t> </a:t>
            </a:r>
            <a:r>
              <a:rPr lang="en-US" altLang="en-US" b="1" dirty="0" err="1">
                <a:latin typeface="Google Sans"/>
              </a:rPr>
              <a:t>retención</a:t>
            </a:r>
            <a:r>
              <a:rPr lang="en-US" altLang="en-US" b="1" dirty="0">
                <a:latin typeface="Google Sans"/>
              </a:rPr>
              <a:t> de </a:t>
            </a:r>
            <a:r>
              <a:rPr lang="en-US" altLang="en-US" b="1" dirty="0" err="1">
                <a:latin typeface="Google Sans"/>
              </a:rPr>
              <a:t>clientes</a:t>
            </a:r>
            <a:r>
              <a:rPr lang="en-US" altLang="en-US" b="1" dirty="0">
                <a:latin typeface="Google Sans"/>
              </a:rPr>
              <a:t>:</a:t>
            </a:r>
            <a:endParaRPr lang="en-US" altLang="en-US" dirty="0">
              <a:latin typeface="Google Sans"/>
            </a:endParaRPr>
          </a:p>
          <a:p>
            <a:pPr marL="0" lvl="0" indent="0" algn="just" eaLnBrk="0" fontAlgn="base" hangingPunct="0">
              <a:spcBef>
                <a:spcPct val="0"/>
              </a:spcBef>
              <a:spcAft>
                <a:spcPct val="0"/>
              </a:spcAft>
              <a:buClrTx/>
              <a:buSzTx/>
              <a:buNone/>
            </a:pPr>
            <a:r>
              <a:rPr lang="en-US" altLang="en-US" dirty="0">
                <a:latin typeface="Google Sans"/>
              </a:rPr>
              <a:t>al </a:t>
            </a:r>
            <a:r>
              <a:rPr lang="en-US" altLang="en-US" dirty="0" err="1">
                <a:latin typeface="Google Sans"/>
              </a:rPr>
              <a:t>comprender</a:t>
            </a:r>
            <a:r>
              <a:rPr lang="en-US" altLang="en-US" dirty="0">
                <a:latin typeface="Google Sans"/>
              </a:rPr>
              <a:t> </a:t>
            </a:r>
            <a:r>
              <a:rPr lang="en-US" altLang="en-US" dirty="0" err="1">
                <a:latin typeface="Google Sans"/>
              </a:rPr>
              <a:t>mejor</a:t>
            </a:r>
            <a:r>
              <a:rPr lang="en-US" altLang="en-US" dirty="0">
                <a:latin typeface="Google Sans"/>
              </a:rPr>
              <a:t> las </a:t>
            </a:r>
            <a:r>
              <a:rPr lang="en-US" altLang="en-US" dirty="0" err="1">
                <a:latin typeface="Google Sans"/>
              </a:rPr>
              <a:t>necesidades</a:t>
            </a:r>
            <a:r>
              <a:rPr lang="en-US" altLang="en-US" dirty="0">
                <a:latin typeface="Google Sans"/>
              </a:rPr>
              <a:t> y </a:t>
            </a:r>
            <a:r>
              <a:rPr lang="en-US" altLang="en-US" dirty="0" err="1">
                <a:latin typeface="Google Sans"/>
              </a:rPr>
              <a:t>preferencias</a:t>
            </a:r>
            <a:r>
              <a:rPr lang="en-US" altLang="en-US" dirty="0">
                <a:latin typeface="Google Sans"/>
              </a:rPr>
              <a:t> de </a:t>
            </a:r>
            <a:r>
              <a:rPr lang="en-US" altLang="en-US" dirty="0" err="1">
                <a:latin typeface="Google Sans"/>
              </a:rPr>
              <a:t>los</a:t>
            </a:r>
            <a:r>
              <a:rPr lang="en-US" altLang="en-US" dirty="0">
                <a:latin typeface="Google Sans"/>
              </a:rPr>
              <a:t> </a:t>
            </a:r>
            <a:r>
              <a:rPr lang="en-US" altLang="en-US" dirty="0" err="1">
                <a:latin typeface="Google Sans"/>
              </a:rPr>
              <a:t>clientes</a:t>
            </a:r>
            <a:r>
              <a:rPr lang="en-US" altLang="en-US" dirty="0">
                <a:latin typeface="Google Sans"/>
              </a:rPr>
              <a:t>, se </a:t>
            </a:r>
            <a:r>
              <a:rPr lang="en-US" altLang="en-US" dirty="0" err="1">
                <a:latin typeface="Google Sans"/>
              </a:rPr>
              <a:t>puede</a:t>
            </a:r>
            <a:r>
              <a:rPr lang="en-US" altLang="en-US" dirty="0">
                <a:latin typeface="Google Sans"/>
              </a:rPr>
              <a:t> </a:t>
            </a:r>
            <a:r>
              <a:rPr lang="en-US" altLang="en-US" dirty="0" err="1">
                <a:latin typeface="Google Sans"/>
              </a:rPr>
              <a:t>ofrecer</a:t>
            </a:r>
            <a:r>
              <a:rPr lang="en-US" altLang="en-US" dirty="0">
                <a:latin typeface="Google Sans"/>
              </a:rPr>
              <a:t> </a:t>
            </a:r>
            <a:r>
              <a:rPr lang="en-US" altLang="en-US" dirty="0" err="1">
                <a:latin typeface="Google Sans"/>
              </a:rPr>
              <a:t>una</a:t>
            </a:r>
            <a:r>
              <a:rPr lang="en-US" altLang="en-US" dirty="0">
                <a:latin typeface="Google Sans"/>
              </a:rPr>
              <a:t> </a:t>
            </a:r>
            <a:r>
              <a:rPr lang="en-US" altLang="en-US" dirty="0" err="1">
                <a:latin typeface="Google Sans"/>
              </a:rPr>
              <a:t>experiencia</a:t>
            </a:r>
            <a:r>
              <a:rPr lang="en-US" altLang="en-US" dirty="0">
                <a:latin typeface="Google Sans"/>
              </a:rPr>
              <a:t> </a:t>
            </a:r>
            <a:r>
              <a:rPr lang="en-US" altLang="en-US" dirty="0" err="1">
                <a:latin typeface="Google Sans"/>
              </a:rPr>
              <a:t>más</a:t>
            </a:r>
            <a:r>
              <a:rPr lang="en-US" altLang="en-US" dirty="0">
                <a:latin typeface="Google Sans"/>
              </a:rPr>
              <a:t> </a:t>
            </a:r>
            <a:r>
              <a:rPr lang="en-US" altLang="en-US" dirty="0" err="1">
                <a:latin typeface="Google Sans"/>
              </a:rPr>
              <a:t>personalizada</a:t>
            </a:r>
            <a:r>
              <a:rPr lang="en-US" altLang="en-US" dirty="0">
                <a:latin typeface="Google Sans"/>
              </a:rPr>
              <a:t> y </a:t>
            </a:r>
            <a:r>
              <a:rPr lang="en-US" altLang="en-US" dirty="0" err="1">
                <a:latin typeface="Google Sans"/>
              </a:rPr>
              <a:t>fomentar</a:t>
            </a:r>
            <a:r>
              <a:rPr lang="en-US" altLang="en-US" dirty="0">
                <a:latin typeface="Google Sans"/>
              </a:rPr>
              <a:t> la </a:t>
            </a:r>
            <a:r>
              <a:rPr lang="en-US" altLang="en-US" dirty="0" err="1">
                <a:latin typeface="Google Sans"/>
              </a:rPr>
              <a:t>lealtad</a:t>
            </a:r>
            <a:r>
              <a:rPr lang="en-US" altLang="en-US" dirty="0">
                <a:latin typeface="Google Sans"/>
              </a:rPr>
              <a:t>. </a:t>
            </a:r>
          </a:p>
          <a:p>
            <a:pPr marL="0" lvl="0" indent="0" algn="just" eaLnBrk="0" fontAlgn="base" hangingPunct="0">
              <a:spcBef>
                <a:spcPct val="0"/>
              </a:spcBef>
              <a:spcAft>
                <a:spcPct val="0"/>
              </a:spcAft>
              <a:buClrTx/>
              <a:buSzTx/>
              <a:buFontTx/>
              <a:buChar char="•"/>
            </a:pPr>
            <a:r>
              <a:rPr lang="en-US" altLang="en-US" b="1" dirty="0" err="1">
                <a:latin typeface="Google Sans"/>
              </a:rPr>
              <a:t>Identificación</a:t>
            </a:r>
            <a:r>
              <a:rPr lang="en-US" altLang="en-US" b="1" dirty="0">
                <a:latin typeface="Google Sans"/>
              </a:rPr>
              <a:t> de </a:t>
            </a:r>
            <a:r>
              <a:rPr lang="en-US" altLang="en-US" b="1" dirty="0" err="1">
                <a:latin typeface="Google Sans"/>
              </a:rPr>
              <a:t>oportunidades</a:t>
            </a:r>
            <a:r>
              <a:rPr lang="en-US" altLang="en-US" b="1" dirty="0">
                <a:latin typeface="Google Sans"/>
              </a:rPr>
              <a:t>:</a:t>
            </a:r>
            <a:endParaRPr lang="en-US" altLang="en-US" dirty="0">
              <a:latin typeface="Google Sans"/>
            </a:endParaRPr>
          </a:p>
          <a:p>
            <a:pPr marL="0" lvl="0" indent="0" algn="just" eaLnBrk="0" fontAlgn="base" hangingPunct="0">
              <a:spcBef>
                <a:spcPct val="0"/>
              </a:spcBef>
              <a:spcAft>
                <a:spcPct val="0"/>
              </a:spcAft>
              <a:buClrTx/>
              <a:buSzTx/>
              <a:buNone/>
            </a:pPr>
            <a:r>
              <a:rPr lang="en-US" altLang="en-US" dirty="0" err="1">
                <a:latin typeface="Google Sans"/>
              </a:rPr>
              <a:t>permite</a:t>
            </a:r>
            <a:r>
              <a:rPr lang="en-US" altLang="en-US" dirty="0">
                <a:latin typeface="Google Sans"/>
              </a:rPr>
              <a:t> </a:t>
            </a:r>
            <a:r>
              <a:rPr lang="en-US" altLang="en-US" dirty="0" err="1">
                <a:latin typeface="Google Sans"/>
              </a:rPr>
              <a:t>identificar</a:t>
            </a:r>
            <a:r>
              <a:rPr lang="en-US" altLang="en-US" dirty="0">
                <a:latin typeface="Google Sans"/>
              </a:rPr>
              <a:t> </a:t>
            </a:r>
            <a:r>
              <a:rPr lang="en-US" altLang="en-US" dirty="0" err="1">
                <a:latin typeface="Google Sans"/>
              </a:rPr>
              <a:t>grupos</a:t>
            </a:r>
            <a:r>
              <a:rPr lang="en-US" altLang="en-US" dirty="0">
                <a:latin typeface="Google Sans"/>
              </a:rPr>
              <a:t> de </a:t>
            </a:r>
            <a:r>
              <a:rPr lang="en-US" altLang="en-US" dirty="0" err="1">
                <a:latin typeface="Google Sans"/>
              </a:rPr>
              <a:t>clientes</a:t>
            </a:r>
            <a:r>
              <a:rPr lang="en-US" altLang="en-US" dirty="0">
                <a:latin typeface="Google Sans"/>
              </a:rPr>
              <a:t> con alto </a:t>
            </a:r>
            <a:r>
              <a:rPr lang="en-US" altLang="en-US" dirty="0" err="1">
                <a:latin typeface="Google Sans"/>
              </a:rPr>
              <a:t>potencial</a:t>
            </a:r>
            <a:r>
              <a:rPr lang="en-US" altLang="en-US" dirty="0">
                <a:latin typeface="Google Sans"/>
              </a:rPr>
              <a:t> de </a:t>
            </a:r>
            <a:r>
              <a:rPr lang="en-US" altLang="en-US" dirty="0" err="1">
                <a:latin typeface="Google Sans"/>
              </a:rPr>
              <a:t>crecimiento</a:t>
            </a:r>
            <a:r>
              <a:rPr lang="en-US" altLang="en-US" dirty="0">
                <a:latin typeface="Google Sans"/>
              </a:rPr>
              <a:t> y </a:t>
            </a:r>
            <a:r>
              <a:rPr lang="en-US" altLang="en-US" dirty="0" err="1">
                <a:latin typeface="Google Sans"/>
              </a:rPr>
              <a:t>oportunidades</a:t>
            </a:r>
            <a:r>
              <a:rPr lang="en-US" altLang="en-US" dirty="0">
                <a:latin typeface="Google Sans"/>
              </a:rPr>
              <a:t> para </a:t>
            </a:r>
            <a:r>
              <a:rPr lang="en-US" altLang="en-US" dirty="0" err="1">
                <a:latin typeface="Google Sans"/>
              </a:rPr>
              <a:t>mejorar</a:t>
            </a:r>
            <a:r>
              <a:rPr lang="en-US" altLang="en-US" dirty="0">
                <a:latin typeface="Google Sans"/>
              </a:rPr>
              <a:t> la </a:t>
            </a:r>
            <a:r>
              <a:rPr lang="en-US" altLang="en-US" dirty="0" err="1">
                <a:latin typeface="Google Sans"/>
              </a:rPr>
              <a:t>experiencia</a:t>
            </a:r>
            <a:r>
              <a:rPr lang="en-US" altLang="en-US" dirty="0">
                <a:latin typeface="Google Sans"/>
              </a:rPr>
              <a:t> del </a:t>
            </a:r>
            <a:r>
              <a:rPr lang="en-US" altLang="en-US" dirty="0" err="1">
                <a:latin typeface="Google Sans"/>
              </a:rPr>
              <a:t>cliente</a:t>
            </a:r>
            <a:r>
              <a:rPr lang="en-US" altLang="en-US" dirty="0">
                <a:latin typeface="Google Sans"/>
              </a:rPr>
              <a:t>. </a:t>
            </a:r>
          </a:p>
          <a:p>
            <a:pPr algn="just"/>
            <a:endParaRPr lang="es-MX" dirty="0" smtClean="0"/>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Características:</a:t>
            </a:r>
            <a:endParaRPr lang="en-US" dirty="0"/>
          </a:p>
        </p:txBody>
      </p:sp>
      <p:sp>
        <p:nvSpPr>
          <p:cNvPr id="4" name="Rectangle 1"/>
          <p:cNvSpPr>
            <a:spLocks noGrp="1" noChangeArrowheads="1"/>
          </p:cNvSpPr>
          <p:nvPr>
            <p:ph idx="1"/>
          </p:nvPr>
        </p:nvSpPr>
        <p:spPr bwMode="auto">
          <a:xfrm>
            <a:off x="457200" y="2186441"/>
            <a:ext cx="7787207" cy="38871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88872" rIns="0" bIns="179331"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smtClean="0">
              <a:ln>
                <a:noFill/>
              </a:ln>
              <a:solidFill>
                <a:srgbClr val="001D35"/>
              </a:solidFill>
              <a:effectLst/>
              <a:latin typeface="Google Sans"/>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smtClean="0">
                <a:ln>
                  <a:noFill/>
                </a:ln>
                <a:solidFill>
                  <a:schemeClr val="tx2"/>
                </a:solidFill>
                <a:effectLst/>
                <a:latin typeface="Google Sans"/>
              </a:rPr>
              <a:t>Comportamiento</a:t>
            </a:r>
            <a:r>
              <a:rPr kumimoji="0" lang="en-US" altLang="en-US" sz="2000" b="1" i="0" u="none" strike="noStrike" cap="none" normalizeH="0" baseline="0" dirty="0" smtClean="0">
                <a:ln>
                  <a:noFill/>
                </a:ln>
                <a:solidFill>
                  <a:schemeClr val="tx2"/>
                </a:solidFill>
                <a:effectLst/>
                <a:latin typeface="Google Sans"/>
              </a:rPr>
              <a:t> de </a:t>
            </a:r>
            <a:r>
              <a:rPr kumimoji="0" lang="en-US" altLang="en-US" sz="2000" b="1" i="0" u="none" strike="noStrike" cap="none" normalizeH="0" baseline="0" dirty="0" err="1" smtClean="0">
                <a:ln>
                  <a:noFill/>
                </a:ln>
                <a:solidFill>
                  <a:schemeClr val="tx2"/>
                </a:solidFill>
                <a:effectLst/>
                <a:latin typeface="Google Sans"/>
              </a:rPr>
              <a:t>compra</a:t>
            </a:r>
            <a:r>
              <a:rPr kumimoji="0" lang="en-US" altLang="en-US" sz="2000" b="1" i="0" u="none" strike="noStrike" cap="none" normalizeH="0" baseline="0" dirty="0" smtClean="0">
                <a:ln>
                  <a:noFill/>
                </a:ln>
                <a:solidFill>
                  <a:schemeClr val="tx2"/>
                </a:solidFill>
                <a:effectLst/>
                <a:latin typeface="Google Sans"/>
              </a:rPr>
              <a:t>:</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frecuencia</a:t>
            </a:r>
            <a:r>
              <a:rPr kumimoji="0" lang="en-US" altLang="en-US" sz="2000" b="0" i="0" u="none" strike="noStrike" cap="none" normalizeH="0" baseline="0" dirty="0" smtClean="0">
                <a:ln>
                  <a:noFill/>
                </a:ln>
                <a:solidFill>
                  <a:schemeClr val="tx2"/>
                </a:solidFill>
                <a:effectLst/>
                <a:latin typeface="Google Sans"/>
              </a:rPr>
              <a:t>, valor de </a:t>
            </a:r>
            <a:r>
              <a:rPr kumimoji="0" lang="en-US" altLang="en-US" sz="2000" b="0" i="0" u="none" strike="noStrike" cap="none" normalizeH="0" baseline="0" dirty="0" err="1" smtClean="0">
                <a:ln>
                  <a:noFill/>
                </a:ln>
                <a:solidFill>
                  <a:schemeClr val="tx2"/>
                </a:solidFill>
                <a:effectLst/>
                <a:latin typeface="Google Sans"/>
              </a:rPr>
              <a:t>compra</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productos</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más</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comprados</a:t>
            </a:r>
            <a:r>
              <a:rPr kumimoji="0" lang="en-US" altLang="en-US" sz="2000" b="0" i="0" u="none" strike="noStrike" cap="none" normalizeH="0" baseline="0" dirty="0" smtClean="0">
                <a:ln>
                  <a:noFill/>
                </a:ln>
                <a:solidFill>
                  <a:schemeClr val="tx2"/>
                </a:solidFill>
                <a:effectLst/>
                <a:latin typeface="Google Sans"/>
              </a:rPr>
              <a:t>, etc.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smtClean="0">
                <a:ln>
                  <a:noFill/>
                </a:ln>
                <a:solidFill>
                  <a:schemeClr val="tx2"/>
                </a:solidFill>
                <a:effectLst/>
                <a:latin typeface="Google Sans"/>
              </a:rPr>
              <a:t>Uso</a:t>
            </a:r>
            <a:r>
              <a:rPr kumimoji="0" lang="en-US" altLang="en-US" sz="2000" b="1" i="0" u="none" strike="noStrike" cap="none" normalizeH="0" baseline="0" dirty="0" smtClean="0">
                <a:ln>
                  <a:noFill/>
                </a:ln>
                <a:solidFill>
                  <a:schemeClr val="tx2"/>
                </a:solidFill>
                <a:effectLst/>
                <a:latin typeface="Google Sans"/>
              </a:rPr>
              <a:t> de </a:t>
            </a:r>
            <a:r>
              <a:rPr kumimoji="0" lang="en-US" altLang="en-US" sz="2000" b="1" i="0" u="none" strike="noStrike" cap="none" normalizeH="0" baseline="0" dirty="0" err="1" smtClean="0">
                <a:ln>
                  <a:noFill/>
                </a:ln>
                <a:solidFill>
                  <a:schemeClr val="tx2"/>
                </a:solidFill>
                <a:effectLst/>
                <a:latin typeface="Google Sans"/>
              </a:rPr>
              <a:t>productos</a:t>
            </a:r>
            <a:r>
              <a:rPr kumimoji="0" lang="en-US" altLang="en-US" sz="2000" b="1" i="0" u="none" strike="noStrike" cap="none" normalizeH="0" baseline="0" dirty="0" smtClean="0">
                <a:ln>
                  <a:noFill/>
                </a:ln>
                <a:solidFill>
                  <a:schemeClr val="tx2"/>
                </a:solidFill>
                <a:effectLst/>
                <a:latin typeface="Google Sans"/>
              </a:rPr>
              <a:t>/</a:t>
            </a:r>
            <a:r>
              <a:rPr kumimoji="0" lang="en-US" altLang="en-US" sz="2000" b="1" i="0" u="none" strike="noStrike" cap="none" normalizeH="0" baseline="0" dirty="0" err="1" smtClean="0">
                <a:ln>
                  <a:noFill/>
                </a:ln>
                <a:solidFill>
                  <a:schemeClr val="tx2"/>
                </a:solidFill>
                <a:effectLst/>
                <a:latin typeface="Google Sans"/>
              </a:rPr>
              <a:t>servicios</a:t>
            </a:r>
            <a:r>
              <a:rPr kumimoji="0" lang="en-US" altLang="en-US" sz="2000" b="1" i="0" u="none" strike="noStrike" cap="none" normalizeH="0" baseline="0" dirty="0" smtClean="0">
                <a:ln>
                  <a:noFill/>
                </a:ln>
                <a:solidFill>
                  <a:schemeClr val="tx2"/>
                </a:solidFill>
                <a:effectLst/>
                <a:latin typeface="Google Sans"/>
              </a:rPr>
              <a:t>:</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cómo</a:t>
            </a:r>
            <a:r>
              <a:rPr kumimoji="0" lang="en-US" altLang="en-US" sz="2000" b="0" i="0" u="none" strike="noStrike" cap="none" normalizeH="0" baseline="0" dirty="0" smtClean="0">
                <a:ln>
                  <a:noFill/>
                </a:ln>
                <a:solidFill>
                  <a:schemeClr val="tx2"/>
                </a:solidFill>
                <a:effectLst/>
                <a:latin typeface="Google Sans"/>
              </a:rPr>
              <a:t> y con </a:t>
            </a:r>
            <a:r>
              <a:rPr kumimoji="0" lang="en-US" altLang="en-US" sz="2000" b="0" i="0" u="none" strike="noStrike" cap="none" normalizeH="0" baseline="0" dirty="0" err="1" smtClean="0">
                <a:ln>
                  <a:noFill/>
                </a:ln>
                <a:solidFill>
                  <a:schemeClr val="tx2"/>
                </a:solidFill>
                <a:effectLst/>
                <a:latin typeface="Google Sans"/>
              </a:rPr>
              <a:t>qué</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frecuencia</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usan</a:t>
            </a:r>
            <a:r>
              <a:rPr kumimoji="0" lang="en-US" altLang="en-US" sz="2000" b="0" i="0" u="none" strike="noStrike" cap="none" normalizeH="0" baseline="0" dirty="0" smtClean="0">
                <a:ln>
                  <a:noFill/>
                </a:ln>
                <a:solidFill>
                  <a:schemeClr val="tx2"/>
                </a:solidFill>
                <a:effectLst/>
                <a:latin typeface="Google Sans"/>
              </a:rPr>
              <a:t> el </a:t>
            </a:r>
            <a:r>
              <a:rPr kumimoji="0" lang="en-US" altLang="en-US" sz="2000" b="0" i="0" u="none" strike="noStrike" cap="none" normalizeH="0" baseline="0" dirty="0" err="1" smtClean="0">
                <a:ln>
                  <a:noFill/>
                </a:ln>
                <a:solidFill>
                  <a:schemeClr val="tx2"/>
                </a:solidFill>
                <a:effectLst/>
                <a:latin typeface="Google Sans"/>
              </a:rPr>
              <a:t>producto</a:t>
            </a:r>
            <a:r>
              <a:rPr kumimoji="0" lang="en-US" altLang="en-US" sz="2000" b="0" i="0" u="none" strike="noStrike" cap="none" normalizeH="0" baseline="0" dirty="0" smtClean="0">
                <a:ln>
                  <a:noFill/>
                </a:ln>
                <a:solidFill>
                  <a:schemeClr val="tx2"/>
                </a:solidFill>
                <a:effectLst/>
                <a:latin typeface="Google Sans"/>
              </a:rPr>
              <a:t>, las </a:t>
            </a:r>
            <a:r>
              <a:rPr kumimoji="0" lang="en-US" altLang="en-US" sz="2000" b="0" i="0" u="none" strike="noStrike" cap="none" normalizeH="0" baseline="0" dirty="0" err="1" smtClean="0">
                <a:ln>
                  <a:noFill/>
                </a:ln>
                <a:solidFill>
                  <a:schemeClr val="tx2"/>
                </a:solidFill>
                <a:effectLst/>
                <a:latin typeface="Google Sans"/>
              </a:rPr>
              <a:t>funciones</a:t>
            </a:r>
            <a:r>
              <a:rPr kumimoji="0" lang="en-US" altLang="en-US" sz="2000" b="0" i="0" u="none" strike="noStrike" cap="none" normalizeH="0" baseline="0" dirty="0" smtClean="0">
                <a:ln>
                  <a:noFill/>
                </a:ln>
                <a:solidFill>
                  <a:schemeClr val="tx2"/>
                </a:solidFill>
                <a:effectLst/>
                <a:latin typeface="Google Sans"/>
              </a:rPr>
              <a:t> que </a:t>
            </a:r>
            <a:r>
              <a:rPr kumimoji="0" lang="en-US" altLang="en-US" sz="2000" b="0" i="0" u="none" strike="noStrike" cap="none" normalizeH="0" baseline="0" dirty="0" err="1" smtClean="0">
                <a:ln>
                  <a:noFill/>
                </a:ln>
                <a:solidFill>
                  <a:schemeClr val="tx2"/>
                </a:solidFill>
                <a:effectLst/>
                <a:latin typeface="Google Sans"/>
              </a:rPr>
              <a:t>más</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utilizan</a:t>
            </a:r>
            <a:r>
              <a:rPr kumimoji="0" lang="en-US" altLang="en-US" sz="2000" b="0" i="0" u="none" strike="noStrike" cap="none" normalizeH="0" baseline="0" dirty="0" smtClean="0">
                <a:ln>
                  <a:noFill/>
                </a:ln>
                <a:solidFill>
                  <a:schemeClr val="tx2"/>
                </a:solidFill>
                <a:effectLst/>
                <a:latin typeface="Google Sans"/>
              </a:rPr>
              <a:t>, etc.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smtClean="0">
                <a:ln>
                  <a:noFill/>
                </a:ln>
                <a:solidFill>
                  <a:schemeClr val="tx2"/>
                </a:solidFill>
                <a:effectLst/>
                <a:latin typeface="Google Sans"/>
              </a:rPr>
              <a:t>Interacción</a:t>
            </a:r>
            <a:r>
              <a:rPr kumimoji="0" lang="en-US" altLang="en-US" sz="2000" b="1" i="0" u="none" strike="noStrike" cap="none" normalizeH="0" baseline="0" dirty="0" smtClean="0">
                <a:ln>
                  <a:noFill/>
                </a:ln>
                <a:solidFill>
                  <a:schemeClr val="tx2"/>
                </a:solidFill>
                <a:effectLst/>
                <a:latin typeface="Google Sans"/>
              </a:rPr>
              <a:t> online:</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visitas</a:t>
            </a:r>
            <a:r>
              <a:rPr kumimoji="0" lang="en-US" altLang="en-US" sz="2000" b="0" i="0" u="none" strike="noStrike" cap="none" normalizeH="0" baseline="0" dirty="0" smtClean="0">
                <a:ln>
                  <a:noFill/>
                </a:ln>
                <a:solidFill>
                  <a:schemeClr val="tx2"/>
                </a:solidFill>
                <a:effectLst/>
                <a:latin typeface="Google Sans"/>
              </a:rPr>
              <a:t> a </a:t>
            </a:r>
            <a:r>
              <a:rPr kumimoji="0" lang="en-US" altLang="en-US" sz="2000" b="0" i="0" u="none" strike="noStrike" cap="none" normalizeH="0" baseline="0" dirty="0" err="1" smtClean="0">
                <a:ln>
                  <a:noFill/>
                </a:ln>
                <a:solidFill>
                  <a:schemeClr val="tx2"/>
                </a:solidFill>
                <a:effectLst/>
                <a:latin typeface="Google Sans"/>
              </a:rPr>
              <a:t>páginas</a:t>
            </a:r>
            <a:r>
              <a:rPr kumimoji="0" lang="en-US" altLang="en-US" sz="2000" b="0" i="0" u="none" strike="noStrike" cap="none" normalizeH="0" baseline="0" dirty="0" smtClean="0">
                <a:ln>
                  <a:noFill/>
                </a:ln>
                <a:solidFill>
                  <a:schemeClr val="tx2"/>
                </a:solidFill>
                <a:effectLst/>
                <a:latin typeface="Google Sans"/>
              </a:rPr>
              <a:t> web, </a:t>
            </a:r>
            <a:r>
              <a:rPr kumimoji="0" lang="en-US" altLang="en-US" sz="2000" b="0" i="0" u="none" strike="noStrike" cap="none" normalizeH="0" baseline="0" dirty="0" err="1" smtClean="0">
                <a:ln>
                  <a:noFill/>
                </a:ln>
                <a:solidFill>
                  <a:schemeClr val="tx2"/>
                </a:solidFill>
                <a:effectLst/>
                <a:latin typeface="Google Sans"/>
              </a:rPr>
              <a:t>suscripciones</a:t>
            </a:r>
            <a:r>
              <a:rPr kumimoji="0" lang="en-US" altLang="en-US" sz="2000" b="0" i="0" u="none" strike="noStrike" cap="none" normalizeH="0" baseline="0" dirty="0" smtClean="0">
                <a:ln>
                  <a:noFill/>
                </a:ln>
                <a:solidFill>
                  <a:schemeClr val="tx2"/>
                </a:solidFill>
                <a:effectLst/>
                <a:latin typeface="Google Sans"/>
              </a:rPr>
              <a:t> a newsletters, </a:t>
            </a:r>
            <a:r>
              <a:rPr kumimoji="0" lang="en-US" altLang="en-US" sz="2000" b="0" i="0" u="none" strike="noStrike" cap="none" normalizeH="0" baseline="0" dirty="0" err="1" smtClean="0">
                <a:ln>
                  <a:noFill/>
                </a:ln>
                <a:solidFill>
                  <a:schemeClr val="tx2"/>
                </a:solidFill>
                <a:effectLst/>
                <a:latin typeface="Google Sans"/>
              </a:rPr>
              <a:t>participación</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en</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redes</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sociales</a:t>
            </a:r>
            <a:r>
              <a:rPr kumimoji="0" lang="en-US" altLang="en-US" sz="2000" b="0" i="0" u="none" strike="noStrike" cap="none" normalizeH="0" baseline="0" dirty="0" smtClean="0">
                <a:ln>
                  <a:noFill/>
                </a:ln>
                <a:solidFill>
                  <a:schemeClr val="tx2"/>
                </a:solidFill>
                <a:effectLst/>
                <a:latin typeface="Google Sans"/>
              </a:rPr>
              <a:t>, etc.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smtClean="0">
                <a:ln>
                  <a:noFill/>
                </a:ln>
                <a:solidFill>
                  <a:schemeClr val="tx2"/>
                </a:solidFill>
                <a:effectLst/>
                <a:latin typeface="Google Sans"/>
              </a:rPr>
              <a:t>Respuesta</a:t>
            </a:r>
            <a:r>
              <a:rPr kumimoji="0" lang="en-US" altLang="en-US" sz="2000" b="1" i="0" u="none" strike="noStrike" cap="none" normalizeH="0" baseline="0" dirty="0" smtClean="0">
                <a:ln>
                  <a:noFill/>
                </a:ln>
                <a:solidFill>
                  <a:schemeClr val="tx2"/>
                </a:solidFill>
                <a:effectLst/>
                <a:latin typeface="Google Sans"/>
              </a:rPr>
              <a:t> a </a:t>
            </a:r>
            <a:r>
              <a:rPr kumimoji="0" lang="en-US" altLang="en-US" sz="2000" b="1" i="0" u="none" strike="noStrike" cap="none" normalizeH="0" baseline="0" dirty="0" err="1" smtClean="0">
                <a:ln>
                  <a:noFill/>
                </a:ln>
                <a:solidFill>
                  <a:schemeClr val="tx2"/>
                </a:solidFill>
                <a:effectLst/>
                <a:latin typeface="Google Sans"/>
              </a:rPr>
              <a:t>promociones</a:t>
            </a:r>
            <a:r>
              <a:rPr kumimoji="0" lang="en-US" altLang="en-US" sz="2000" b="1" i="0" u="none" strike="noStrike" cap="none" normalizeH="0" baseline="0" dirty="0" smtClean="0">
                <a:ln>
                  <a:noFill/>
                </a:ln>
                <a:solidFill>
                  <a:schemeClr val="tx2"/>
                </a:solidFill>
                <a:effectLst/>
                <a:latin typeface="Google Sans"/>
              </a:rPr>
              <a:t>:</a:t>
            </a:r>
            <a:r>
              <a:rPr kumimoji="0" lang="en-US" altLang="en-US" sz="2000" b="0" i="0" u="none" strike="noStrike" cap="none" normalizeH="0" baseline="0" dirty="0" smtClean="0">
                <a:ln>
                  <a:noFill/>
                </a:ln>
                <a:solidFill>
                  <a:schemeClr val="tx2"/>
                </a:solidFill>
                <a:effectLst/>
                <a:latin typeface="Google Sans"/>
              </a:rPr>
              <a:t> click-through rates, </a:t>
            </a:r>
            <a:r>
              <a:rPr kumimoji="0" lang="en-US" altLang="en-US" sz="2000" b="0" i="0" u="none" strike="noStrike" cap="none" normalizeH="0" baseline="0" dirty="0" err="1" smtClean="0">
                <a:ln>
                  <a:noFill/>
                </a:ln>
                <a:solidFill>
                  <a:schemeClr val="tx2"/>
                </a:solidFill>
                <a:effectLst/>
                <a:latin typeface="Google Sans"/>
              </a:rPr>
              <a:t>conversión</a:t>
            </a:r>
            <a:r>
              <a:rPr kumimoji="0" lang="en-US" altLang="en-US" sz="2000" b="0" i="0" u="none" strike="noStrike" cap="none" normalizeH="0" baseline="0" dirty="0" smtClean="0">
                <a:ln>
                  <a:noFill/>
                </a:ln>
                <a:solidFill>
                  <a:schemeClr val="tx2"/>
                </a:solidFill>
                <a:effectLst/>
                <a:latin typeface="Google Sans"/>
              </a:rPr>
              <a:t> de </a:t>
            </a:r>
            <a:r>
              <a:rPr kumimoji="0" lang="en-US" altLang="en-US" sz="2000" b="0" i="0" u="none" strike="noStrike" cap="none" normalizeH="0" baseline="0" dirty="0" err="1" smtClean="0">
                <a:ln>
                  <a:noFill/>
                </a:ln>
                <a:solidFill>
                  <a:schemeClr val="tx2"/>
                </a:solidFill>
                <a:effectLst/>
                <a:latin typeface="Google Sans"/>
              </a:rPr>
              <a:t>promociones</a:t>
            </a:r>
            <a:r>
              <a:rPr kumimoji="0" lang="en-US" altLang="en-US" sz="2000" b="0" i="0" u="none" strike="noStrike" cap="none" normalizeH="0" baseline="0" dirty="0" smtClean="0">
                <a:ln>
                  <a:noFill/>
                </a:ln>
                <a:solidFill>
                  <a:schemeClr val="tx2"/>
                </a:solidFill>
                <a:effectLst/>
                <a:latin typeface="Google Sans"/>
              </a:rPr>
              <a:t>, etc.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smtClean="0">
                <a:ln>
                  <a:noFill/>
                </a:ln>
                <a:solidFill>
                  <a:schemeClr val="tx2"/>
                </a:solidFill>
                <a:effectLst/>
                <a:latin typeface="Google Sans"/>
              </a:rPr>
              <a:t>Etapa</a:t>
            </a:r>
            <a:r>
              <a:rPr kumimoji="0" lang="en-US" altLang="en-US" sz="2000" b="1" i="0" u="none" strike="noStrike" cap="none" normalizeH="0" baseline="0" dirty="0" smtClean="0">
                <a:ln>
                  <a:noFill/>
                </a:ln>
                <a:solidFill>
                  <a:schemeClr val="tx2"/>
                </a:solidFill>
                <a:effectLst/>
                <a:latin typeface="Google Sans"/>
              </a:rPr>
              <a:t> del buyer journey:</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en</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qué</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etapa</a:t>
            </a:r>
            <a:r>
              <a:rPr kumimoji="0" lang="en-US" altLang="en-US" sz="2000" b="0" i="0" u="none" strike="noStrike" cap="none" normalizeH="0" baseline="0" dirty="0" smtClean="0">
                <a:ln>
                  <a:noFill/>
                </a:ln>
                <a:solidFill>
                  <a:schemeClr val="tx2"/>
                </a:solidFill>
                <a:effectLst/>
                <a:latin typeface="Google Sans"/>
              </a:rPr>
              <a:t> del </a:t>
            </a:r>
            <a:r>
              <a:rPr kumimoji="0" lang="en-US" altLang="en-US" sz="2000" b="0" i="0" u="none" strike="noStrike" cap="none" normalizeH="0" baseline="0" dirty="0" err="1" smtClean="0">
                <a:ln>
                  <a:noFill/>
                </a:ln>
                <a:solidFill>
                  <a:schemeClr val="tx2"/>
                </a:solidFill>
                <a:effectLst/>
                <a:latin typeface="Google Sans"/>
              </a:rPr>
              <a:t>proceso</a:t>
            </a:r>
            <a:r>
              <a:rPr kumimoji="0" lang="en-US" altLang="en-US" sz="2000" b="0" i="0" u="none" strike="noStrike" cap="none" normalizeH="0" baseline="0" dirty="0" smtClean="0">
                <a:ln>
                  <a:noFill/>
                </a:ln>
                <a:solidFill>
                  <a:schemeClr val="tx2"/>
                </a:solidFill>
                <a:effectLst/>
                <a:latin typeface="Google Sans"/>
              </a:rPr>
              <a:t> de </a:t>
            </a:r>
            <a:r>
              <a:rPr kumimoji="0" lang="en-US" altLang="en-US" sz="2000" b="0" i="0" u="none" strike="noStrike" cap="none" normalizeH="0" baseline="0" dirty="0" err="1" smtClean="0">
                <a:ln>
                  <a:noFill/>
                </a:ln>
                <a:solidFill>
                  <a:schemeClr val="tx2"/>
                </a:solidFill>
                <a:effectLst/>
                <a:latin typeface="Google Sans"/>
              </a:rPr>
              <a:t>compra</a:t>
            </a:r>
            <a:r>
              <a:rPr kumimoji="0" lang="en-US" altLang="en-US" sz="2000" b="0" i="0" u="none" strike="noStrike" cap="none" normalizeH="0" baseline="0" dirty="0" smtClean="0">
                <a:ln>
                  <a:noFill/>
                </a:ln>
                <a:solidFill>
                  <a:schemeClr val="tx2"/>
                </a:solidFill>
                <a:effectLst/>
                <a:latin typeface="Google Sans"/>
              </a:rPr>
              <a:t> se </a:t>
            </a:r>
            <a:r>
              <a:rPr kumimoji="0" lang="en-US" altLang="en-US" sz="2000" b="0" i="0" u="none" strike="noStrike" cap="none" normalizeH="0" baseline="0" dirty="0" err="1" smtClean="0">
                <a:ln>
                  <a:noFill/>
                </a:ln>
                <a:solidFill>
                  <a:schemeClr val="tx2"/>
                </a:solidFill>
                <a:effectLst/>
                <a:latin typeface="Google Sans"/>
              </a:rPr>
              <a:t>encuentran</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conocimiento</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consideración</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decisión</a:t>
            </a:r>
            <a:r>
              <a:rPr kumimoji="0" lang="en-US" altLang="en-US" sz="2000" b="0" i="0" u="none" strike="noStrike" cap="none" normalizeH="0" baseline="0" dirty="0" smtClean="0">
                <a:ln>
                  <a:noFill/>
                </a:ln>
                <a:solidFill>
                  <a:schemeClr val="tx2"/>
                </a:solidFill>
                <a:effectLst/>
                <a:latin typeface="Google Sans"/>
              </a:rPr>
              <a:t>).</a:t>
            </a:r>
            <a:r>
              <a:rPr kumimoji="0" lang="en-US" altLang="en-US" sz="2400" b="0" i="0" u="none" strike="noStrike" cap="none" normalizeH="0" baseline="0" dirty="0" smtClean="0">
                <a:ln>
                  <a:noFill/>
                </a:ln>
                <a:solidFill>
                  <a:schemeClr val="tx2"/>
                </a:solidFill>
                <a:effectLst/>
                <a:latin typeface="Google Sans"/>
              </a:rPr>
              <a:t>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2"/>
              </a:solidFill>
              <a:effectLst/>
              <a:latin typeface="Arial" panose="020B0604020202020204" pitchFamily="34" charset="0"/>
            </a:endParaRPr>
          </a:p>
        </p:txBody>
      </p:sp>
    </p:spTree>
    <p:extLst>
      <p:ext uri="{BB962C8B-B14F-4D97-AF65-F5344CB8AC3E}">
        <p14:creationId xmlns:p14="http://schemas.microsoft.com/office/powerpoint/2010/main" val="42364450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Segmentación demográfica:</a:t>
            </a:r>
            <a:endParaRPr lang="es-AR" dirty="0"/>
          </a:p>
        </p:txBody>
      </p:sp>
      <p:sp>
        <p:nvSpPr>
          <p:cNvPr id="3" name="Marcador de contenido 2"/>
          <p:cNvSpPr>
            <a:spLocks noGrp="1"/>
          </p:cNvSpPr>
          <p:nvPr>
            <p:ph idx="1"/>
          </p:nvPr>
        </p:nvSpPr>
        <p:spPr/>
        <p:txBody>
          <a:bodyPr/>
          <a:lstStyle/>
          <a:p>
            <a:pPr algn="just"/>
            <a:r>
              <a:rPr lang="es-MX" dirty="0" smtClean="0"/>
              <a:t>Proceso que divide a la audiencia en grupos según características demográficas como edad, género, ingresos, nivel educativo, etc.</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style>
          <a:lnRef idx="1">
            <a:schemeClr val="accent1"/>
          </a:lnRef>
          <a:fillRef idx="3">
            <a:schemeClr val="accent1"/>
          </a:fillRef>
          <a:effectRef idx="2">
            <a:schemeClr val="accent1"/>
          </a:effectRef>
          <a:fontRef idx="minor">
            <a:schemeClr val="lt1"/>
          </a:fontRef>
        </p:style>
        <p:txBody>
          <a:bodyPr/>
          <a:lstStyle/>
          <a:p>
            <a:r>
              <a:rPr lang="es-AR" dirty="0" smtClean="0"/>
              <a:t>Tipos de Segmentación:</a:t>
            </a:r>
            <a:endParaRPr lang="es-AR" dirty="0"/>
          </a:p>
        </p:txBody>
      </p:sp>
      <p:sp>
        <p:nvSpPr>
          <p:cNvPr id="3" name="2 Marcador de contenido"/>
          <p:cNvSpPr>
            <a:spLocks noGrp="1"/>
          </p:cNvSpPr>
          <p:nvPr>
            <p:ph idx="1"/>
          </p:nvPr>
        </p:nvSpPr>
        <p:spPr>
          <a:solidFill>
            <a:schemeClr val="accent5">
              <a:lumMod val="75000"/>
            </a:schemeClr>
          </a:solidFill>
        </p:spPr>
        <p:txBody>
          <a:bodyPr>
            <a:normAutofit/>
          </a:bodyPr>
          <a:lstStyle/>
          <a:p>
            <a:pPr algn="just"/>
            <a:r>
              <a:rPr lang="es-AR" b="1" dirty="0" smtClean="0"/>
              <a:t>Segmentación Geográfica:</a:t>
            </a:r>
            <a:r>
              <a:rPr lang="es-AR" dirty="0" smtClean="0"/>
              <a:t> el mercado se divide en unidades geográficas como naciones, estados, ciudades o barrios pero fijándose en las diferencias de necesidades o deseos según las áreas.</a:t>
            </a:r>
          </a:p>
          <a:p>
            <a:pPr algn="just"/>
            <a:r>
              <a:rPr lang="es-AR" b="1" dirty="0" smtClean="0"/>
              <a:t>Segmentación demográfica</a:t>
            </a:r>
            <a:r>
              <a:rPr lang="es-AR" dirty="0" smtClean="0"/>
              <a:t>: Divide al mercado en función de variables tales como edad,, sexo, tamaño de familia, ciclo de vida, nivel de ingreso, profesión, educación, religión, raza, nacionalidad.</a:t>
            </a:r>
            <a:endParaRPr lang="es-AR"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style>
          <a:lnRef idx="1">
            <a:schemeClr val="accent1"/>
          </a:lnRef>
          <a:fillRef idx="3">
            <a:schemeClr val="accent1"/>
          </a:fillRef>
          <a:effectRef idx="2">
            <a:schemeClr val="accent1"/>
          </a:effectRef>
          <a:fontRef idx="minor">
            <a:schemeClr val="lt1"/>
          </a:fontRef>
        </p:style>
        <p:txBody>
          <a:bodyPr/>
          <a:lstStyle/>
          <a:p>
            <a:r>
              <a:rPr lang="es-AR" dirty="0" smtClean="0"/>
              <a:t>Tipos de Segmentación:</a:t>
            </a:r>
            <a:endParaRPr lang="es-AR" dirty="0"/>
          </a:p>
        </p:txBody>
      </p:sp>
      <p:sp>
        <p:nvSpPr>
          <p:cNvPr id="3" name="2 Marcador de contenido"/>
          <p:cNvSpPr>
            <a:spLocks noGrp="1"/>
          </p:cNvSpPr>
          <p:nvPr>
            <p:ph idx="1"/>
          </p:nvPr>
        </p:nvSpPr>
        <p:spPr>
          <a:solidFill>
            <a:schemeClr val="accent5">
              <a:lumMod val="75000"/>
            </a:schemeClr>
          </a:solidFill>
        </p:spPr>
        <p:txBody>
          <a:bodyPr>
            <a:normAutofit/>
          </a:bodyPr>
          <a:lstStyle/>
          <a:p>
            <a:pPr algn="just"/>
            <a:r>
              <a:rPr lang="es-AR" b="1" dirty="0" smtClean="0"/>
              <a:t>Segmentación </a:t>
            </a:r>
            <a:r>
              <a:rPr lang="es-AR" b="1" dirty="0" err="1" smtClean="0"/>
              <a:t>psicográfica</a:t>
            </a:r>
            <a:r>
              <a:rPr lang="es-AR" b="1" dirty="0" smtClean="0"/>
              <a:t>:</a:t>
            </a:r>
            <a:r>
              <a:rPr lang="es-AR" dirty="0" smtClean="0"/>
              <a:t> el mercado se divide en grupos según su clase social, estilo de vida o personalidad.</a:t>
            </a:r>
          </a:p>
          <a:p>
            <a:pPr algn="just"/>
            <a:r>
              <a:rPr lang="es-AR" b="1" dirty="0" smtClean="0"/>
              <a:t>Segmentación por conducta</a:t>
            </a:r>
            <a:r>
              <a:rPr lang="es-AR" dirty="0" smtClean="0"/>
              <a:t>: Divide al mercado en grupos según sus conocimientos, actitudes, costumbres o sus respuestas a un producto específico.</a:t>
            </a:r>
            <a:endParaRPr lang="es-AR"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Estudio de Mercado: Concepto</a:t>
            </a:r>
            <a:endParaRPr lang="es-AR" dirty="0"/>
          </a:p>
        </p:txBody>
      </p:sp>
      <p:sp>
        <p:nvSpPr>
          <p:cNvPr id="3" name="2 Marcador de contenido"/>
          <p:cNvSpPr>
            <a:spLocks noGrp="1"/>
          </p:cNvSpPr>
          <p:nvPr>
            <p:ph idx="1"/>
          </p:nvPr>
        </p:nvSpPr>
        <p:spPr/>
        <p:txBody>
          <a:bodyPr/>
          <a:lstStyle/>
          <a:p>
            <a:pPr algn="just"/>
            <a:r>
              <a:rPr lang="es-AR" dirty="0" smtClean="0"/>
              <a:t>Es la definición del precio y la demanda a que los consumidores están dispuestos a comprar.</a:t>
            </a:r>
          </a:p>
          <a:p>
            <a:pPr algn="just"/>
            <a:r>
              <a:rPr lang="es-AR" dirty="0" smtClean="0"/>
              <a:t>Es el estudio del conjunto de variables que condicionan el comportamiento de los distintos agentes económicos cuya actuación afectará el flujo de fondos de la empresa.</a:t>
            </a:r>
          </a:p>
          <a:p>
            <a:pPr algn="just"/>
            <a:r>
              <a:rPr lang="es-AR" dirty="0" smtClean="0"/>
              <a:t>Es la recopilación de antecedentes  que permiten cuantificar el precio, la demanda y la competencia de un producto.</a:t>
            </a:r>
            <a:endParaRPr lang="es-A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Mercados que intervienen:</a:t>
            </a:r>
            <a:endParaRPr lang="es-AR" dirty="0"/>
          </a:p>
        </p:txBody>
      </p:sp>
      <p:graphicFrame>
        <p:nvGraphicFramePr>
          <p:cNvPr id="4" name="3 Marcador de contenido"/>
          <p:cNvGraphicFramePr>
            <a:graphicFrameLocks noGrp="1"/>
          </p:cNvGraphicFramePr>
          <p:nvPr>
            <p:ph idx="1"/>
          </p:nvPr>
        </p:nvGraphicFramePr>
        <p:xfrm>
          <a:off x="457200" y="1935163"/>
          <a:ext cx="8229600" cy="4389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Mercados que intervienen:</a:t>
            </a:r>
            <a:endParaRPr lang="es-AR" dirty="0"/>
          </a:p>
        </p:txBody>
      </p:sp>
      <p:sp>
        <p:nvSpPr>
          <p:cNvPr id="3" name="2 Marcador de contenido"/>
          <p:cNvSpPr>
            <a:spLocks noGrp="1"/>
          </p:cNvSpPr>
          <p:nvPr>
            <p:ph idx="1"/>
          </p:nvPr>
        </p:nvSpPr>
        <p:spPr/>
        <p:txBody>
          <a:bodyPr/>
          <a:lstStyle/>
          <a:p>
            <a:pPr algn="just"/>
            <a:r>
              <a:rPr lang="es-AR" b="1" dirty="0" smtClean="0"/>
              <a:t>Mercado proveedor</a:t>
            </a:r>
            <a:r>
              <a:rPr lang="es-AR" dirty="0" smtClean="0"/>
              <a:t>: Establecer alternativas de provisión de insumos ya que muchos proyectos tienen una dependencia extrema de la calidad, cantidad, oportunidad de la recepción y costo de los materiales.</a:t>
            </a:r>
          </a:p>
          <a:p>
            <a:pPr algn="just"/>
            <a:r>
              <a:rPr lang="es-AR" b="1" dirty="0" smtClean="0"/>
              <a:t>Mercado competidor:</a:t>
            </a:r>
            <a:r>
              <a:rPr lang="es-AR" dirty="0" smtClean="0"/>
              <a:t> Definir la estrategia comercial que desarrolla la competencia como así también los precios que venden sus productos, descuentos por volúmenes, sistemas promocionales, publicidad, canales de distribución, situación financiera, entre otros aspectos.</a:t>
            </a:r>
            <a:endParaRPr lang="es-AR"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Mercados que Intervienen:</a:t>
            </a:r>
            <a:endParaRPr lang="es-AR" dirty="0"/>
          </a:p>
        </p:txBody>
      </p:sp>
      <p:sp>
        <p:nvSpPr>
          <p:cNvPr id="3" name="2 Marcador de contenido"/>
          <p:cNvSpPr>
            <a:spLocks noGrp="1"/>
          </p:cNvSpPr>
          <p:nvPr>
            <p:ph idx="1"/>
          </p:nvPr>
        </p:nvSpPr>
        <p:spPr/>
        <p:txBody>
          <a:bodyPr>
            <a:normAutofit lnSpcReduction="10000"/>
          </a:bodyPr>
          <a:lstStyle/>
          <a:p>
            <a:pPr algn="just"/>
            <a:r>
              <a:rPr lang="es-AR" b="1" dirty="0" smtClean="0"/>
              <a:t>Mercado distribuidor</a:t>
            </a:r>
            <a:r>
              <a:rPr lang="es-AR" dirty="0" smtClean="0"/>
              <a:t>: Conjunto de elementos que garanticen la entrega oportuna de los productos que el consumidor toma, sobre todo en productos perecederos.</a:t>
            </a:r>
          </a:p>
          <a:p>
            <a:pPr algn="just"/>
            <a:r>
              <a:rPr lang="es-AR" b="1" dirty="0" smtClean="0"/>
              <a:t>Mercado consumidor: </a:t>
            </a:r>
            <a:r>
              <a:rPr lang="es-AR" dirty="0" smtClean="0"/>
              <a:t>Los hábitos y motivaciones de compras serán determinantes a la hora de definir el consumidor real (el que toma la decisión de compra) y la estrategia comercial que deberá diseñarse para enfrentarlo en su papel de consumidor frente a la posible multiplicidad de alternativas en su decisión de compra.</a:t>
            </a:r>
            <a:endParaRPr lang="es-AR" b="1"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Mercados que intervienen:</a:t>
            </a:r>
            <a:endParaRPr lang="es-AR" dirty="0"/>
          </a:p>
        </p:txBody>
      </p:sp>
      <p:sp>
        <p:nvSpPr>
          <p:cNvPr id="3" name="2 Marcador de contenido"/>
          <p:cNvSpPr>
            <a:spLocks noGrp="1"/>
          </p:cNvSpPr>
          <p:nvPr>
            <p:ph idx="1"/>
          </p:nvPr>
        </p:nvSpPr>
        <p:spPr/>
        <p:txBody>
          <a:bodyPr/>
          <a:lstStyle/>
          <a:p>
            <a:pPr algn="just"/>
            <a:r>
              <a:rPr lang="es-AR" b="1" dirty="0" smtClean="0"/>
              <a:t>Mercado externo: </a:t>
            </a:r>
            <a:r>
              <a:rPr lang="es-AR" dirty="0" smtClean="0"/>
              <a:t>El deber recurrir a fuentes externas de abastecimiento de materias primas obliga a consideraciones y estudios especiales que se diferencien del abastecimiento del mercado local. Se deberá así mismo contemplar la influencia del tipo de cambio y la política arancelaria y su incidencia sobre los costos de producción.</a:t>
            </a:r>
            <a:endParaRPr lang="es-AR"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Objetivos del estudio de mercado:</a:t>
            </a:r>
            <a:endParaRPr lang="es-AR" dirty="0"/>
          </a:p>
        </p:txBody>
      </p:sp>
      <p:graphicFrame>
        <p:nvGraphicFramePr>
          <p:cNvPr id="4" name="3 Marcador de contenido"/>
          <p:cNvGraphicFramePr>
            <a:graphicFrameLocks noGrp="1"/>
          </p:cNvGraphicFramePr>
          <p:nvPr>
            <p:ph idx="1"/>
          </p:nvPr>
        </p:nvGraphicFramePr>
        <p:xfrm>
          <a:off x="457200" y="1935163"/>
          <a:ext cx="8229600" cy="4389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Etapas del Estudio de mercado:</a:t>
            </a:r>
            <a:endParaRPr lang="es-AR" dirty="0"/>
          </a:p>
        </p:txBody>
      </p:sp>
      <p:graphicFrame>
        <p:nvGraphicFramePr>
          <p:cNvPr id="4" name="3 Marcador de contenido"/>
          <p:cNvGraphicFramePr>
            <a:graphicFrameLocks noGrp="1"/>
          </p:cNvGraphicFramePr>
          <p:nvPr>
            <p:ph idx="1"/>
          </p:nvPr>
        </p:nvGraphicFramePr>
        <p:xfrm>
          <a:off x="457200" y="1935163"/>
          <a:ext cx="8229600" cy="4389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Etapas del estudio de mercado:</a:t>
            </a:r>
            <a:endParaRPr lang="es-AR" dirty="0"/>
          </a:p>
        </p:txBody>
      </p:sp>
      <p:sp>
        <p:nvSpPr>
          <p:cNvPr id="3" name="2 Marcador de contenido"/>
          <p:cNvSpPr>
            <a:spLocks noGrp="1"/>
          </p:cNvSpPr>
          <p:nvPr>
            <p:ph idx="1"/>
          </p:nvPr>
        </p:nvSpPr>
        <p:spPr/>
        <p:txBody>
          <a:bodyPr>
            <a:normAutofit fontScale="92500"/>
          </a:bodyPr>
          <a:lstStyle/>
          <a:p>
            <a:pPr algn="just"/>
            <a:r>
              <a:rPr lang="es-AR" b="1" dirty="0" smtClean="0"/>
              <a:t>Análisis histórico: </a:t>
            </a:r>
            <a:r>
              <a:rPr lang="es-AR" dirty="0" smtClean="0"/>
              <a:t>pretende lograr dos objetivos, primero reunir información de carácter estadístico que pueda servir para proyectar flujos financieros hacia el futuro. El segundo objetivo se refiere a evaluar el resultado de algunas decisiones tomadas por otros agentes económicos del mercado para identificar los efectos positivos o negativos que se lograron.</a:t>
            </a:r>
          </a:p>
          <a:p>
            <a:pPr algn="just"/>
            <a:r>
              <a:rPr lang="es-AR" b="1" dirty="0" smtClean="0"/>
              <a:t>Análisis de la situación vigente</a:t>
            </a:r>
            <a:r>
              <a:rPr lang="es-AR" dirty="0" smtClean="0"/>
              <a:t>: analiza la evolución del mercado y su influencia sobre el producto a lanzarse.</a:t>
            </a:r>
          </a:p>
          <a:p>
            <a:pPr algn="just"/>
            <a:r>
              <a:rPr lang="es-AR" b="1" dirty="0" smtClean="0"/>
              <a:t>Análisis de la situación futura</a:t>
            </a:r>
            <a:r>
              <a:rPr lang="es-AR" dirty="0" smtClean="0"/>
              <a:t>: Proyectar resultado financiero cuantificando el mercado y los costos operativos.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El Consumidor:</a:t>
            </a:r>
            <a:endParaRPr lang="es-AR" dirty="0"/>
          </a:p>
        </p:txBody>
      </p:sp>
      <p:sp>
        <p:nvSpPr>
          <p:cNvPr id="3" name="2 Marcador de contenido"/>
          <p:cNvSpPr>
            <a:spLocks noGrp="1"/>
          </p:cNvSpPr>
          <p:nvPr>
            <p:ph idx="1"/>
          </p:nvPr>
        </p:nvSpPr>
        <p:spPr/>
        <p:txBody>
          <a:bodyPr/>
          <a:lstStyle/>
          <a:p>
            <a:pPr algn="just"/>
            <a:r>
              <a:rPr lang="es-AR" b="1" u="sng" dirty="0" smtClean="0"/>
              <a:t>Consumidor Institucional</a:t>
            </a:r>
            <a:r>
              <a:rPr lang="es-AR" dirty="0" smtClean="0"/>
              <a:t>: Se caracteriza por  decisiones muy racionales basadas en variables técnicas del producto, en su calidad, precio, oportunidad, en la entrega y disponibilidad de repuestos entre otros factores.</a:t>
            </a:r>
          </a:p>
          <a:p>
            <a:pPr algn="just"/>
            <a:r>
              <a:rPr lang="es-AR" b="1" u="sng" dirty="0" smtClean="0"/>
              <a:t>Consumidor individual: </a:t>
            </a:r>
            <a:r>
              <a:rPr lang="es-AR" dirty="0" smtClean="0"/>
              <a:t>toma decisiones de compra basado en consideraciones de carácter emocional como moda, exclusividad del producto, prestigio, marca, etc.</a:t>
            </a:r>
            <a:endParaRPr lang="es-AR"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Estrategia comercial:</a:t>
            </a:r>
            <a:endParaRPr lang="es-AR" dirty="0"/>
          </a:p>
        </p:txBody>
      </p:sp>
      <p:sp>
        <p:nvSpPr>
          <p:cNvPr id="3" name="2 Marcador de contenido"/>
          <p:cNvSpPr>
            <a:spLocks noGrp="1"/>
          </p:cNvSpPr>
          <p:nvPr>
            <p:ph idx="1"/>
          </p:nvPr>
        </p:nvSpPr>
        <p:spPr/>
        <p:txBody>
          <a:bodyPr/>
          <a:lstStyle/>
          <a:p>
            <a:r>
              <a:rPr lang="es-AR" dirty="0" smtClean="0"/>
              <a:t>La estrategia comercial aplicable se deberá basar en al definición de variables que caractericen al Producto, precio, promoción y plaza o distribución.</a:t>
            </a:r>
          </a:p>
          <a:p>
            <a:endParaRPr lang="es-AR" dirty="0"/>
          </a:p>
        </p:txBody>
      </p:sp>
      <p:cxnSp>
        <p:nvCxnSpPr>
          <p:cNvPr id="5" name="4 Conector recto de flecha"/>
          <p:cNvCxnSpPr/>
          <p:nvPr/>
        </p:nvCxnSpPr>
        <p:spPr>
          <a:xfrm rot="16200000" flipH="1">
            <a:off x="1285852" y="4857760"/>
            <a:ext cx="2357454" cy="714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6 Conector recto de flecha"/>
          <p:cNvCxnSpPr/>
          <p:nvPr/>
        </p:nvCxnSpPr>
        <p:spPr>
          <a:xfrm>
            <a:off x="2500298" y="5929330"/>
            <a:ext cx="521497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7 Forma libre"/>
          <p:cNvSpPr/>
          <p:nvPr/>
        </p:nvSpPr>
        <p:spPr>
          <a:xfrm>
            <a:off x="2514600" y="3654136"/>
            <a:ext cx="6005945" cy="2185555"/>
          </a:xfrm>
          <a:custGeom>
            <a:avLst/>
            <a:gdLst>
              <a:gd name="connsiteX0" fmla="*/ 0 w 6005945"/>
              <a:gd name="connsiteY0" fmla="*/ 2185555 h 2185555"/>
              <a:gd name="connsiteX1" fmla="*/ 1392382 w 6005945"/>
              <a:gd name="connsiteY1" fmla="*/ 917864 h 2185555"/>
              <a:gd name="connsiteX2" fmla="*/ 2639291 w 6005945"/>
              <a:gd name="connsiteY2" fmla="*/ 232064 h 2185555"/>
              <a:gd name="connsiteX3" fmla="*/ 3470564 w 6005945"/>
              <a:gd name="connsiteY3" fmla="*/ 232064 h 2185555"/>
              <a:gd name="connsiteX4" fmla="*/ 5361709 w 6005945"/>
              <a:gd name="connsiteY4" fmla="*/ 1624446 h 2185555"/>
              <a:gd name="connsiteX5" fmla="*/ 6005945 w 6005945"/>
              <a:gd name="connsiteY5" fmla="*/ 1998519 h 218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05945" h="2185555">
                <a:moveTo>
                  <a:pt x="0" y="2185555"/>
                </a:moveTo>
                <a:cubicBezTo>
                  <a:pt x="476250" y="1714500"/>
                  <a:pt x="952500" y="1243446"/>
                  <a:pt x="1392382" y="917864"/>
                </a:cubicBezTo>
                <a:cubicBezTo>
                  <a:pt x="1832264" y="592282"/>
                  <a:pt x="2292927" y="346364"/>
                  <a:pt x="2639291" y="232064"/>
                </a:cubicBezTo>
                <a:cubicBezTo>
                  <a:pt x="2985655" y="117764"/>
                  <a:pt x="3016828" y="0"/>
                  <a:pt x="3470564" y="232064"/>
                </a:cubicBezTo>
                <a:cubicBezTo>
                  <a:pt x="3924300" y="464128"/>
                  <a:pt x="4939145" y="1330037"/>
                  <a:pt x="5361709" y="1624446"/>
                </a:cubicBezTo>
                <a:cubicBezTo>
                  <a:pt x="5784273" y="1918855"/>
                  <a:pt x="5898572" y="1943101"/>
                  <a:pt x="6005945" y="1998519"/>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cxnSp>
        <p:nvCxnSpPr>
          <p:cNvPr id="10" name="9 Conector recto"/>
          <p:cNvCxnSpPr/>
          <p:nvPr/>
        </p:nvCxnSpPr>
        <p:spPr>
          <a:xfrm rot="5400000">
            <a:off x="3250397" y="5322107"/>
            <a:ext cx="121444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a:stCxn id="8" idx="2"/>
          </p:cNvCxnSpPr>
          <p:nvPr/>
        </p:nvCxnSpPr>
        <p:spPr>
          <a:xfrm>
            <a:off x="5153891" y="3886200"/>
            <a:ext cx="61051" cy="20431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15 Conector recto"/>
          <p:cNvCxnSpPr>
            <a:stCxn id="8" idx="3"/>
          </p:cNvCxnSpPr>
          <p:nvPr/>
        </p:nvCxnSpPr>
        <p:spPr>
          <a:xfrm>
            <a:off x="5985164" y="3886200"/>
            <a:ext cx="87034" cy="2043130"/>
          </a:xfrm>
          <a:prstGeom prst="line">
            <a:avLst/>
          </a:prstGeom>
        </p:spPr>
        <p:style>
          <a:lnRef idx="1">
            <a:schemeClr val="accent1"/>
          </a:lnRef>
          <a:fillRef idx="0">
            <a:schemeClr val="accent1"/>
          </a:fillRef>
          <a:effectRef idx="0">
            <a:schemeClr val="accent1"/>
          </a:effectRef>
          <a:fontRef idx="minor">
            <a:schemeClr val="tx1"/>
          </a:fontRef>
        </p:style>
      </p:cxnSp>
      <p:sp>
        <p:nvSpPr>
          <p:cNvPr id="18" name="17 Elipse"/>
          <p:cNvSpPr/>
          <p:nvPr/>
        </p:nvSpPr>
        <p:spPr>
          <a:xfrm>
            <a:off x="1928794" y="4643446"/>
            <a:ext cx="1857388" cy="7143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 typeface="+mj-lt"/>
              <a:buAutoNum type="arabicPeriod"/>
            </a:pPr>
            <a:r>
              <a:rPr lang="es-AR" dirty="0" smtClean="0"/>
              <a:t>Introducción.</a:t>
            </a:r>
            <a:endParaRPr lang="es-AR" dirty="0"/>
          </a:p>
        </p:txBody>
      </p:sp>
      <p:sp>
        <p:nvSpPr>
          <p:cNvPr id="19" name="18 Elipse"/>
          <p:cNvSpPr/>
          <p:nvPr/>
        </p:nvSpPr>
        <p:spPr>
          <a:xfrm>
            <a:off x="3286116" y="4071942"/>
            <a:ext cx="2286016" cy="7143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r>
              <a:rPr lang="es-AR" dirty="0" smtClean="0"/>
              <a:t>2.Crecimiento</a:t>
            </a:r>
            <a:endParaRPr lang="es-AR" dirty="0"/>
          </a:p>
        </p:txBody>
      </p:sp>
      <p:sp>
        <p:nvSpPr>
          <p:cNvPr id="20" name="19 Elipse"/>
          <p:cNvSpPr/>
          <p:nvPr/>
        </p:nvSpPr>
        <p:spPr>
          <a:xfrm>
            <a:off x="5715008" y="4000504"/>
            <a:ext cx="1857388" cy="7143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r>
              <a:rPr lang="es-AR" dirty="0" smtClean="0"/>
              <a:t>3. Madurez</a:t>
            </a:r>
            <a:endParaRPr lang="es-AR" dirty="0"/>
          </a:p>
        </p:txBody>
      </p:sp>
      <p:sp>
        <p:nvSpPr>
          <p:cNvPr id="21" name="20 Elipse"/>
          <p:cNvSpPr/>
          <p:nvPr/>
        </p:nvSpPr>
        <p:spPr>
          <a:xfrm>
            <a:off x="6215074" y="4929198"/>
            <a:ext cx="2500330" cy="7143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r>
              <a:rPr lang="es-AR" dirty="0" smtClean="0"/>
              <a:t>4. Declinación..</a:t>
            </a:r>
            <a:endParaRPr lang="es-AR" dirty="0"/>
          </a:p>
        </p:txBody>
      </p:sp>
      <p:sp>
        <p:nvSpPr>
          <p:cNvPr id="22" name="21 Rectángulo"/>
          <p:cNvSpPr/>
          <p:nvPr/>
        </p:nvSpPr>
        <p:spPr>
          <a:xfrm>
            <a:off x="714348" y="3786190"/>
            <a:ext cx="1500198"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smtClean="0"/>
              <a:t>VENTAS</a:t>
            </a:r>
            <a:endParaRPr lang="es-AR" dirty="0"/>
          </a:p>
        </p:txBody>
      </p:sp>
      <p:sp>
        <p:nvSpPr>
          <p:cNvPr id="23" name="22 Rectángulo"/>
          <p:cNvSpPr/>
          <p:nvPr/>
        </p:nvSpPr>
        <p:spPr>
          <a:xfrm>
            <a:off x="3786182" y="5929330"/>
            <a:ext cx="335758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smtClean="0"/>
              <a:t>TIEMPO</a:t>
            </a:r>
            <a:endParaRPr lang="es-AR"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Estrategia comercial:</a:t>
            </a:r>
            <a:endParaRPr lang="es-AR" dirty="0"/>
          </a:p>
        </p:txBody>
      </p:sp>
      <p:sp>
        <p:nvSpPr>
          <p:cNvPr id="3" name="2 Marcador de contenido"/>
          <p:cNvSpPr>
            <a:spLocks noGrp="1"/>
          </p:cNvSpPr>
          <p:nvPr>
            <p:ph idx="1"/>
          </p:nvPr>
        </p:nvSpPr>
        <p:spPr/>
        <p:txBody>
          <a:bodyPr/>
          <a:lstStyle/>
          <a:p>
            <a:pPr algn="just"/>
            <a:r>
              <a:rPr lang="es-AR" b="1" dirty="0" smtClean="0"/>
              <a:t>Introducción:</a:t>
            </a:r>
            <a:r>
              <a:rPr lang="es-AR" dirty="0" smtClean="0"/>
              <a:t> las ventas se incrementan levemente mientras el producto se hace conocido, la marca aprestigiada o la moda impuesta. Si el producto es aceptado se produce un </a:t>
            </a:r>
            <a:r>
              <a:rPr lang="es-AR" b="1" dirty="0" smtClean="0"/>
              <a:t>crecimiento</a:t>
            </a:r>
            <a:r>
              <a:rPr lang="es-AR" dirty="0" smtClean="0"/>
              <a:t> rápido en las ventas las cuales en su etapa de </a:t>
            </a:r>
            <a:r>
              <a:rPr lang="es-AR" b="1" dirty="0" smtClean="0"/>
              <a:t>madurez,</a:t>
            </a:r>
            <a:r>
              <a:rPr lang="es-AR" dirty="0" smtClean="0"/>
              <a:t> se estabilizan hasta llegar al máximo y luego al ser reemplazado por otro producto de la competencia, las ventas </a:t>
            </a:r>
            <a:r>
              <a:rPr lang="es-AR" b="1" dirty="0" smtClean="0"/>
              <a:t>declinan</a:t>
            </a:r>
            <a:r>
              <a:rPr lang="es-AR" dirty="0" smtClean="0"/>
              <a:t> en donde las ventas disminuyen rápidamente.</a:t>
            </a:r>
            <a:endParaRPr lang="es-AR"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Fijación técnica del precio:</a:t>
            </a:r>
            <a:endParaRPr lang="es-AR" dirty="0"/>
          </a:p>
        </p:txBody>
      </p:sp>
      <p:sp>
        <p:nvSpPr>
          <p:cNvPr id="3" name="2 Marcador de contenido"/>
          <p:cNvSpPr>
            <a:spLocks noGrp="1"/>
          </p:cNvSpPr>
          <p:nvPr>
            <p:ph idx="1"/>
          </p:nvPr>
        </p:nvSpPr>
        <p:spPr/>
        <p:style>
          <a:lnRef idx="2">
            <a:schemeClr val="accent2">
              <a:shade val="50000"/>
            </a:schemeClr>
          </a:lnRef>
          <a:fillRef idx="1">
            <a:schemeClr val="accent2"/>
          </a:fillRef>
          <a:effectRef idx="0">
            <a:schemeClr val="accent2"/>
          </a:effectRef>
          <a:fontRef idx="minor">
            <a:schemeClr val="lt1"/>
          </a:fontRef>
        </p:style>
        <p:txBody>
          <a:bodyPr>
            <a:normAutofit fontScale="92500" lnSpcReduction="10000"/>
          </a:bodyPr>
          <a:lstStyle/>
          <a:p>
            <a:r>
              <a:rPr lang="es-AR" dirty="0" smtClean="0"/>
              <a:t>A) Cálculo del precio de ventas como porcentaje de los costos unitarios totales:</a:t>
            </a:r>
          </a:p>
          <a:p>
            <a:pPr>
              <a:buNone/>
            </a:pPr>
            <a:r>
              <a:rPr lang="es-AR" dirty="0" smtClean="0"/>
              <a:t>			</a:t>
            </a:r>
            <a:r>
              <a:rPr lang="es-AR" b="1" dirty="0" err="1" smtClean="0"/>
              <a:t>Pv</a:t>
            </a:r>
            <a:r>
              <a:rPr lang="es-AR" b="1" dirty="0" smtClean="0"/>
              <a:t> = Cu + </a:t>
            </a:r>
            <a:r>
              <a:rPr lang="es-AR" b="1" dirty="0" err="1" smtClean="0"/>
              <a:t>hCu</a:t>
            </a:r>
            <a:endParaRPr lang="es-AR" b="1" dirty="0" smtClean="0"/>
          </a:p>
          <a:p>
            <a:pPr>
              <a:buNone/>
            </a:pPr>
            <a:r>
              <a:rPr lang="es-AR" b="1" dirty="0" err="1" smtClean="0"/>
              <a:t>Pv</a:t>
            </a:r>
            <a:r>
              <a:rPr lang="es-AR" b="1" dirty="0" smtClean="0"/>
              <a:t>= Cu (1+h)</a:t>
            </a:r>
          </a:p>
          <a:p>
            <a:pPr>
              <a:buNone/>
            </a:pPr>
            <a:endParaRPr lang="es-AR" dirty="0" smtClean="0"/>
          </a:p>
          <a:p>
            <a:pPr>
              <a:buNone/>
            </a:pPr>
            <a:r>
              <a:rPr lang="es-AR" dirty="0" smtClean="0"/>
              <a:t>B) Cálculo del precio de ventas como porcentaje del precio de ventas.</a:t>
            </a:r>
          </a:p>
          <a:p>
            <a:pPr>
              <a:buNone/>
            </a:pPr>
            <a:r>
              <a:rPr lang="es-AR" dirty="0" smtClean="0"/>
              <a:t>			</a:t>
            </a:r>
            <a:r>
              <a:rPr lang="es-AR" b="1" dirty="0" err="1" smtClean="0"/>
              <a:t>Pv</a:t>
            </a:r>
            <a:r>
              <a:rPr lang="es-AR" b="1" dirty="0" smtClean="0"/>
              <a:t> = j*</a:t>
            </a:r>
            <a:r>
              <a:rPr lang="es-AR" b="1" dirty="0" err="1" smtClean="0"/>
              <a:t>Pv</a:t>
            </a:r>
            <a:r>
              <a:rPr lang="es-AR" b="1" dirty="0" smtClean="0"/>
              <a:t> + Cu</a:t>
            </a:r>
          </a:p>
          <a:p>
            <a:pPr>
              <a:buNone/>
            </a:pPr>
            <a:r>
              <a:rPr lang="es-AR" b="1" dirty="0" err="1" smtClean="0"/>
              <a:t>Pv-jPv</a:t>
            </a:r>
            <a:r>
              <a:rPr lang="es-AR" b="1" dirty="0" smtClean="0"/>
              <a:t> = Cu</a:t>
            </a:r>
          </a:p>
          <a:p>
            <a:pPr>
              <a:buNone/>
            </a:pPr>
            <a:r>
              <a:rPr lang="es-AR" b="1" dirty="0" err="1" smtClean="0"/>
              <a:t>Pv</a:t>
            </a:r>
            <a:r>
              <a:rPr lang="es-AR" b="1" dirty="0" smtClean="0"/>
              <a:t> (1-j) = Cu</a:t>
            </a:r>
          </a:p>
          <a:p>
            <a:pPr>
              <a:buNone/>
            </a:pPr>
            <a:r>
              <a:rPr lang="es-AR" b="1" dirty="0" err="1" smtClean="0"/>
              <a:t>Pv</a:t>
            </a:r>
            <a:r>
              <a:rPr lang="es-AR" b="1" dirty="0" smtClean="0"/>
              <a:t> = Cu / (1-J)</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idx="1"/>
          </p:nvPr>
        </p:nvSpPr>
        <p:spPr/>
        <p:txBody>
          <a:bodyPr/>
          <a:lstStyle/>
          <a:p>
            <a:pPr eaLnBrk="1" hangingPunct="1"/>
            <a:r>
              <a:rPr lang="es-ES" smtClean="0"/>
              <a:t>En principio, la elasticidad de la demanda se define como </a:t>
            </a:r>
            <a:r>
              <a:rPr lang="es-ES" b="1" smtClean="0"/>
              <a:t>el cambio porcentual en la cantidad demandada, dividido por el cambio porcentual en el precio</a:t>
            </a:r>
            <a:r>
              <a:rPr lang="es-ES" smtClean="0"/>
              <a:t>. </a:t>
            </a:r>
          </a:p>
          <a:p>
            <a:pPr eaLnBrk="1" hangingPunct="1"/>
            <a:r>
              <a:rPr lang="es-ES" sz="1800" smtClean="0"/>
              <a:t>De acuerdo a lo que hemos señalado, la elasticidad precio de la demanda se define de la siguiente manera: </a:t>
            </a:r>
          </a:p>
          <a:p>
            <a:pPr eaLnBrk="1" hangingPunct="1">
              <a:buFontTx/>
              <a:buNone/>
            </a:pPr>
            <a:r>
              <a:rPr lang="es-ES" sz="1800" smtClean="0"/>
              <a:t> </a:t>
            </a:r>
            <a:br>
              <a:rPr lang="es-ES" sz="1800" smtClean="0"/>
            </a:br>
            <a:endParaRPr lang="es-ES" sz="1800" smtClean="0"/>
          </a:p>
        </p:txBody>
      </p:sp>
      <p:sp>
        <p:nvSpPr>
          <p:cNvPr id="15362" name="Rectangle 2"/>
          <p:cNvSpPr>
            <a:spLocks noGrp="1" noChangeArrowheads="1"/>
          </p:cNvSpPr>
          <p:nvPr>
            <p:ph type="title"/>
          </p:nvPr>
        </p:nvSpPr>
        <p:spPr/>
        <p:txBody>
          <a:bodyPr>
            <a:normAutofit/>
          </a:bodyPr>
          <a:lstStyle/>
          <a:p>
            <a:pPr eaLnBrk="1" fontAlgn="auto" hangingPunct="1">
              <a:spcAft>
                <a:spcPts val="0"/>
              </a:spcAft>
              <a:defRPr/>
            </a:pPr>
            <a:r>
              <a:rPr lang="es-ES" sz="4000"/>
              <a:t>Elasticidad precio de la Demanda.</a:t>
            </a:r>
          </a:p>
        </p:txBody>
      </p:sp>
      <p:pic>
        <p:nvPicPr>
          <p:cNvPr id="36868" name="image13736" descr="formula"/>
          <p:cNvPicPr>
            <a:picLocks noChangeAspect="1" noChangeArrowheads="1"/>
          </p:cNvPicPr>
          <p:nvPr/>
        </p:nvPicPr>
        <p:blipFill>
          <a:blip r:embed="rId2"/>
          <a:srcRect/>
          <a:stretch>
            <a:fillRect/>
          </a:stretch>
        </p:blipFill>
        <p:spPr bwMode="auto">
          <a:xfrm>
            <a:off x="1331914" y="4365626"/>
            <a:ext cx="7056437" cy="1871663"/>
          </a:xfrm>
          <a:prstGeom prst="rect">
            <a:avLst/>
          </a:prstGeom>
          <a:noFill/>
          <a:ln w="9525">
            <a:noFill/>
            <a:miter lim="800000"/>
            <a:headEnd/>
            <a:tailEnd/>
          </a:ln>
        </p:spPr>
      </p:pic>
    </p:spTree>
    <p:extLst>
      <p:ext uri="{BB962C8B-B14F-4D97-AF65-F5344CB8AC3E}">
        <p14:creationId xmlns:p14="http://schemas.microsoft.com/office/powerpoint/2010/main" val="6649784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Grp="1" noChangeArrowheads="1"/>
          </p:cNvSpPr>
          <p:nvPr>
            <p:ph idx="1"/>
          </p:nvPr>
        </p:nvSpPr>
        <p:spPr/>
        <p:txBody>
          <a:bodyPr/>
          <a:lstStyle/>
          <a:p>
            <a:pPr eaLnBrk="1" hangingPunct="1">
              <a:lnSpc>
                <a:spcPct val="90000"/>
              </a:lnSpc>
            </a:pPr>
            <a:r>
              <a:rPr lang="es-ES" sz="2400" smtClean="0"/>
              <a:t>La existencia de bienes sucedáneos o sustitutivos recíprocos, en mayor o menor medida. </a:t>
            </a:r>
          </a:p>
          <a:p>
            <a:pPr eaLnBrk="1" hangingPunct="1">
              <a:lnSpc>
                <a:spcPct val="90000"/>
              </a:lnSpc>
            </a:pPr>
            <a:r>
              <a:rPr lang="es-ES" sz="2400" smtClean="0"/>
              <a:t>La proporción del ingreso del consumidor que dedica al gasto del bien objeto de análisis. </a:t>
            </a:r>
          </a:p>
          <a:p>
            <a:pPr eaLnBrk="1" hangingPunct="1">
              <a:lnSpc>
                <a:spcPct val="90000"/>
              </a:lnSpc>
            </a:pPr>
            <a:r>
              <a:rPr lang="es-ES" sz="2400" smtClean="0"/>
              <a:t>El carácter complementario de algunos bienes con relación a otros más caros o más baratos. </a:t>
            </a:r>
          </a:p>
          <a:p>
            <a:pPr eaLnBrk="1" hangingPunct="1">
              <a:lnSpc>
                <a:spcPct val="90000"/>
              </a:lnSpc>
            </a:pPr>
            <a:r>
              <a:rPr lang="es-ES" sz="2400" smtClean="0"/>
              <a:t>La mayor o menor durabilidad del bien objeto de análisis (perecederidad). </a:t>
            </a:r>
          </a:p>
          <a:p>
            <a:pPr eaLnBrk="1" hangingPunct="1">
              <a:lnSpc>
                <a:spcPct val="90000"/>
              </a:lnSpc>
            </a:pPr>
            <a:r>
              <a:rPr lang="es-ES" sz="2400" smtClean="0"/>
              <a:t>La extensión del periodo considerado en el análisis. </a:t>
            </a:r>
          </a:p>
          <a:p>
            <a:pPr eaLnBrk="1" hangingPunct="1">
              <a:lnSpc>
                <a:spcPct val="90000"/>
              </a:lnSpc>
            </a:pPr>
            <a:r>
              <a:rPr lang="es-ES" sz="2400" smtClean="0"/>
              <a:t>Los gustos y preferencias del consumidor. </a:t>
            </a:r>
          </a:p>
          <a:p>
            <a:pPr eaLnBrk="1" hangingPunct="1">
              <a:lnSpc>
                <a:spcPct val="90000"/>
              </a:lnSpc>
            </a:pPr>
            <a:endParaRPr lang="es-ES" sz="2400" smtClean="0"/>
          </a:p>
        </p:txBody>
      </p:sp>
      <p:sp>
        <p:nvSpPr>
          <p:cNvPr id="16386" name="Rectangle 2"/>
          <p:cNvSpPr>
            <a:spLocks noGrp="1" noChangeArrowheads="1"/>
          </p:cNvSpPr>
          <p:nvPr>
            <p:ph type="title"/>
          </p:nvPr>
        </p:nvSpPr>
        <p:spPr/>
        <p:txBody>
          <a:bodyPr>
            <a:normAutofit fontScale="90000"/>
          </a:bodyPr>
          <a:lstStyle/>
          <a:p>
            <a:pPr eaLnBrk="1" fontAlgn="auto" hangingPunct="1">
              <a:spcAft>
                <a:spcPts val="0"/>
              </a:spcAft>
              <a:defRPr/>
            </a:pPr>
            <a:r>
              <a:rPr lang="es-ES" sz="4000"/>
              <a:t>Factores Determinantes de la Elasticidad precio de demanda.</a:t>
            </a:r>
          </a:p>
        </p:txBody>
      </p:sp>
    </p:spTree>
    <p:extLst>
      <p:ext uri="{BB962C8B-B14F-4D97-AF65-F5344CB8AC3E}">
        <p14:creationId xmlns:p14="http://schemas.microsoft.com/office/powerpoint/2010/main" val="655180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idx="1"/>
          </p:nvPr>
        </p:nvSpPr>
        <p:spPr/>
        <p:txBody>
          <a:bodyPr/>
          <a:lstStyle/>
          <a:p>
            <a:pPr eaLnBrk="1" hangingPunct="1">
              <a:lnSpc>
                <a:spcPct val="90000"/>
              </a:lnSpc>
              <a:buFontTx/>
              <a:buNone/>
            </a:pPr>
            <a:r>
              <a:rPr lang="es-ES" sz="2800" i="1" smtClean="0"/>
              <a:t>Según el </a:t>
            </a:r>
            <a:r>
              <a:rPr lang="es-ES" sz="2800" b="1" i="1" smtClean="0"/>
              <a:t>valor de la elasticidad </a:t>
            </a:r>
            <a:r>
              <a:rPr lang="es-ES" sz="2800" i="1" smtClean="0"/>
              <a:t>se puede hablar de: </a:t>
            </a:r>
            <a:endParaRPr lang="es-ES" sz="2800" b="1" i="1" smtClean="0"/>
          </a:p>
          <a:p>
            <a:pPr eaLnBrk="1" hangingPunct="1">
              <a:lnSpc>
                <a:spcPct val="90000"/>
              </a:lnSpc>
            </a:pPr>
            <a:r>
              <a:rPr lang="es-ES" sz="2800" b="1" i="1" smtClean="0"/>
              <a:t>Demanda perfectamente elástica</a:t>
            </a:r>
            <a:r>
              <a:rPr lang="es-ES" sz="2800" i="1" smtClean="0"/>
              <a:t> (elasticidad = infinito) </a:t>
            </a:r>
            <a:endParaRPr lang="es-ES" sz="2800" b="1" i="1" smtClean="0"/>
          </a:p>
          <a:p>
            <a:pPr eaLnBrk="1" hangingPunct="1">
              <a:lnSpc>
                <a:spcPct val="90000"/>
              </a:lnSpc>
            </a:pPr>
            <a:r>
              <a:rPr lang="es-ES" sz="2800" b="1" i="1" smtClean="0"/>
              <a:t>Demanda elástica</a:t>
            </a:r>
            <a:r>
              <a:rPr lang="es-ES" sz="2800" i="1" smtClean="0"/>
              <a:t> (elasticidad &gt; 1) </a:t>
            </a:r>
            <a:endParaRPr lang="es-ES" sz="2800" b="1" i="1" smtClean="0"/>
          </a:p>
          <a:p>
            <a:pPr eaLnBrk="1" hangingPunct="1">
              <a:lnSpc>
                <a:spcPct val="90000"/>
              </a:lnSpc>
            </a:pPr>
            <a:r>
              <a:rPr lang="es-ES" sz="2800" b="1" i="1" smtClean="0"/>
              <a:t>Demanda con elasticidad unitaria</a:t>
            </a:r>
            <a:r>
              <a:rPr lang="es-ES" sz="2800" i="1" smtClean="0"/>
              <a:t> (elasticidad = 1) </a:t>
            </a:r>
            <a:endParaRPr lang="es-ES" sz="2800" b="1" i="1" smtClean="0"/>
          </a:p>
          <a:p>
            <a:pPr eaLnBrk="1" hangingPunct="1">
              <a:lnSpc>
                <a:spcPct val="90000"/>
              </a:lnSpc>
            </a:pPr>
            <a:r>
              <a:rPr lang="es-ES" sz="2800" b="1" i="1" smtClean="0"/>
              <a:t>Demanda inelástica</a:t>
            </a:r>
            <a:r>
              <a:rPr lang="es-ES" sz="2800" i="1" smtClean="0"/>
              <a:t> (elasticidad &lt; 1) </a:t>
            </a:r>
            <a:endParaRPr lang="es-ES" sz="2800" b="1" i="1" smtClean="0"/>
          </a:p>
          <a:p>
            <a:pPr eaLnBrk="1" hangingPunct="1">
              <a:lnSpc>
                <a:spcPct val="90000"/>
              </a:lnSpc>
            </a:pPr>
            <a:r>
              <a:rPr lang="es-ES" sz="2800" b="1" i="1" smtClean="0"/>
              <a:t>Demanda perfectamente inelástica</a:t>
            </a:r>
            <a:r>
              <a:rPr lang="es-ES" sz="2800" i="1" smtClean="0"/>
              <a:t> (elasticidad = 0)</a:t>
            </a:r>
            <a:r>
              <a:rPr lang="es-ES" sz="2800" smtClean="0"/>
              <a:t> </a:t>
            </a:r>
          </a:p>
        </p:txBody>
      </p:sp>
      <p:sp>
        <p:nvSpPr>
          <p:cNvPr id="17410" name="Rectangle 2"/>
          <p:cNvSpPr>
            <a:spLocks noGrp="1" noChangeArrowheads="1"/>
          </p:cNvSpPr>
          <p:nvPr>
            <p:ph type="title"/>
          </p:nvPr>
        </p:nvSpPr>
        <p:spPr/>
        <p:txBody>
          <a:bodyPr/>
          <a:lstStyle/>
          <a:p>
            <a:pPr eaLnBrk="1" fontAlgn="auto" hangingPunct="1">
              <a:spcAft>
                <a:spcPts val="0"/>
              </a:spcAft>
              <a:defRPr/>
            </a:pPr>
            <a:r>
              <a:rPr lang="es-ES"/>
              <a:t>Coeficientes posibles.</a:t>
            </a:r>
          </a:p>
        </p:txBody>
      </p:sp>
    </p:spTree>
    <p:extLst>
      <p:ext uri="{BB962C8B-B14F-4D97-AF65-F5344CB8AC3E}">
        <p14:creationId xmlns:p14="http://schemas.microsoft.com/office/powerpoint/2010/main" val="7396053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1 Marcador de contenido"/>
          <p:cNvSpPr>
            <a:spLocks noGrp="1"/>
          </p:cNvSpPr>
          <p:nvPr>
            <p:ph idx="1"/>
          </p:nvPr>
        </p:nvSpPr>
        <p:spPr/>
        <p:txBody>
          <a:bodyPr>
            <a:normAutofit lnSpcReduction="10000"/>
          </a:bodyPr>
          <a:lstStyle/>
          <a:p>
            <a:r>
              <a:rPr lang="es-AR" smtClean="0"/>
              <a:t>Construya una tabla de demanda a partir de la siguiente ecuación: Dx = 100 – 2 Px. Considere Px = 0; 10; 20; 30; 40; 50</a:t>
            </a:r>
          </a:p>
          <a:p>
            <a:r>
              <a:rPr lang="es-AR" smtClean="0"/>
              <a:t>Grafique la curva.</a:t>
            </a:r>
          </a:p>
          <a:p>
            <a:r>
              <a:rPr lang="es-AR" smtClean="0"/>
              <a:t>Calcule la elasticidad precio de demanda para:</a:t>
            </a:r>
          </a:p>
          <a:p>
            <a:r>
              <a:rPr lang="es-AR" smtClean="0"/>
              <a:t>A) Px = 10</a:t>
            </a:r>
          </a:p>
          <a:p>
            <a:r>
              <a:rPr lang="es-AR" smtClean="0"/>
              <a:t>B) Px = 20</a:t>
            </a:r>
          </a:p>
          <a:p>
            <a:r>
              <a:rPr lang="es-AR" smtClean="0"/>
              <a:t>C) Px = entre 20 y 40</a:t>
            </a:r>
          </a:p>
          <a:p>
            <a:r>
              <a:rPr lang="es-AR" smtClean="0"/>
              <a:t>D) Px = entre 10 y 15</a:t>
            </a:r>
          </a:p>
          <a:p>
            <a:r>
              <a:rPr lang="es-AR" smtClean="0"/>
              <a:t>E) Px = entre 10 y 40</a:t>
            </a:r>
          </a:p>
        </p:txBody>
      </p:sp>
      <p:sp>
        <p:nvSpPr>
          <p:cNvPr id="3" name="2 Título"/>
          <p:cNvSpPr>
            <a:spLocks noGrp="1"/>
          </p:cNvSpPr>
          <p:nvPr>
            <p:ph type="title"/>
          </p:nvPr>
        </p:nvSpPr>
        <p:spPr/>
        <p:txBody>
          <a:bodyPr>
            <a:normAutofit fontScale="90000"/>
          </a:bodyPr>
          <a:lstStyle/>
          <a:p>
            <a:pPr>
              <a:defRPr/>
            </a:pPr>
            <a:r>
              <a:rPr lang="es-AR" dirty="0" smtClean="0"/>
              <a:t>Elasticidad precio de la Demanda.</a:t>
            </a:r>
            <a:endParaRPr lang="es-AR" dirty="0"/>
          </a:p>
        </p:txBody>
      </p:sp>
    </p:spTree>
    <p:extLst>
      <p:ext uri="{BB962C8B-B14F-4D97-AF65-F5344CB8AC3E}">
        <p14:creationId xmlns:p14="http://schemas.microsoft.com/office/powerpoint/2010/main" val="19984642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1 Marcador de contenido"/>
          <p:cNvSpPr>
            <a:spLocks noGrp="1"/>
          </p:cNvSpPr>
          <p:nvPr>
            <p:ph idx="1"/>
          </p:nvPr>
        </p:nvSpPr>
        <p:spPr/>
        <p:txBody>
          <a:bodyPr>
            <a:normAutofit fontScale="92500" lnSpcReduction="10000"/>
          </a:bodyPr>
          <a:lstStyle/>
          <a:p>
            <a:r>
              <a:rPr lang="es-AR" dirty="0" smtClean="0"/>
              <a:t>A partir de la siguiente ecuación: </a:t>
            </a:r>
            <a:r>
              <a:rPr lang="es-AR" dirty="0" err="1" smtClean="0"/>
              <a:t>Dx</a:t>
            </a:r>
            <a:r>
              <a:rPr lang="es-AR" smtClean="0"/>
              <a:t> = 120 – </a:t>
            </a:r>
            <a:r>
              <a:rPr lang="es-AR" dirty="0" err="1" smtClean="0"/>
              <a:t>Px</a:t>
            </a:r>
            <a:r>
              <a:rPr lang="es-AR" dirty="0" smtClean="0"/>
              <a:t>. Construya la tabla de demanda para </a:t>
            </a:r>
            <a:r>
              <a:rPr lang="es-AR" dirty="0" err="1" smtClean="0"/>
              <a:t>Px</a:t>
            </a:r>
            <a:r>
              <a:rPr lang="es-AR" dirty="0" smtClean="0"/>
              <a:t> = 0, 2, 4, 6, 8, 10, 12, 14, 16, 18, 20.</a:t>
            </a:r>
          </a:p>
          <a:p>
            <a:r>
              <a:rPr lang="es-AR" dirty="0" smtClean="0"/>
              <a:t>Grafique la curva.</a:t>
            </a:r>
          </a:p>
          <a:p>
            <a:r>
              <a:rPr lang="es-AR" dirty="0" smtClean="0"/>
              <a:t>Calcule la elasticidad precio de demanda para:</a:t>
            </a:r>
          </a:p>
          <a:p>
            <a:r>
              <a:rPr lang="es-AR" dirty="0" smtClean="0"/>
              <a:t>A) </a:t>
            </a:r>
            <a:r>
              <a:rPr lang="es-AR" dirty="0" err="1" smtClean="0"/>
              <a:t>Px</a:t>
            </a:r>
            <a:r>
              <a:rPr lang="es-AR" dirty="0" smtClean="0"/>
              <a:t>= 2</a:t>
            </a:r>
          </a:p>
          <a:p>
            <a:r>
              <a:rPr lang="es-AR" dirty="0" smtClean="0"/>
              <a:t>b) </a:t>
            </a:r>
            <a:r>
              <a:rPr lang="es-AR" dirty="0" err="1" smtClean="0"/>
              <a:t>Px</a:t>
            </a:r>
            <a:r>
              <a:rPr lang="es-AR" dirty="0" smtClean="0"/>
              <a:t>= 4</a:t>
            </a:r>
          </a:p>
          <a:p>
            <a:r>
              <a:rPr lang="es-AR" dirty="0" smtClean="0"/>
              <a:t>C) </a:t>
            </a:r>
            <a:r>
              <a:rPr lang="es-AR" dirty="0" err="1" smtClean="0"/>
              <a:t>Px</a:t>
            </a:r>
            <a:r>
              <a:rPr lang="es-AR" dirty="0" smtClean="0"/>
              <a:t> = 6</a:t>
            </a:r>
          </a:p>
          <a:p>
            <a:r>
              <a:rPr lang="es-AR" dirty="0" smtClean="0"/>
              <a:t>D) </a:t>
            </a:r>
            <a:r>
              <a:rPr lang="es-AR" dirty="0" err="1" smtClean="0"/>
              <a:t>Px</a:t>
            </a:r>
            <a:r>
              <a:rPr lang="es-AR" dirty="0" smtClean="0"/>
              <a:t> = 12</a:t>
            </a:r>
          </a:p>
          <a:p>
            <a:r>
              <a:rPr lang="es-AR" dirty="0" smtClean="0"/>
              <a:t>E) </a:t>
            </a:r>
            <a:r>
              <a:rPr lang="es-AR" dirty="0" err="1" smtClean="0"/>
              <a:t>Px</a:t>
            </a:r>
            <a:r>
              <a:rPr lang="es-AR" dirty="0" smtClean="0"/>
              <a:t> = entre 14 y 16</a:t>
            </a:r>
          </a:p>
          <a:p>
            <a:r>
              <a:rPr lang="es-AR" dirty="0" smtClean="0"/>
              <a:t>F) </a:t>
            </a:r>
            <a:r>
              <a:rPr lang="es-AR" dirty="0" err="1" smtClean="0"/>
              <a:t>Px</a:t>
            </a:r>
            <a:r>
              <a:rPr lang="es-AR" dirty="0" smtClean="0"/>
              <a:t>= entre 17 y 18</a:t>
            </a:r>
          </a:p>
        </p:txBody>
      </p:sp>
      <p:sp>
        <p:nvSpPr>
          <p:cNvPr id="3" name="2 Título"/>
          <p:cNvSpPr>
            <a:spLocks noGrp="1"/>
          </p:cNvSpPr>
          <p:nvPr>
            <p:ph type="title"/>
          </p:nvPr>
        </p:nvSpPr>
        <p:spPr/>
        <p:txBody>
          <a:bodyPr>
            <a:normAutofit fontScale="90000"/>
          </a:bodyPr>
          <a:lstStyle/>
          <a:p>
            <a:pPr>
              <a:defRPr/>
            </a:pPr>
            <a:r>
              <a:rPr lang="es-AR" dirty="0" smtClean="0"/>
              <a:t>Elasticidad precio de la Demanda.</a:t>
            </a:r>
            <a:endParaRPr lang="es-AR" dirty="0"/>
          </a:p>
        </p:txBody>
      </p:sp>
    </p:spTree>
    <p:extLst>
      <p:ext uri="{BB962C8B-B14F-4D97-AF65-F5344CB8AC3E}">
        <p14:creationId xmlns:p14="http://schemas.microsoft.com/office/powerpoint/2010/main" val="14239179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idx="1"/>
          </p:nvPr>
        </p:nvSpPr>
        <p:spPr/>
        <p:txBody>
          <a:bodyPr/>
          <a:lstStyle/>
          <a:p>
            <a:pPr eaLnBrk="1" hangingPunct="1"/>
            <a:r>
              <a:rPr lang="es-ES" smtClean="0"/>
              <a:t>Es la variación porcentual de la cantidad demandada ante variaciones en el ingreso del consumidor.</a:t>
            </a:r>
          </a:p>
          <a:p>
            <a:pPr eaLnBrk="1" hangingPunct="1"/>
            <a:r>
              <a:rPr lang="es-ES" smtClean="0"/>
              <a:t>Fórmula: variación de la cantidad demandada/variación del ingreso.</a:t>
            </a:r>
          </a:p>
          <a:p>
            <a:pPr eaLnBrk="1" hangingPunct="1"/>
            <a:r>
              <a:rPr lang="es-ES" smtClean="0"/>
              <a:t>Coeficientes posibles: </a:t>
            </a:r>
          </a:p>
          <a:p>
            <a:pPr eaLnBrk="1" hangingPunct="1">
              <a:buFontTx/>
              <a:buNone/>
            </a:pPr>
            <a:r>
              <a:rPr lang="es-ES" smtClean="0"/>
              <a:t>Positivo: Bienes normales o de lujo.</a:t>
            </a:r>
          </a:p>
          <a:p>
            <a:pPr eaLnBrk="1" hangingPunct="1">
              <a:buFontTx/>
              <a:buNone/>
            </a:pPr>
            <a:r>
              <a:rPr lang="es-ES" smtClean="0"/>
              <a:t>Negativo: Bienes inferiores.</a:t>
            </a:r>
          </a:p>
          <a:p>
            <a:pPr eaLnBrk="1" hangingPunct="1"/>
            <a:endParaRPr lang="es-ES" smtClean="0"/>
          </a:p>
        </p:txBody>
      </p:sp>
      <p:sp>
        <p:nvSpPr>
          <p:cNvPr id="18434" name="Rectangle 2"/>
          <p:cNvSpPr>
            <a:spLocks noGrp="1" noChangeArrowheads="1"/>
          </p:cNvSpPr>
          <p:nvPr>
            <p:ph type="title"/>
          </p:nvPr>
        </p:nvSpPr>
        <p:spPr/>
        <p:txBody>
          <a:bodyPr>
            <a:normAutofit/>
          </a:bodyPr>
          <a:lstStyle/>
          <a:p>
            <a:pPr eaLnBrk="1" fontAlgn="auto" hangingPunct="1">
              <a:spcAft>
                <a:spcPts val="0"/>
              </a:spcAft>
              <a:defRPr/>
            </a:pPr>
            <a:r>
              <a:rPr lang="es-ES" sz="4000"/>
              <a:t>Elasticidad Ingreso de la Demanda.</a:t>
            </a:r>
          </a:p>
        </p:txBody>
      </p:sp>
    </p:spTree>
    <p:extLst>
      <p:ext uri="{BB962C8B-B14F-4D97-AF65-F5344CB8AC3E}">
        <p14:creationId xmlns:p14="http://schemas.microsoft.com/office/powerpoint/2010/main" val="35149418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ChangeArrowheads="1"/>
          </p:cNvSpPr>
          <p:nvPr>
            <p:ph idx="1"/>
          </p:nvPr>
        </p:nvSpPr>
        <p:spPr/>
        <p:txBody>
          <a:bodyPr/>
          <a:lstStyle/>
          <a:p>
            <a:pPr eaLnBrk="1" hangingPunct="1"/>
            <a:r>
              <a:rPr lang="es-ES" sz="2800" i="1" smtClean="0"/>
              <a:t>Elasticidad-renta de la demanda = Variación % de la cantidad / Variación % de la renta </a:t>
            </a:r>
          </a:p>
          <a:p>
            <a:pPr eaLnBrk="1" hangingPunct="1"/>
            <a:r>
              <a:rPr lang="es-ES" sz="2800" i="1" smtClean="0"/>
              <a:t>Los bienes se clasifican en:</a:t>
            </a:r>
            <a:endParaRPr lang="es-ES" sz="2800" b="1" i="1" smtClean="0"/>
          </a:p>
          <a:p>
            <a:pPr eaLnBrk="1" hangingPunct="1"/>
            <a:r>
              <a:rPr lang="es-ES" sz="2800" b="1" i="1" smtClean="0"/>
              <a:t>Normales</a:t>
            </a:r>
            <a:r>
              <a:rPr lang="es-ES" sz="2800" i="1" smtClean="0"/>
              <a:t>: tienen </a:t>
            </a:r>
            <a:r>
              <a:rPr lang="es-ES" sz="2800" b="1" i="1" smtClean="0"/>
              <a:t>elasticidad renta positiva</a:t>
            </a:r>
            <a:r>
              <a:rPr lang="es-ES" sz="2800" i="1" smtClean="0"/>
              <a:t> (un aumento de la renta conlleva un aumento de la demanda del bien). </a:t>
            </a:r>
            <a:endParaRPr lang="es-ES" sz="2800" b="1" i="1" smtClean="0"/>
          </a:p>
          <a:p>
            <a:pPr eaLnBrk="1" hangingPunct="1"/>
            <a:r>
              <a:rPr lang="es-ES" sz="2800" b="1" i="1" smtClean="0"/>
              <a:t>Inferiores</a:t>
            </a:r>
            <a:r>
              <a:rPr lang="es-ES" sz="2800" i="1" smtClean="0"/>
              <a:t>: tienen </a:t>
            </a:r>
            <a:r>
              <a:rPr lang="es-ES" sz="2800" b="1" i="1" smtClean="0"/>
              <a:t>elasticidad renta negativa </a:t>
            </a:r>
            <a:r>
              <a:rPr lang="es-ES" sz="2800" i="1" smtClean="0"/>
              <a:t>(un aumento de la renta origina una disminución de la demanda del bien).</a:t>
            </a:r>
            <a:r>
              <a:rPr lang="es-ES" sz="2800" smtClean="0"/>
              <a:t> </a:t>
            </a:r>
          </a:p>
        </p:txBody>
      </p:sp>
      <p:sp>
        <p:nvSpPr>
          <p:cNvPr id="22530" name="Rectangle 2"/>
          <p:cNvSpPr>
            <a:spLocks noGrp="1" noChangeArrowheads="1"/>
          </p:cNvSpPr>
          <p:nvPr>
            <p:ph type="title"/>
          </p:nvPr>
        </p:nvSpPr>
        <p:spPr/>
        <p:txBody>
          <a:bodyPr>
            <a:normAutofit/>
          </a:bodyPr>
          <a:lstStyle/>
          <a:p>
            <a:pPr eaLnBrk="1" fontAlgn="auto" hangingPunct="1">
              <a:spcAft>
                <a:spcPts val="0"/>
              </a:spcAft>
              <a:defRPr/>
            </a:pPr>
            <a:r>
              <a:rPr lang="es-ES" sz="4000"/>
              <a:t>Elasticidad ingreso de la demanda.</a:t>
            </a:r>
          </a:p>
        </p:txBody>
      </p:sp>
    </p:spTree>
    <p:extLst>
      <p:ext uri="{BB962C8B-B14F-4D97-AF65-F5344CB8AC3E}">
        <p14:creationId xmlns:p14="http://schemas.microsoft.com/office/powerpoint/2010/main" val="27238202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idx="1"/>
          </p:nvPr>
        </p:nvSpPr>
        <p:spPr/>
        <p:txBody>
          <a:bodyPr/>
          <a:lstStyle/>
          <a:p>
            <a:pPr eaLnBrk="1" hangingPunct="1"/>
            <a:r>
              <a:rPr lang="es-ES" sz="2800" smtClean="0"/>
              <a:t>Es la variación relativa de la cantidad demandada de “X” ante una variación en el precio de “Y”.</a:t>
            </a:r>
          </a:p>
          <a:p>
            <a:pPr eaLnBrk="1" hangingPunct="1"/>
            <a:r>
              <a:rPr lang="es-ES" sz="2800" smtClean="0"/>
              <a:t>Fórmula: Variación de cantidad demandada de X/ variación del precio de Y.</a:t>
            </a:r>
          </a:p>
          <a:p>
            <a:pPr eaLnBrk="1" hangingPunct="1"/>
            <a:r>
              <a:rPr lang="es-ES" sz="2800" smtClean="0"/>
              <a:t>Coeficientes: </a:t>
            </a:r>
          </a:p>
          <a:p>
            <a:pPr eaLnBrk="1" hangingPunct="1">
              <a:buFontTx/>
              <a:buNone/>
            </a:pPr>
            <a:r>
              <a:rPr lang="es-ES" sz="2800" smtClean="0"/>
              <a:t>Positivo: Bienes Sustitutos o rivales.</a:t>
            </a:r>
          </a:p>
          <a:p>
            <a:pPr eaLnBrk="1" hangingPunct="1">
              <a:buFontTx/>
              <a:buNone/>
            </a:pPr>
            <a:r>
              <a:rPr lang="es-ES" sz="2800" smtClean="0"/>
              <a:t>Negativo: Bienes complementarios.</a:t>
            </a:r>
          </a:p>
          <a:p>
            <a:pPr eaLnBrk="1" hangingPunct="1">
              <a:buFontTx/>
              <a:buNone/>
            </a:pPr>
            <a:r>
              <a:rPr lang="es-ES" sz="2800" smtClean="0"/>
              <a:t>Igual a Cero: Bienes Independientes.</a:t>
            </a:r>
          </a:p>
        </p:txBody>
      </p:sp>
      <p:sp>
        <p:nvSpPr>
          <p:cNvPr id="19458" name="Rectangle 2"/>
          <p:cNvSpPr>
            <a:spLocks noGrp="1" noChangeArrowheads="1"/>
          </p:cNvSpPr>
          <p:nvPr>
            <p:ph type="title"/>
          </p:nvPr>
        </p:nvSpPr>
        <p:spPr/>
        <p:txBody>
          <a:bodyPr>
            <a:normAutofit/>
          </a:bodyPr>
          <a:lstStyle/>
          <a:p>
            <a:pPr eaLnBrk="1" fontAlgn="auto" hangingPunct="1">
              <a:spcAft>
                <a:spcPts val="0"/>
              </a:spcAft>
              <a:defRPr/>
            </a:pPr>
            <a:r>
              <a:rPr lang="es-ES" sz="4000"/>
              <a:t>Elasticidad cruzada de la demanda.</a:t>
            </a:r>
          </a:p>
        </p:txBody>
      </p:sp>
    </p:spTree>
    <p:extLst>
      <p:ext uri="{BB962C8B-B14F-4D97-AF65-F5344CB8AC3E}">
        <p14:creationId xmlns:p14="http://schemas.microsoft.com/office/powerpoint/2010/main" val="24370051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noChangeArrowheads="1"/>
          </p:cNvSpPr>
          <p:nvPr>
            <p:ph idx="1"/>
          </p:nvPr>
        </p:nvSpPr>
        <p:spPr/>
        <p:txBody>
          <a:bodyPr/>
          <a:lstStyle/>
          <a:p>
            <a:pPr eaLnBrk="1" hangingPunct="1"/>
            <a:r>
              <a:rPr lang="es-ES" smtClean="0"/>
              <a:t>Es la variación relativa de la cantidad ofrecida ante variaciones en el precio del bien en cuestión.</a:t>
            </a:r>
          </a:p>
          <a:p>
            <a:pPr eaLnBrk="1" hangingPunct="1"/>
            <a:r>
              <a:rPr lang="es-ES" i="1" smtClean="0"/>
              <a:t>Esta elasticidad mide la </a:t>
            </a:r>
            <a:r>
              <a:rPr lang="es-ES" b="1" i="1" smtClean="0"/>
              <a:t>magnitud de la variación de la cantidad ofertada ante una variación del precio</a:t>
            </a:r>
            <a:r>
              <a:rPr lang="es-ES" i="1" smtClean="0"/>
              <a:t>. </a:t>
            </a:r>
          </a:p>
          <a:p>
            <a:pPr eaLnBrk="1" hangingPunct="1"/>
            <a:r>
              <a:rPr lang="es-ES" i="1" smtClean="0"/>
              <a:t>Elasticidad-precio de la oferta = Variación % de la cantidad / Variación % del precio</a:t>
            </a:r>
          </a:p>
        </p:txBody>
      </p:sp>
      <p:sp>
        <p:nvSpPr>
          <p:cNvPr id="20482" name="Rectangle 2"/>
          <p:cNvSpPr>
            <a:spLocks noGrp="1" noChangeArrowheads="1"/>
          </p:cNvSpPr>
          <p:nvPr>
            <p:ph type="title"/>
          </p:nvPr>
        </p:nvSpPr>
        <p:spPr/>
        <p:txBody>
          <a:bodyPr>
            <a:normAutofit/>
          </a:bodyPr>
          <a:lstStyle/>
          <a:p>
            <a:pPr eaLnBrk="1" fontAlgn="auto" hangingPunct="1">
              <a:spcAft>
                <a:spcPts val="0"/>
              </a:spcAft>
              <a:defRPr/>
            </a:pPr>
            <a:r>
              <a:rPr lang="es-ES"/>
              <a:t>Elasticidad precio de Oferta.</a:t>
            </a:r>
          </a:p>
        </p:txBody>
      </p:sp>
    </p:spTree>
    <p:extLst>
      <p:ext uri="{BB962C8B-B14F-4D97-AF65-F5344CB8AC3E}">
        <p14:creationId xmlns:p14="http://schemas.microsoft.com/office/powerpoint/2010/main" val="13110154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idx="1"/>
          </p:nvPr>
        </p:nvSpPr>
        <p:spPr/>
        <p:txBody>
          <a:bodyPr/>
          <a:lstStyle/>
          <a:p>
            <a:pPr eaLnBrk="1" hangingPunct="1">
              <a:lnSpc>
                <a:spcPct val="90000"/>
              </a:lnSpc>
              <a:buFontTx/>
              <a:buNone/>
            </a:pPr>
            <a:r>
              <a:rPr lang="es-ES" sz="2800" i="1" smtClean="0"/>
              <a:t>Según el </a:t>
            </a:r>
            <a:r>
              <a:rPr lang="es-ES" sz="2800" b="1" i="1" smtClean="0"/>
              <a:t>valor de la elasticidad </a:t>
            </a:r>
            <a:r>
              <a:rPr lang="es-ES" sz="2800" i="1" smtClean="0"/>
              <a:t>se puede hablar de: </a:t>
            </a:r>
            <a:endParaRPr lang="es-ES" sz="2800" b="1" i="1" smtClean="0"/>
          </a:p>
          <a:p>
            <a:pPr eaLnBrk="1" hangingPunct="1">
              <a:lnSpc>
                <a:spcPct val="90000"/>
              </a:lnSpc>
            </a:pPr>
            <a:r>
              <a:rPr lang="es-ES" sz="2800" b="1" i="1" smtClean="0"/>
              <a:t>Oferta perfectamente elástica</a:t>
            </a:r>
            <a:r>
              <a:rPr lang="es-ES" sz="2800" i="1" smtClean="0"/>
              <a:t> (elasticidad = infinito) </a:t>
            </a:r>
            <a:endParaRPr lang="es-ES" sz="2800" b="1" i="1" smtClean="0"/>
          </a:p>
          <a:p>
            <a:pPr eaLnBrk="1" hangingPunct="1">
              <a:lnSpc>
                <a:spcPct val="90000"/>
              </a:lnSpc>
            </a:pPr>
            <a:r>
              <a:rPr lang="es-ES" sz="2800" b="1" i="1" smtClean="0"/>
              <a:t>Oferta elástica</a:t>
            </a:r>
            <a:r>
              <a:rPr lang="es-ES" sz="2800" i="1" smtClean="0"/>
              <a:t> (elasticidad &gt; 1) </a:t>
            </a:r>
            <a:endParaRPr lang="es-ES" sz="2800" b="1" i="1" smtClean="0"/>
          </a:p>
          <a:p>
            <a:pPr eaLnBrk="1" hangingPunct="1">
              <a:lnSpc>
                <a:spcPct val="90000"/>
              </a:lnSpc>
            </a:pPr>
            <a:r>
              <a:rPr lang="es-ES" sz="2800" b="1" i="1" smtClean="0"/>
              <a:t>Oferta con elasticidad unitaria</a:t>
            </a:r>
            <a:r>
              <a:rPr lang="es-ES" sz="2800" i="1" smtClean="0"/>
              <a:t> (elasticidad = 1) </a:t>
            </a:r>
            <a:endParaRPr lang="es-ES" sz="2800" b="1" i="1" smtClean="0"/>
          </a:p>
          <a:p>
            <a:pPr eaLnBrk="1" hangingPunct="1">
              <a:lnSpc>
                <a:spcPct val="90000"/>
              </a:lnSpc>
            </a:pPr>
            <a:r>
              <a:rPr lang="es-ES" sz="2800" b="1" i="1" smtClean="0"/>
              <a:t>Oferta inelástica</a:t>
            </a:r>
            <a:r>
              <a:rPr lang="es-ES" sz="2800" i="1" smtClean="0"/>
              <a:t> (elasticidad &lt; 1) </a:t>
            </a:r>
            <a:endParaRPr lang="es-ES" sz="2800" b="1" i="1" smtClean="0"/>
          </a:p>
          <a:p>
            <a:pPr eaLnBrk="1" hangingPunct="1">
              <a:lnSpc>
                <a:spcPct val="90000"/>
              </a:lnSpc>
            </a:pPr>
            <a:r>
              <a:rPr lang="es-ES" sz="2800" b="1" i="1" smtClean="0"/>
              <a:t>Oferta perfectamente inelástica</a:t>
            </a:r>
            <a:r>
              <a:rPr lang="es-ES" sz="2800" i="1" smtClean="0"/>
              <a:t> (elasticidad &lt; 0)</a:t>
            </a:r>
            <a:r>
              <a:rPr lang="es-ES" sz="2800" smtClean="0"/>
              <a:t> </a:t>
            </a:r>
          </a:p>
          <a:p>
            <a:pPr eaLnBrk="1" hangingPunct="1">
              <a:lnSpc>
                <a:spcPct val="90000"/>
              </a:lnSpc>
            </a:pPr>
            <a:endParaRPr lang="es-ES" sz="2800" smtClean="0"/>
          </a:p>
        </p:txBody>
      </p:sp>
      <p:sp>
        <p:nvSpPr>
          <p:cNvPr id="21506" name="Rectangle 2"/>
          <p:cNvSpPr>
            <a:spLocks noGrp="1" noChangeArrowheads="1"/>
          </p:cNvSpPr>
          <p:nvPr>
            <p:ph type="title"/>
          </p:nvPr>
        </p:nvSpPr>
        <p:spPr/>
        <p:txBody>
          <a:bodyPr/>
          <a:lstStyle/>
          <a:p>
            <a:pPr eaLnBrk="1" fontAlgn="auto" hangingPunct="1">
              <a:spcAft>
                <a:spcPts val="0"/>
              </a:spcAft>
              <a:defRPr/>
            </a:pPr>
            <a:r>
              <a:rPr lang="es-ES"/>
              <a:t>Coeficientes posibles:</a:t>
            </a:r>
          </a:p>
        </p:txBody>
      </p:sp>
    </p:spTree>
    <p:extLst>
      <p:ext uri="{BB962C8B-B14F-4D97-AF65-F5344CB8AC3E}">
        <p14:creationId xmlns:p14="http://schemas.microsoft.com/office/powerpoint/2010/main" val="42803947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Estrategias de fijación de precios:</a:t>
            </a:r>
            <a:endParaRPr lang="es-AR" dirty="0"/>
          </a:p>
        </p:txBody>
      </p:sp>
      <p:sp>
        <p:nvSpPr>
          <p:cNvPr id="3" name="2 Marcador de contenido"/>
          <p:cNvSpPr>
            <a:spLocks noGrp="1"/>
          </p:cNvSpPr>
          <p:nvPr>
            <p:ph idx="1"/>
          </p:nvPr>
        </p:nvSpPr>
        <p:spPr/>
        <p:txBody>
          <a:bodyPr>
            <a:normAutofit fontScale="85000" lnSpcReduction="10000"/>
          </a:bodyPr>
          <a:lstStyle/>
          <a:p>
            <a:pPr algn="just"/>
            <a:r>
              <a:rPr lang="es-AR" dirty="0" smtClean="0"/>
              <a:t>Se denomina estrategia de precios a todos aquellos recursos de marketing que una empresa puede desarrollar consistente en la modificación de los precios de sus productos.</a:t>
            </a:r>
          </a:p>
          <a:p>
            <a:pPr algn="just"/>
            <a:r>
              <a:rPr lang="es-AR" b="1" dirty="0" smtClean="0"/>
              <a:t>Fijación de precios por absorción de fletes: </a:t>
            </a:r>
            <a:r>
              <a:rPr lang="es-AR" dirty="0" smtClean="0"/>
              <a:t>el vendedor absorbe parte del cargo del flete como incentivo para penetrar en el mercado.</a:t>
            </a:r>
          </a:p>
          <a:p>
            <a:pPr algn="just"/>
            <a:r>
              <a:rPr lang="es-AR" b="1" dirty="0" smtClean="0"/>
              <a:t>Fijación de precios depredadora</a:t>
            </a:r>
            <a:r>
              <a:rPr lang="es-AR" dirty="0" smtClean="0"/>
              <a:t>: </a:t>
            </a:r>
            <a:r>
              <a:rPr lang="es-AR" b="1" u="sng" dirty="0" smtClean="0">
                <a:solidFill>
                  <a:srgbClr val="FF0000"/>
                </a:solidFill>
              </a:rPr>
              <a:t>Vender por debajo del costo </a:t>
            </a:r>
            <a:r>
              <a:rPr lang="es-AR" dirty="0" smtClean="0"/>
              <a:t>con la intención de castigar al competidor o tener mayores utilidades a largo plazo al sacar competidores.</a:t>
            </a:r>
          </a:p>
          <a:p>
            <a:pPr algn="just"/>
            <a:r>
              <a:rPr lang="es-AR" b="1" dirty="0" smtClean="0"/>
              <a:t>Descremado de mercado:</a:t>
            </a:r>
            <a:r>
              <a:rPr lang="es-AR" dirty="0" smtClean="0"/>
              <a:t> Se basa en </a:t>
            </a:r>
            <a:r>
              <a:rPr lang="es-AR" b="1" u="sng" dirty="0" smtClean="0">
                <a:solidFill>
                  <a:srgbClr val="FF0000"/>
                </a:solidFill>
              </a:rPr>
              <a:t>poner el precio inicial más alto </a:t>
            </a:r>
            <a:r>
              <a:rPr lang="es-AR" dirty="0" smtClean="0"/>
              <a:t>a un nuevo producto en el mercado. Se trata de poner el mayor precio inicial que los consumidores estarían dispuestos a pagar.</a:t>
            </a:r>
            <a:endParaRPr lang="es-AR"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 Estrategias de fijación de precios.</a:t>
            </a:r>
            <a:endParaRPr lang="es-AR" dirty="0"/>
          </a:p>
        </p:txBody>
      </p:sp>
      <p:sp>
        <p:nvSpPr>
          <p:cNvPr id="3" name="2 Marcador de contenido"/>
          <p:cNvSpPr>
            <a:spLocks noGrp="1"/>
          </p:cNvSpPr>
          <p:nvPr>
            <p:ph idx="1"/>
          </p:nvPr>
        </p:nvSpPr>
        <p:spPr/>
        <p:txBody>
          <a:bodyPr>
            <a:normAutofit fontScale="92500"/>
          </a:bodyPr>
          <a:lstStyle/>
          <a:p>
            <a:endParaRPr lang="es-AR" b="1" dirty="0" smtClean="0"/>
          </a:p>
          <a:p>
            <a:pPr algn="just"/>
            <a:r>
              <a:rPr lang="es-AR" b="1" dirty="0" smtClean="0"/>
              <a:t>Fijación de precios por zonas:</a:t>
            </a:r>
            <a:r>
              <a:rPr lang="es-AR" dirty="0" smtClean="0"/>
              <a:t> la compañía </a:t>
            </a:r>
            <a:r>
              <a:rPr lang="es-AR" u="sng" dirty="0" smtClean="0">
                <a:solidFill>
                  <a:srgbClr val="FF0000"/>
                </a:solidFill>
              </a:rPr>
              <a:t>define zonas </a:t>
            </a:r>
            <a:r>
              <a:rPr lang="es-AR" dirty="0" smtClean="0"/>
              <a:t>y en ellas los clientes pagan un mismo precio total.</a:t>
            </a:r>
          </a:p>
          <a:p>
            <a:pPr algn="just"/>
            <a:r>
              <a:rPr lang="es-AR" b="1" dirty="0" smtClean="0"/>
              <a:t>Fijación de precios promocionales</a:t>
            </a:r>
            <a:r>
              <a:rPr lang="es-AR" dirty="0" smtClean="0">
                <a:solidFill>
                  <a:srgbClr val="FF0000"/>
                </a:solidFill>
              </a:rPr>
              <a:t>: fijan precios temporalmente por debajo de su precio de lista y a veces por debajo de su costo con la finalidad de incrementar sus ventas en el corto plazo</a:t>
            </a:r>
            <a:r>
              <a:rPr lang="es-AR" dirty="0" smtClean="0"/>
              <a:t>. Pueden tomar formas de: descuentos, fijación de precios por evento especial, rebajas en efectivo, financiamiento sin pago de intereses, mantenimiento gratuito, etc. Esto genera guerra de precios.</a:t>
            </a:r>
            <a:endParaRPr lang="es-AR"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pPr>
              <a:defRPr/>
            </a:pPr>
            <a:r>
              <a:rPr lang="es-AR" dirty="0" smtClean="0"/>
              <a:t>Morfología de Mercado: COMPETENCIA PERFECTA</a:t>
            </a:r>
            <a:endParaRPr lang="es-AR" dirty="0"/>
          </a:p>
        </p:txBody>
      </p:sp>
      <p:sp>
        <p:nvSpPr>
          <p:cNvPr id="3" name="2 Marcador de contenido"/>
          <p:cNvSpPr>
            <a:spLocks noGrp="1"/>
          </p:cNvSpPr>
          <p:nvPr>
            <p:ph idx="1"/>
          </p:nvPr>
        </p:nvSpPr>
        <p:spPr/>
        <p:txBody>
          <a:bodyPr>
            <a:normAutofit fontScale="55000" lnSpcReduction="20000"/>
          </a:bodyPr>
          <a:lstStyle/>
          <a:p>
            <a:pPr algn="just">
              <a:defRPr/>
            </a:pPr>
            <a:r>
              <a:rPr lang="es-AR" b="1" dirty="0" smtClean="0"/>
              <a:t>Atomización de mercado</a:t>
            </a:r>
            <a:r>
              <a:rPr lang="es-AR" dirty="0" smtClean="0"/>
              <a:t>: esto significa la presencia de muchos compradores y vendedores, los suficientes como para  que ninguno tenga influencia alguna en la fijación de los precios. </a:t>
            </a:r>
          </a:p>
          <a:p>
            <a:pPr algn="just">
              <a:buFont typeface="Wingdings 3" pitchFamily="18" charset="2"/>
              <a:buNone/>
              <a:defRPr/>
            </a:pPr>
            <a:r>
              <a:rPr lang="es-AR" dirty="0" smtClean="0"/>
              <a:t> </a:t>
            </a:r>
          </a:p>
          <a:p>
            <a:pPr algn="just">
              <a:defRPr/>
            </a:pPr>
            <a:r>
              <a:rPr lang="es-AR" b="1" dirty="0" smtClean="0"/>
              <a:t>Homogeneidad del producto</a:t>
            </a:r>
            <a:r>
              <a:rPr lang="es-AR" dirty="0" smtClean="0"/>
              <a:t> que significa que los productos que ofrecen todos los oferentes son idénticos. Este concepto puede incluir otros tipos de homogeneidades como ser: </a:t>
            </a:r>
          </a:p>
          <a:p>
            <a:pPr algn="just">
              <a:buFont typeface="Wingdings 3" pitchFamily="18" charset="2"/>
              <a:buNone/>
              <a:defRPr/>
            </a:pPr>
            <a:r>
              <a:rPr lang="es-AR" i="1" dirty="0" smtClean="0"/>
              <a:t>Homogeneidad personal</a:t>
            </a:r>
            <a:r>
              <a:rPr lang="es-AR" dirty="0" smtClean="0"/>
              <a:t>: ningún comprador tiene preferencia por ningún vendedor en particular. </a:t>
            </a:r>
          </a:p>
          <a:p>
            <a:pPr algn="just">
              <a:buFont typeface="Wingdings 3" pitchFamily="18" charset="2"/>
              <a:buNone/>
              <a:defRPr/>
            </a:pPr>
            <a:r>
              <a:rPr lang="es-AR" dirty="0" smtClean="0"/>
              <a:t> </a:t>
            </a:r>
            <a:r>
              <a:rPr lang="es-AR" i="1" dirty="0" smtClean="0"/>
              <a:t>Homogeneidad espacial</a:t>
            </a:r>
            <a:r>
              <a:rPr lang="es-AR" dirty="0" smtClean="0"/>
              <a:t>; ningún comprador tiene preferencia por la procedencia o localización de ningún producto o vendedor en particular.</a:t>
            </a:r>
          </a:p>
          <a:p>
            <a:pPr algn="just">
              <a:buFont typeface="Wingdings 3" pitchFamily="18" charset="2"/>
              <a:buNone/>
              <a:defRPr/>
            </a:pPr>
            <a:r>
              <a:rPr lang="es-AR" i="1" dirty="0" smtClean="0"/>
              <a:t>Homogeneidad temporal</a:t>
            </a:r>
            <a:r>
              <a:rPr lang="es-AR" dirty="0" smtClean="0"/>
              <a:t>: las operaciones se realizan en forma instantánea.</a:t>
            </a:r>
          </a:p>
          <a:p>
            <a:pPr algn="just">
              <a:buFont typeface="Wingdings 3" pitchFamily="18" charset="2"/>
              <a:buNone/>
              <a:defRPr/>
            </a:pPr>
            <a:r>
              <a:rPr lang="es-AR" dirty="0" smtClean="0"/>
              <a:t> </a:t>
            </a:r>
          </a:p>
          <a:p>
            <a:pPr algn="just">
              <a:defRPr/>
            </a:pPr>
            <a:r>
              <a:rPr lang="es-AR" b="1" dirty="0" smtClean="0"/>
              <a:t>Libre acceso al mercado</a:t>
            </a:r>
            <a:r>
              <a:rPr lang="es-AR" dirty="0" smtClean="0"/>
              <a:t>, significa que todas las empresas y consumidores pueden ingresar o salir libremente del mercado sin que existan barreras significativas que así lo impidan. </a:t>
            </a:r>
          </a:p>
          <a:p>
            <a:pPr algn="just">
              <a:buFont typeface="Wingdings 3" pitchFamily="18" charset="2"/>
              <a:buNone/>
              <a:defRPr/>
            </a:pPr>
            <a:endParaRPr lang="es-AR" dirty="0" smtClean="0"/>
          </a:p>
          <a:p>
            <a:pPr algn="just">
              <a:defRPr/>
            </a:pPr>
            <a:r>
              <a:rPr lang="es-AR" b="1" dirty="0" smtClean="0"/>
              <a:t>Transparencia,</a:t>
            </a:r>
            <a:r>
              <a:rPr lang="es-AR" dirty="0" smtClean="0"/>
              <a:t> que comprende el hecho de que los consumidores están perfectamente informados de los productos que se venden en el mercado, sus características técnicas, precios, etc.</a:t>
            </a:r>
          </a:p>
          <a:p>
            <a:pPr algn="just">
              <a:buFont typeface="Wingdings 3" pitchFamily="18" charset="2"/>
              <a:buNone/>
              <a:defRPr/>
            </a:pPr>
            <a:endParaRPr lang="es-AR" dirty="0" smtClean="0"/>
          </a:p>
          <a:p>
            <a:pPr algn="just">
              <a:defRPr/>
            </a:pPr>
            <a:r>
              <a:rPr lang="es-AR" dirty="0" smtClean="0"/>
              <a:t> </a:t>
            </a:r>
            <a:r>
              <a:rPr lang="es-AR" b="1" dirty="0" smtClean="0"/>
              <a:t>Libre modalidad de los factores</a:t>
            </a:r>
            <a:r>
              <a:rPr lang="es-AR" dirty="0" smtClean="0"/>
              <a:t>, significa que los factores de la producción (mano de obra, capital, recursos naturales, tecnología, capacidad empresarial) pueden circular o trasladarse de una empresa a otra, de un sector a otro, sin que ninguno esté ligado contractualmente a ninguna entidad en particular. Estos cinco supuestos definen a la competencia perfecta como modelo de mercado ideal. Sin la presencia de todos ellos el modelo perfecto no tendría lugar.</a:t>
            </a:r>
          </a:p>
          <a:p>
            <a:pPr algn="just">
              <a:defRPr/>
            </a:pPr>
            <a:endParaRPr lang="es-AR" dirty="0"/>
          </a:p>
        </p:txBody>
      </p:sp>
    </p:spTree>
    <p:extLst>
      <p:ext uri="{BB962C8B-B14F-4D97-AF65-F5344CB8AC3E}">
        <p14:creationId xmlns:p14="http://schemas.microsoft.com/office/powerpoint/2010/main" val="614224900"/>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Competencia Perfecta: Características</a:t>
            </a:r>
            <a:endParaRPr lang="es-AR" dirty="0"/>
          </a:p>
        </p:txBody>
      </p:sp>
      <p:sp>
        <p:nvSpPr>
          <p:cNvPr id="3" name="2 Marcador de contenido"/>
          <p:cNvSpPr>
            <a:spLocks noGrp="1"/>
          </p:cNvSpPr>
          <p:nvPr>
            <p:ph idx="1"/>
          </p:nvPr>
        </p:nvSpPr>
        <p:spPr/>
        <p:txBody>
          <a:bodyPr/>
          <a:lstStyle/>
          <a:p>
            <a:pPr algn="just"/>
            <a:r>
              <a:rPr lang="es-AR" dirty="0" smtClean="0"/>
              <a:t>Este mercado se caracteriza porque ningún comprador o vendedor individual puede ejercer influencia alguna sobre el precio mediante sus compras o ventas individuales.</a:t>
            </a:r>
          </a:p>
          <a:p>
            <a:pPr algn="just"/>
            <a:r>
              <a:rPr lang="es-AR" dirty="0" smtClean="0"/>
              <a:t>Tanto empresarios como consumidores son precio aceptantes.</a:t>
            </a:r>
          </a:p>
          <a:p>
            <a:pPr algn="just"/>
            <a:r>
              <a:rPr lang="es-AR" dirty="0" smtClean="0"/>
              <a:t>No existe rivalidad entre los productores.</a:t>
            </a:r>
            <a:endParaRPr lang="es-AR" dirty="0"/>
          </a:p>
        </p:txBody>
      </p:sp>
    </p:spTree>
    <p:extLst>
      <p:ext uri="{BB962C8B-B14F-4D97-AF65-F5344CB8AC3E}">
        <p14:creationId xmlns:p14="http://schemas.microsoft.com/office/powerpoint/2010/main" val="196722742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Competencia Perfecta: Supuestos</a:t>
            </a:r>
            <a:endParaRPr lang="es-AR" dirty="0"/>
          </a:p>
        </p:txBody>
      </p:sp>
      <p:graphicFrame>
        <p:nvGraphicFramePr>
          <p:cNvPr id="5" name="4 Marcador de contenido"/>
          <p:cNvGraphicFramePr>
            <a:graphicFrameLocks noGrp="1"/>
          </p:cNvGraphicFramePr>
          <p:nvPr>
            <p:ph idx="1"/>
          </p:nvPr>
        </p:nvGraphicFramePr>
        <p:xfrm>
          <a:off x="457200" y="1935163"/>
          <a:ext cx="8229600" cy="4389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92309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Período de mercado o plazo inmediato:</a:t>
            </a:r>
            <a:endParaRPr lang="es-AR" dirty="0"/>
          </a:p>
        </p:txBody>
      </p:sp>
      <p:sp>
        <p:nvSpPr>
          <p:cNvPr id="3" name="2 Marcador de contenido"/>
          <p:cNvSpPr>
            <a:spLocks noGrp="1"/>
          </p:cNvSpPr>
          <p:nvPr>
            <p:ph idx="1"/>
          </p:nvPr>
        </p:nvSpPr>
        <p:spPr/>
        <p:txBody>
          <a:bodyPr>
            <a:normAutofit/>
          </a:bodyPr>
          <a:lstStyle/>
          <a:p>
            <a:pPr algn="just"/>
            <a:r>
              <a:rPr lang="es-AR" dirty="0" smtClean="0"/>
              <a:t>Es la situación en la cual no se dispone de ningún tiempo para que los oferentes de un producto puedan realizar ajustes.</a:t>
            </a:r>
          </a:p>
          <a:p>
            <a:pPr algn="just"/>
            <a:r>
              <a:rPr lang="es-AR" dirty="0" smtClean="0"/>
              <a:t>Industria: Conjunto de empresas que producen un bien homogéneo.</a:t>
            </a:r>
          </a:p>
          <a:p>
            <a:pPr algn="just"/>
            <a:r>
              <a:rPr lang="es-AR" dirty="0" smtClean="0"/>
              <a:t>La oferta de la industria en este período de tiempo es perfectamente inelástica o vertical.</a:t>
            </a:r>
          </a:p>
          <a:p>
            <a:pPr algn="just"/>
            <a:r>
              <a:rPr lang="es-AR" dirty="0" smtClean="0"/>
              <a:t>El precio cumple una función de racionamiento, no se relaciona con costos de producción.</a:t>
            </a:r>
            <a:endParaRPr lang="es-AR" dirty="0"/>
          </a:p>
        </p:txBody>
      </p:sp>
    </p:spTree>
    <p:extLst>
      <p:ext uri="{BB962C8B-B14F-4D97-AF65-F5344CB8AC3E}">
        <p14:creationId xmlns:p14="http://schemas.microsoft.com/office/powerpoint/2010/main" val="294391758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Período de mercado o plazo inmediato:</a:t>
            </a:r>
            <a:endParaRPr lang="es-AR" dirty="0"/>
          </a:p>
        </p:txBody>
      </p:sp>
      <p:pic>
        <p:nvPicPr>
          <p:cNvPr id="1026" name="Picture 2"/>
          <p:cNvPicPr>
            <a:picLocks noGrp="1" noChangeAspect="1" noChangeArrowheads="1"/>
          </p:cNvPicPr>
          <p:nvPr>
            <p:ph idx="1"/>
          </p:nvPr>
        </p:nvPicPr>
        <p:blipFill>
          <a:blip r:embed="rId3"/>
          <a:stretch>
            <a:fillRect/>
          </a:stretch>
        </p:blipFill>
        <p:spPr bwMode="auto">
          <a:xfrm>
            <a:off x="1648763" y="1935163"/>
            <a:ext cx="5846473" cy="4389437"/>
          </a:xfrm>
          <a:prstGeom prst="rect">
            <a:avLst/>
          </a:prstGeom>
          <a:noFill/>
          <a:ln w="9525">
            <a:noFill/>
            <a:miter lim="800000"/>
            <a:headEnd/>
            <a:tailEnd/>
          </a:ln>
          <a:effectLst/>
        </p:spPr>
      </p:pic>
    </p:spTree>
    <p:extLst>
      <p:ext uri="{BB962C8B-B14F-4D97-AF65-F5344CB8AC3E}">
        <p14:creationId xmlns:p14="http://schemas.microsoft.com/office/powerpoint/2010/main" val="58008338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Demanda de mercado y demanda individual.</a:t>
            </a:r>
            <a:endParaRPr lang="es-AR" dirty="0"/>
          </a:p>
        </p:txBody>
      </p:sp>
      <p:pic>
        <p:nvPicPr>
          <p:cNvPr id="2050" name="Picture 2"/>
          <p:cNvPicPr>
            <a:picLocks noGrp="1" noChangeAspect="1" noChangeArrowheads="1"/>
          </p:cNvPicPr>
          <p:nvPr>
            <p:ph idx="1"/>
          </p:nvPr>
        </p:nvPicPr>
        <p:blipFill>
          <a:blip r:embed="rId2"/>
          <a:stretch>
            <a:fillRect/>
          </a:stretch>
        </p:blipFill>
        <p:spPr bwMode="auto">
          <a:xfrm>
            <a:off x="2262187" y="3044031"/>
            <a:ext cx="4619625" cy="2171700"/>
          </a:xfrm>
          <a:prstGeom prst="rect">
            <a:avLst/>
          </a:prstGeom>
          <a:noFill/>
          <a:ln w="9525">
            <a:noFill/>
            <a:miter lim="800000"/>
            <a:headEnd/>
            <a:tailEnd/>
          </a:ln>
          <a:effectLst/>
        </p:spPr>
      </p:pic>
    </p:spTree>
    <p:extLst>
      <p:ext uri="{BB962C8B-B14F-4D97-AF65-F5344CB8AC3E}">
        <p14:creationId xmlns:p14="http://schemas.microsoft.com/office/powerpoint/2010/main" val="409804878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Demanda a la cual se enfrenta el competidor perfecto:</a:t>
            </a:r>
            <a:endParaRPr lang="es-AR" dirty="0"/>
          </a:p>
        </p:txBody>
      </p:sp>
      <p:sp>
        <p:nvSpPr>
          <p:cNvPr id="3" name="2 Marcador de contenido"/>
          <p:cNvSpPr>
            <a:spLocks noGrp="1"/>
          </p:cNvSpPr>
          <p:nvPr>
            <p:ph idx="1"/>
          </p:nvPr>
        </p:nvSpPr>
        <p:spPr/>
        <p:txBody>
          <a:bodyPr/>
          <a:lstStyle/>
          <a:p>
            <a:pPr algn="just"/>
            <a:r>
              <a:rPr lang="es-AR" dirty="0" smtClean="0"/>
              <a:t>Es perfectamente elástica ya que la empresa perderá todas sus ventas si intenta cobrar un precio superior que el precio de mercado por su producto.</a:t>
            </a:r>
          </a:p>
          <a:p>
            <a:pPr algn="just"/>
            <a:r>
              <a:rPr lang="es-AR" dirty="0" smtClean="0"/>
              <a:t>Tampoco podrá cobrar un precio inferior al de mercado ya que esto no le permitiría maximizar su nivel de ganancias.</a:t>
            </a:r>
          </a:p>
          <a:p>
            <a:pPr>
              <a:buNone/>
            </a:pPr>
            <a:endParaRPr lang="es-AR" dirty="0"/>
          </a:p>
        </p:txBody>
      </p:sp>
    </p:spTree>
    <p:extLst>
      <p:ext uri="{BB962C8B-B14F-4D97-AF65-F5344CB8AC3E}">
        <p14:creationId xmlns:p14="http://schemas.microsoft.com/office/powerpoint/2010/main" val="257208644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Flujos financieros del competidor perfecto:</a:t>
            </a:r>
            <a:endParaRPr lang="es-AR" dirty="0"/>
          </a:p>
        </p:txBody>
      </p:sp>
      <p:sp>
        <p:nvSpPr>
          <p:cNvPr id="3" name="2 Marcador de contenido"/>
          <p:cNvSpPr>
            <a:spLocks noGrp="1"/>
          </p:cNvSpPr>
          <p:nvPr>
            <p:ph idx="1"/>
          </p:nvPr>
        </p:nvSpPr>
        <p:spPr/>
        <p:txBody>
          <a:bodyPr/>
          <a:lstStyle/>
          <a:p>
            <a:pPr algn="just"/>
            <a:r>
              <a:rPr lang="es-AR" dirty="0" smtClean="0"/>
              <a:t>Ingreso marginal: Variación experimentada en el ingreso total debido a un cambio unitario en las ventas.</a:t>
            </a:r>
          </a:p>
          <a:p>
            <a:pPr algn="just"/>
            <a:r>
              <a:rPr lang="es-AR" dirty="0" smtClean="0"/>
              <a:t>Ingreso Medio: es la cantidad de ingreso generada por unidad de producto vendido.</a:t>
            </a:r>
          </a:p>
          <a:p>
            <a:pPr algn="just"/>
            <a:r>
              <a:rPr lang="es-AR" dirty="0" smtClean="0"/>
              <a:t>Ingreso Total: cantidad de recursos que percibe la empresa como consecuencia del ejercicio de su actividad principal.</a:t>
            </a:r>
            <a:endParaRPr lang="es-AR" dirty="0"/>
          </a:p>
        </p:txBody>
      </p:sp>
    </p:spTree>
    <p:extLst>
      <p:ext uri="{BB962C8B-B14F-4D97-AF65-F5344CB8AC3E}">
        <p14:creationId xmlns:p14="http://schemas.microsoft.com/office/powerpoint/2010/main" val="99847336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Maximización de beneficios: Enfoque IT-CT</a:t>
            </a:r>
            <a:endParaRPr lang="es-AR" dirty="0"/>
          </a:p>
        </p:txBody>
      </p:sp>
      <p:pic>
        <p:nvPicPr>
          <p:cNvPr id="3075" name="Picture 3"/>
          <p:cNvPicPr>
            <a:picLocks noGrp="1" noChangeAspect="1" noChangeArrowheads="1"/>
          </p:cNvPicPr>
          <p:nvPr>
            <p:ph idx="1"/>
          </p:nvPr>
        </p:nvPicPr>
        <p:blipFill>
          <a:blip r:embed="rId2"/>
          <a:stretch>
            <a:fillRect/>
          </a:stretch>
        </p:blipFill>
        <p:spPr bwMode="auto">
          <a:xfrm>
            <a:off x="785786" y="1785926"/>
            <a:ext cx="7358113" cy="4643470"/>
          </a:xfrm>
          <a:prstGeom prst="rect">
            <a:avLst/>
          </a:prstGeom>
          <a:noFill/>
          <a:ln w="9525">
            <a:noFill/>
            <a:miter lim="800000"/>
            <a:headEnd/>
            <a:tailEnd/>
          </a:ln>
          <a:effectLst/>
        </p:spPr>
      </p:pic>
    </p:spTree>
    <p:extLst>
      <p:ext uri="{BB962C8B-B14F-4D97-AF65-F5344CB8AC3E}">
        <p14:creationId xmlns:p14="http://schemas.microsoft.com/office/powerpoint/2010/main" val="275895139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Maximización de beneficios: Enfoque </a:t>
            </a:r>
            <a:r>
              <a:rPr lang="es-AR" dirty="0" err="1" smtClean="0"/>
              <a:t>Img</a:t>
            </a:r>
            <a:r>
              <a:rPr lang="es-AR" dirty="0" smtClean="0"/>
              <a:t>=</a:t>
            </a:r>
            <a:r>
              <a:rPr lang="es-AR" dirty="0" err="1" smtClean="0"/>
              <a:t>Cmg</a:t>
            </a:r>
            <a:endParaRPr lang="es-AR" dirty="0"/>
          </a:p>
        </p:txBody>
      </p:sp>
      <p:pic>
        <p:nvPicPr>
          <p:cNvPr id="4098" name="Picture 2"/>
          <p:cNvPicPr>
            <a:picLocks noGrp="1" noChangeAspect="1" noChangeArrowheads="1"/>
          </p:cNvPicPr>
          <p:nvPr>
            <p:ph idx="1"/>
          </p:nvPr>
        </p:nvPicPr>
        <p:blipFill>
          <a:blip r:embed="rId2"/>
          <a:srcRect/>
          <a:stretch>
            <a:fillRect/>
          </a:stretch>
        </p:blipFill>
        <p:spPr bwMode="auto">
          <a:xfrm>
            <a:off x="714348" y="1829594"/>
            <a:ext cx="6929486" cy="4067175"/>
          </a:xfrm>
          <a:prstGeom prst="rect">
            <a:avLst/>
          </a:prstGeom>
          <a:noFill/>
          <a:ln w="9525">
            <a:noFill/>
            <a:miter lim="800000"/>
            <a:headEnd/>
            <a:tailEnd/>
          </a:ln>
          <a:effectLst/>
        </p:spPr>
      </p:pic>
    </p:spTree>
    <p:extLst>
      <p:ext uri="{BB962C8B-B14F-4D97-AF65-F5344CB8AC3E}">
        <p14:creationId xmlns:p14="http://schemas.microsoft.com/office/powerpoint/2010/main" val="214629272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Nivel Óptimo de Producción:</a:t>
            </a:r>
            <a:endParaRPr lang="es-AR" dirty="0"/>
          </a:p>
        </p:txBody>
      </p:sp>
      <p:pic>
        <p:nvPicPr>
          <p:cNvPr id="5122" name="Picture 2"/>
          <p:cNvPicPr>
            <a:picLocks noGrp="1" noChangeAspect="1" noChangeArrowheads="1"/>
          </p:cNvPicPr>
          <p:nvPr>
            <p:ph idx="1"/>
          </p:nvPr>
        </p:nvPicPr>
        <p:blipFill>
          <a:blip r:embed="rId2"/>
          <a:stretch>
            <a:fillRect/>
          </a:stretch>
        </p:blipFill>
        <p:spPr bwMode="auto">
          <a:xfrm>
            <a:off x="642910" y="1857364"/>
            <a:ext cx="7786742" cy="4643470"/>
          </a:xfrm>
          <a:prstGeom prst="rect">
            <a:avLst/>
          </a:prstGeom>
          <a:noFill/>
          <a:ln w="9525">
            <a:noFill/>
            <a:miter lim="800000"/>
            <a:headEnd/>
            <a:tailEnd/>
          </a:ln>
          <a:effectLst/>
        </p:spPr>
      </p:pic>
    </p:spTree>
    <p:extLst>
      <p:ext uri="{BB962C8B-B14F-4D97-AF65-F5344CB8AC3E}">
        <p14:creationId xmlns:p14="http://schemas.microsoft.com/office/powerpoint/2010/main" val="132521152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Ganancias Normales:</a:t>
            </a:r>
            <a:endParaRPr lang="es-AR" dirty="0"/>
          </a:p>
        </p:txBody>
      </p:sp>
      <p:pic>
        <p:nvPicPr>
          <p:cNvPr id="6146" name="Picture 2"/>
          <p:cNvPicPr>
            <a:picLocks noGrp="1" noChangeAspect="1" noChangeArrowheads="1"/>
          </p:cNvPicPr>
          <p:nvPr>
            <p:ph idx="1"/>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extLst>
      <p:ext uri="{BB962C8B-B14F-4D97-AF65-F5344CB8AC3E}">
        <p14:creationId xmlns:p14="http://schemas.microsoft.com/office/powerpoint/2010/main" val="69055687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pic>
        <p:nvPicPr>
          <p:cNvPr id="7170" name="Picture 2"/>
          <p:cNvPicPr>
            <a:picLocks noGrp="1" noChangeAspect="1" noChangeArrowheads="1"/>
          </p:cNvPicPr>
          <p:nvPr>
            <p:ph idx="1"/>
          </p:nvPr>
        </p:nvPicPr>
        <p:blipFill>
          <a:blip r:embed="rId2"/>
          <a:srcRect/>
          <a:stretch>
            <a:fillRect/>
          </a:stretch>
        </p:blipFill>
        <p:spPr bwMode="auto">
          <a:xfrm>
            <a:off x="0" y="285728"/>
            <a:ext cx="9144000" cy="6572272"/>
          </a:xfrm>
          <a:prstGeom prst="rect">
            <a:avLst/>
          </a:prstGeom>
          <a:noFill/>
          <a:ln w="9525">
            <a:noFill/>
            <a:miter lim="800000"/>
            <a:headEnd/>
            <a:tailEnd/>
          </a:ln>
          <a:effectLst/>
        </p:spPr>
      </p:pic>
    </p:spTree>
    <p:extLst>
      <p:ext uri="{BB962C8B-B14F-4D97-AF65-F5344CB8AC3E}">
        <p14:creationId xmlns:p14="http://schemas.microsoft.com/office/powerpoint/2010/main" val="295387035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pic>
        <p:nvPicPr>
          <p:cNvPr id="8194" name="Picture 2"/>
          <p:cNvPicPr>
            <a:picLocks noGrp="1" noChangeAspect="1" noChangeArrowheads="1"/>
          </p:cNvPicPr>
          <p:nvPr>
            <p:ph idx="1"/>
          </p:nvPr>
        </p:nvPicPr>
        <p:blipFill>
          <a:blip r:embed="rId2"/>
          <a:srcRect/>
          <a:stretch>
            <a:fillRect/>
          </a:stretch>
        </p:blipFill>
        <p:spPr bwMode="auto">
          <a:xfrm>
            <a:off x="357158" y="285728"/>
            <a:ext cx="8786841" cy="6215106"/>
          </a:xfrm>
          <a:prstGeom prst="rect">
            <a:avLst/>
          </a:prstGeom>
          <a:noFill/>
          <a:ln w="9525">
            <a:noFill/>
            <a:miter lim="800000"/>
            <a:headEnd/>
            <a:tailEnd/>
          </a:ln>
          <a:effectLst/>
        </p:spPr>
      </p:pic>
    </p:spTree>
    <p:extLst>
      <p:ext uri="{BB962C8B-B14F-4D97-AF65-F5344CB8AC3E}">
        <p14:creationId xmlns:p14="http://schemas.microsoft.com/office/powerpoint/2010/main" val="89501703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Beneficios súper normales:</a:t>
            </a:r>
            <a:endParaRPr lang="es-AR" dirty="0"/>
          </a:p>
        </p:txBody>
      </p:sp>
      <p:pic>
        <p:nvPicPr>
          <p:cNvPr id="9218" name="Picture 2"/>
          <p:cNvPicPr>
            <a:picLocks noGrp="1" noChangeAspect="1" noChangeArrowheads="1"/>
          </p:cNvPicPr>
          <p:nvPr>
            <p:ph idx="1"/>
          </p:nvPr>
        </p:nvPicPr>
        <p:blipFill>
          <a:blip r:embed="rId2"/>
          <a:stretch>
            <a:fillRect/>
          </a:stretch>
        </p:blipFill>
        <p:spPr bwMode="auto">
          <a:xfrm>
            <a:off x="1214415" y="1928802"/>
            <a:ext cx="6643734" cy="4572031"/>
          </a:xfrm>
          <a:prstGeom prst="rect">
            <a:avLst/>
          </a:prstGeom>
          <a:noFill/>
          <a:ln w="9525">
            <a:noFill/>
            <a:miter lim="800000"/>
            <a:headEnd/>
            <a:tailEnd/>
          </a:ln>
          <a:effectLst/>
        </p:spPr>
      </p:pic>
    </p:spTree>
    <p:extLst>
      <p:ext uri="{BB962C8B-B14F-4D97-AF65-F5344CB8AC3E}">
        <p14:creationId xmlns:p14="http://schemas.microsoft.com/office/powerpoint/2010/main" val="313745064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Curva de Oferta </a:t>
            </a:r>
            <a:endParaRPr lang="es-AR" dirty="0"/>
          </a:p>
        </p:txBody>
      </p:sp>
      <p:pic>
        <p:nvPicPr>
          <p:cNvPr id="10242" name="Picture 2"/>
          <p:cNvPicPr>
            <a:picLocks noGrp="1" noChangeAspect="1" noChangeArrowheads="1"/>
          </p:cNvPicPr>
          <p:nvPr>
            <p:ph idx="1"/>
          </p:nvPr>
        </p:nvPicPr>
        <p:blipFill>
          <a:blip r:embed="rId2"/>
          <a:stretch>
            <a:fillRect/>
          </a:stretch>
        </p:blipFill>
        <p:spPr bwMode="auto">
          <a:xfrm>
            <a:off x="1357291" y="2143116"/>
            <a:ext cx="6572296" cy="4714884"/>
          </a:xfrm>
          <a:prstGeom prst="rect">
            <a:avLst/>
          </a:prstGeom>
          <a:noFill/>
          <a:ln w="9525">
            <a:noFill/>
            <a:miter lim="800000"/>
            <a:headEnd/>
            <a:tailEnd/>
          </a:ln>
          <a:effectLst/>
        </p:spPr>
      </p:pic>
    </p:spTree>
    <p:extLst>
      <p:ext uri="{BB962C8B-B14F-4D97-AF65-F5344CB8AC3E}">
        <p14:creationId xmlns:p14="http://schemas.microsoft.com/office/powerpoint/2010/main" val="349354037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Equilibrio a largo plazo para una empresa competitiva:</a:t>
            </a:r>
            <a:endParaRPr lang="es-AR" dirty="0"/>
          </a:p>
        </p:txBody>
      </p:sp>
      <p:pic>
        <p:nvPicPr>
          <p:cNvPr id="14338" name="Picture 2"/>
          <p:cNvPicPr>
            <a:picLocks noGrp="1" noChangeAspect="1" noChangeArrowheads="1"/>
          </p:cNvPicPr>
          <p:nvPr>
            <p:ph idx="1"/>
          </p:nvPr>
        </p:nvPicPr>
        <p:blipFill>
          <a:blip r:embed="rId2"/>
          <a:stretch>
            <a:fillRect/>
          </a:stretch>
        </p:blipFill>
        <p:spPr bwMode="auto">
          <a:xfrm>
            <a:off x="0" y="1935163"/>
            <a:ext cx="8572528" cy="4389437"/>
          </a:xfrm>
          <a:prstGeom prst="rect">
            <a:avLst/>
          </a:prstGeom>
          <a:noFill/>
          <a:ln w="9525">
            <a:noFill/>
            <a:miter lim="800000"/>
            <a:headEnd/>
            <a:tailEnd/>
          </a:ln>
          <a:effectLst/>
        </p:spPr>
      </p:pic>
    </p:spTree>
    <p:extLst>
      <p:ext uri="{BB962C8B-B14F-4D97-AF65-F5344CB8AC3E}">
        <p14:creationId xmlns:p14="http://schemas.microsoft.com/office/powerpoint/2010/main" val="346990387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pic>
        <p:nvPicPr>
          <p:cNvPr id="11266" name="Picture 2"/>
          <p:cNvPicPr>
            <a:picLocks noGrp="1" noChangeAspect="1" noChangeArrowheads="1"/>
          </p:cNvPicPr>
          <p:nvPr>
            <p:ph idx="1"/>
          </p:nvPr>
        </p:nvPicPr>
        <p:blipFill>
          <a:blip r:embed="rId2"/>
          <a:srcRect/>
          <a:stretch>
            <a:fillRect/>
          </a:stretch>
        </p:blipFill>
        <p:spPr bwMode="auto">
          <a:xfrm>
            <a:off x="0" y="0"/>
            <a:ext cx="8786842" cy="6858000"/>
          </a:xfrm>
          <a:prstGeom prst="rect">
            <a:avLst/>
          </a:prstGeom>
          <a:noFill/>
          <a:ln w="9525">
            <a:noFill/>
            <a:miter lim="800000"/>
            <a:headEnd/>
            <a:tailEnd/>
          </a:ln>
          <a:effectLst/>
        </p:spPr>
      </p:pic>
    </p:spTree>
    <p:extLst>
      <p:ext uri="{BB962C8B-B14F-4D97-AF65-F5344CB8AC3E}">
        <p14:creationId xmlns:p14="http://schemas.microsoft.com/office/powerpoint/2010/main" val="317892287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pic>
        <p:nvPicPr>
          <p:cNvPr id="12290" name="Picture 2"/>
          <p:cNvPicPr>
            <a:picLocks noGrp="1" noChangeAspect="1" noChangeArrowheads="1"/>
          </p:cNvPicPr>
          <p:nvPr>
            <p:ph idx="1"/>
          </p:nvPr>
        </p:nvPicPr>
        <p:blipFill>
          <a:blip r:embed="rId2"/>
          <a:srcRect/>
          <a:stretch>
            <a:fillRect/>
          </a:stretch>
        </p:blipFill>
        <p:spPr bwMode="auto">
          <a:xfrm>
            <a:off x="1" y="357166"/>
            <a:ext cx="8858280" cy="6500834"/>
          </a:xfrm>
          <a:prstGeom prst="rect">
            <a:avLst/>
          </a:prstGeom>
          <a:noFill/>
          <a:ln w="9525">
            <a:noFill/>
            <a:miter lim="800000"/>
            <a:headEnd/>
            <a:tailEnd/>
          </a:ln>
          <a:effectLst/>
        </p:spPr>
      </p:pic>
    </p:spTree>
    <p:extLst>
      <p:ext uri="{BB962C8B-B14F-4D97-AF65-F5344CB8AC3E}">
        <p14:creationId xmlns:p14="http://schemas.microsoft.com/office/powerpoint/2010/main" val="241236325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pic>
        <p:nvPicPr>
          <p:cNvPr id="15362" name="Picture 2"/>
          <p:cNvPicPr>
            <a:picLocks noGrp="1" noChangeAspect="1" noChangeArrowheads="1"/>
          </p:cNvPicPr>
          <p:nvPr>
            <p:ph idx="1"/>
          </p:nvPr>
        </p:nvPicPr>
        <p:blipFill>
          <a:blip r:embed="rId2"/>
          <a:srcRect/>
          <a:stretch>
            <a:fillRect/>
          </a:stretch>
        </p:blipFill>
        <p:spPr bwMode="auto">
          <a:xfrm>
            <a:off x="285721" y="0"/>
            <a:ext cx="8572560" cy="6429396"/>
          </a:xfrm>
          <a:prstGeom prst="rect">
            <a:avLst/>
          </a:prstGeom>
          <a:noFill/>
          <a:ln w="9525">
            <a:noFill/>
            <a:miter lim="800000"/>
            <a:headEnd/>
            <a:tailEnd/>
          </a:ln>
          <a:effectLst/>
        </p:spPr>
      </p:pic>
      <p:sp>
        <p:nvSpPr>
          <p:cNvPr id="5" name="4 Rectángulo"/>
          <p:cNvSpPr/>
          <p:nvPr/>
        </p:nvSpPr>
        <p:spPr>
          <a:xfrm>
            <a:off x="357158" y="6072206"/>
            <a:ext cx="4286280"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err="1" smtClean="0"/>
              <a:t>Cme</a:t>
            </a:r>
            <a:r>
              <a:rPr lang="es-AR" dirty="0" smtClean="0"/>
              <a:t> LP</a:t>
            </a:r>
            <a:endParaRPr lang="es-AR" dirty="0"/>
          </a:p>
        </p:txBody>
      </p:sp>
    </p:spTree>
    <p:extLst>
      <p:ext uri="{BB962C8B-B14F-4D97-AF65-F5344CB8AC3E}">
        <p14:creationId xmlns:p14="http://schemas.microsoft.com/office/powerpoint/2010/main" val="137902288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Equilibrio a Largo Plazo:</a:t>
            </a:r>
            <a:endParaRPr lang="es-AR" dirty="0"/>
          </a:p>
        </p:txBody>
      </p:sp>
      <p:pic>
        <p:nvPicPr>
          <p:cNvPr id="13314" name="Picture 2"/>
          <p:cNvPicPr>
            <a:picLocks noGrp="1" noChangeAspect="1" noChangeArrowheads="1"/>
          </p:cNvPicPr>
          <p:nvPr>
            <p:ph idx="1"/>
          </p:nvPr>
        </p:nvPicPr>
        <p:blipFill>
          <a:blip r:embed="rId2"/>
          <a:stretch>
            <a:fillRect/>
          </a:stretch>
        </p:blipFill>
        <p:spPr bwMode="auto">
          <a:xfrm>
            <a:off x="1285852" y="2071678"/>
            <a:ext cx="6643734" cy="3786213"/>
          </a:xfrm>
          <a:prstGeom prst="rect">
            <a:avLst/>
          </a:prstGeom>
          <a:noFill/>
          <a:ln w="9525">
            <a:noFill/>
            <a:miter lim="800000"/>
            <a:headEnd/>
            <a:tailEnd/>
          </a:ln>
          <a:effectLst/>
        </p:spPr>
      </p:pic>
    </p:spTree>
    <p:extLst>
      <p:ext uri="{BB962C8B-B14F-4D97-AF65-F5344CB8AC3E}">
        <p14:creationId xmlns:p14="http://schemas.microsoft.com/office/powerpoint/2010/main" val="60561144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Ejercicios de Aplicación: Complete las columnas faltantes.</a:t>
            </a:r>
            <a:endParaRPr lang="es-AR" dirty="0"/>
          </a:p>
        </p:txBody>
      </p:sp>
      <p:pic>
        <p:nvPicPr>
          <p:cNvPr id="16388" name="Picture 4"/>
          <p:cNvPicPr>
            <a:picLocks noGrp="1" noChangeAspect="1" noChangeArrowheads="1"/>
          </p:cNvPicPr>
          <p:nvPr>
            <p:ph idx="1"/>
          </p:nvPr>
        </p:nvPicPr>
        <p:blipFill>
          <a:blip r:embed="rId2"/>
          <a:stretch>
            <a:fillRect/>
          </a:stretch>
        </p:blipFill>
        <p:spPr bwMode="auto">
          <a:xfrm>
            <a:off x="0" y="428604"/>
            <a:ext cx="9144000" cy="6215106"/>
          </a:xfrm>
          <a:prstGeom prst="rect">
            <a:avLst/>
          </a:prstGeom>
          <a:noFill/>
          <a:ln w="9525">
            <a:noFill/>
            <a:miter lim="800000"/>
            <a:headEnd/>
            <a:tailEnd/>
          </a:ln>
          <a:effectLst/>
        </p:spPr>
      </p:pic>
    </p:spTree>
    <p:extLst>
      <p:ext uri="{BB962C8B-B14F-4D97-AF65-F5344CB8AC3E}">
        <p14:creationId xmlns:p14="http://schemas.microsoft.com/office/powerpoint/2010/main" val="241957936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Solución:</a:t>
            </a:r>
            <a:endParaRPr lang="es-AR" dirty="0"/>
          </a:p>
        </p:txBody>
      </p:sp>
      <p:sp>
        <p:nvSpPr>
          <p:cNvPr id="3" name="2 Marcador de contenido"/>
          <p:cNvSpPr>
            <a:spLocks noGrp="1"/>
          </p:cNvSpPr>
          <p:nvPr>
            <p:ph idx="1"/>
          </p:nvPr>
        </p:nvSpPr>
        <p:spPr/>
        <p:txBody>
          <a:bodyPr/>
          <a:lstStyle/>
          <a:p>
            <a:r>
              <a:rPr lang="es-AR" dirty="0" smtClean="0"/>
              <a:t>*</a:t>
            </a:r>
            <a:endParaRPr lang="es-AR" dirty="0"/>
          </a:p>
        </p:txBody>
      </p:sp>
      <p:graphicFrame>
        <p:nvGraphicFramePr>
          <p:cNvPr id="53250" name="Object 2"/>
          <p:cNvGraphicFramePr>
            <a:graphicFrameLocks noChangeAspect="1"/>
          </p:cNvGraphicFramePr>
          <p:nvPr/>
        </p:nvGraphicFramePr>
        <p:xfrm>
          <a:off x="357158" y="0"/>
          <a:ext cx="8501122" cy="6858000"/>
        </p:xfrm>
        <a:graphic>
          <a:graphicData uri="http://schemas.openxmlformats.org/presentationml/2006/ole">
            <mc:AlternateContent xmlns:mc="http://schemas.openxmlformats.org/markup-compatibility/2006">
              <mc:Choice xmlns:v="urn:schemas-microsoft-com:vml" Requires="v">
                <p:oleObj spid="_x0000_s3083" name="Hoja de cálculo" r:id="rId3" imgW="8391449" imgH="3248076" progId="Excel.Sheet.12">
                  <p:embed/>
                </p:oleObj>
              </mc:Choice>
              <mc:Fallback>
                <p:oleObj name="Hoja de cálculo" r:id="rId3" imgW="8391449" imgH="3248076" progId="Excel.Sheet.12">
                  <p:embed/>
                  <p:pic>
                    <p:nvPicPr>
                      <p:cNvPr id="5325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158" y="0"/>
                        <a:ext cx="8501122"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74499643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AR" dirty="0" smtClean="0"/>
              <a:t>MONOPOLIO</a:t>
            </a:r>
            <a:endParaRPr lang="es-AR" dirty="0"/>
          </a:p>
        </p:txBody>
      </p:sp>
      <p:sp>
        <p:nvSpPr>
          <p:cNvPr id="3" name="2 Marcador de contenido"/>
          <p:cNvSpPr>
            <a:spLocks noGrp="1"/>
          </p:cNvSpPr>
          <p:nvPr>
            <p:ph idx="1"/>
          </p:nvPr>
        </p:nvSpPr>
        <p:spPr/>
        <p:txBody>
          <a:bodyPr>
            <a:normAutofit fontScale="55000" lnSpcReduction="20000"/>
          </a:bodyPr>
          <a:lstStyle/>
          <a:p>
            <a:pPr algn="just">
              <a:defRPr/>
            </a:pPr>
            <a:r>
              <a:rPr lang="es-AR" dirty="0" smtClean="0"/>
              <a:t>El monopolio es un modelo de mercado de competencia imperfecta que se caracteriza por la presencia de un solo vendedor que ofrece su producto único a todos los consumidores. Las economías domésticas tienen que optar entre adquirir el producto a esta sola empresa cuyo precio lo fija de manera unilateral o prescindir de él. </a:t>
            </a:r>
          </a:p>
          <a:p>
            <a:pPr algn="just">
              <a:defRPr/>
            </a:pPr>
            <a:endParaRPr lang="es-AR" dirty="0" smtClean="0"/>
          </a:p>
          <a:p>
            <a:pPr algn="just">
              <a:defRPr/>
            </a:pPr>
            <a:r>
              <a:rPr lang="es-AR" dirty="0" smtClean="0"/>
              <a:t>La empresa monopolista tiene todo el poder de fijar el precio del bien o servicio que ofrece, y opera generalmente en niveles de producción que le aseguren la obtención de beneficios extraordinarios. Toda empresa que desee ingresar al mercado tendrá su acceso bloqueado, ya sea por barreras o impedimentos legales, tecnológicos, financieros, etc. </a:t>
            </a:r>
          </a:p>
          <a:p>
            <a:pPr algn="just">
              <a:defRPr/>
            </a:pPr>
            <a:endParaRPr lang="es-AR" dirty="0" smtClean="0"/>
          </a:p>
          <a:p>
            <a:pPr algn="just">
              <a:defRPr/>
            </a:pPr>
            <a:r>
              <a:rPr lang="es-AR" dirty="0" smtClean="0"/>
              <a:t>En el corto plazo no existe posibilidad de que ingresen nuevas empresas al mercado por lo que la empresa monopolista define precios y cantidades en función de sus propios intereses. La publicidad no tiene sentido, y cuando se la realiza es al solo efecto de fines institucionales.</a:t>
            </a:r>
          </a:p>
          <a:p>
            <a:pPr algn="just">
              <a:defRPr/>
            </a:pPr>
            <a:r>
              <a:rPr lang="es-AR" dirty="0" smtClean="0"/>
              <a:t>El </a:t>
            </a:r>
            <a:r>
              <a:rPr lang="es-AR" b="1" dirty="0" smtClean="0"/>
              <a:t>origen</a:t>
            </a:r>
            <a:r>
              <a:rPr lang="es-AR" dirty="0" smtClean="0"/>
              <a:t> del monopolio es diverso. Puede existir una única empresa oferente porque:</a:t>
            </a:r>
          </a:p>
          <a:p>
            <a:pPr algn="just">
              <a:buFont typeface="Wingdings 3" pitchFamily="18" charset="2"/>
              <a:buNone/>
              <a:defRPr/>
            </a:pPr>
            <a:r>
              <a:rPr lang="es-AR" dirty="0" smtClean="0"/>
              <a:t> </a:t>
            </a:r>
          </a:p>
          <a:p>
            <a:pPr algn="just">
              <a:defRPr/>
            </a:pPr>
            <a:r>
              <a:rPr lang="es-AR" dirty="0" smtClean="0"/>
              <a:t>El Estado a través de una ley así lo dispone (monopolio legal). </a:t>
            </a:r>
          </a:p>
          <a:p>
            <a:pPr algn="just">
              <a:buFont typeface="Wingdings 3" pitchFamily="18" charset="2"/>
              <a:buNone/>
              <a:defRPr/>
            </a:pPr>
            <a:r>
              <a:rPr lang="es-AR" dirty="0" smtClean="0"/>
              <a:t> </a:t>
            </a:r>
          </a:p>
          <a:p>
            <a:pPr algn="just">
              <a:defRPr/>
            </a:pPr>
            <a:r>
              <a:rPr lang="es-AR" dirty="0" smtClean="0"/>
              <a:t>La empresa monopolista es la única propietaria del insumo que permite su producción (monopolio natural).</a:t>
            </a:r>
          </a:p>
          <a:p>
            <a:pPr algn="just">
              <a:defRPr/>
            </a:pPr>
            <a:endParaRPr lang="es-AR" dirty="0" smtClean="0"/>
          </a:p>
          <a:p>
            <a:pPr algn="just">
              <a:defRPr/>
            </a:pPr>
            <a:r>
              <a:rPr lang="es-AR" dirty="0" smtClean="0"/>
              <a:t>La cantidad de consumidores es tan reducida que sólo permite la existencia de una sola empresa oferente.</a:t>
            </a:r>
          </a:p>
          <a:p>
            <a:pPr>
              <a:defRPr/>
            </a:pPr>
            <a:endParaRPr lang="es-AR" dirty="0"/>
          </a:p>
        </p:txBody>
      </p:sp>
    </p:spTree>
    <p:extLst>
      <p:ext uri="{BB962C8B-B14F-4D97-AF65-F5344CB8AC3E}">
        <p14:creationId xmlns:p14="http://schemas.microsoft.com/office/powerpoint/2010/main" val="2766750290"/>
      </p:ext>
    </p:extLst>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Monopolio no discriminatorio:</a:t>
            </a:r>
            <a:endParaRPr lang="es-AR" dirty="0"/>
          </a:p>
        </p:txBody>
      </p:sp>
      <p:sp>
        <p:nvSpPr>
          <p:cNvPr id="3" name="Marcador de contenido 2"/>
          <p:cNvSpPr>
            <a:spLocks noGrp="1"/>
          </p:cNvSpPr>
          <p:nvPr>
            <p:ph idx="1"/>
          </p:nvPr>
        </p:nvSpPr>
        <p:spPr/>
        <p:txBody>
          <a:bodyPr>
            <a:normAutofit fontScale="92500"/>
          </a:bodyPr>
          <a:lstStyle/>
          <a:p>
            <a:pPr algn="just"/>
            <a:r>
              <a:rPr lang="es-AR" dirty="0" smtClean="0"/>
              <a:t>Definiremos monopolista como un solo vendedor u oferente de un bien determinado para el cual no existen buenos sustitutos.</a:t>
            </a:r>
          </a:p>
          <a:p>
            <a:pPr algn="just"/>
            <a:r>
              <a:rPr lang="es-AR" dirty="0" smtClean="0"/>
              <a:t>El monopolio es la única empresa en la industria, por lo tanto la curva de demanda a la cual se enfrenta es la curva de demanda de la industria o del mercado. El mercado entero le compra solamente a un único vendedor.</a:t>
            </a:r>
          </a:p>
          <a:p>
            <a:pPr algn="just"/>
            <a:r>
              <a:rPr lang="es-AR" dirty="0" smtClean="0"/>
              <a:t>Suponiendo que se cumple la ley de demanda, la curva de demanda de la industria presentará pendiente negativa cuyos valores de elasticidad oscilarán entre -ȸ y 0</a:t>
            </a:r>
          </a:p>
          <a:p>
            <a:endParaRPr lang="es-AR" dirty="0"/>
          </a:p>
        </p:txBody>
      </p:sp>
    </p:spTree>
    <p:extLst>
      <p:ext uri="{BB962C8B-B14F-4D97-AF65-F5344CB8AC3E}">
        <p14:creationId xmlns:p14="http://schemas.microsoft.com/office/powerpoint/2010/main" val="294508793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Monopolio no discriminatorio:</a:t>
            </a:r>
            <a:endParaRPr lang="es-AR" dirty="0"/>
          </a:p>
        </p:txBody>
      </p:sp>
      <p:pic>
        <p:nvPicPr>
          <p:cNvPr id="4" name="Marcador de contenido 3"/>
          <p:cNvPicPr>
            <a:picLocks noGrp="1" noChangeAspect="1"/>
          </p:cNvPicPr>
          <p:nvPr>
            <p:ph idx="1"/>
          </p:nvPr>
        </p:nvPicPr>
        <p:blipFill>
          <a:blip r:embed="rId2"/>
          <a:stretch>
            <a:fillRect/>
          </a:stretch>
        </p:blipFill>
        <p:spPr>
          <a:xfrm>
            <a:off x="1469572" y="2125266"/>
            <a:ext cx="5829299" cy="3712199"/>
          </a:xfrm>
          <a:prstGeom prst="rect">
            <a:avLst/>
          </a:prstGeom>
        </p:spPr>
      </p:pic>
    </p:spTree>
    <p:extLst>
      <p:ext uri="{BB962C8B-B14F-4D97-AF65-F5344CB8AC3E}">
        <p14:creationId xmlns:p14="http://schemas.microsoft.com/office/powerpoint/2010/main" val="263200191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Monopolio:</a:t>
            </a:r>
            <a:endParaRPr lang="es-AR" dirty="0"/>
          </a:p>
        </p:txBody>
      </p:sp>
      <p:pic>
        <p:nvPicPr>
          <p:cNvPr id="4" name="Marcador de contenido 3"/>
          <p:cNvPicPr>
            <a:picLocks noGrp="1" noChangeAspect="1"/>
          </p:cNvPicPr>
          <p:nvPr>
            <p:ph idx="1"/>
          </p:nvPr>
        </p:nvPicPr>
        <p:blipFill>
          <a:blip r:embed="rId2"/>
          <a:stretch>
            <a:fillRect/>
          </a:stretch>
        </p:blipFill>
        <p:spPr>
          <a:xfrm>
            <a:off x="0" y="2226469"/>
            <a:ext cx="8801100" cy="3415053"/>
          </a:xfrm>
          <a:prstGeom prst="rect">
            <a:avLst/>
          </a:prstGeom>
        </p:spPr>
      </p:pic>
    </p:spTree>
    <p:extLst>
      <p:ext uri="{BB962C8B-B14F-4D97-AF65-F5344CB8AC3E}">
        <p14:creationId xmlns:p14="http://schemas.microsoft.com/office/powerpoint/2010/main" val="373229639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Monopolio:</a:t>
            </a:r>
            <a:endParaRPr lang="es-AR" dirty="0"/>
          </a:p>
        </p:txBody>
      </p:sp>
      <p:sp>
        <p:nvSpPr>
          <p:cNvPr id="3" name="Marcador de contenido 2"/>
          <p:cNvSpPr>
            <a:spLocks noGrp="1"/>
          </p:cNvSpPr>
          <p:nvPr>
            <p:ph idx="1"/>
          </p:nvPr>
        </p:nvSpPr>
        <p:spPr/>
        <p:txBody>
          <a:bodyPr/>
          <a:lstStyle/>
          <a:p>
            <a:r>
              <a:rPr lang="es-AR" dirty="0" smtClean="0"/>
              <a:t>Para un monopolista, se maximizan beneficios cuando la elasticidad de la demanda es mayor o igual a 1.</a:t>
            </a:r>
          </a:p>
          <a:p>
            <a:r>
              <a:rPr lang="es-AR" dirty="0" smtClean="0"/>
              <a:t>El monopolista se constituye tanto en la empresa como en la industria, por lo cual es él quien determina el precio.</a:t>
            </a:r>
          </a:p>
          <a:p>
            <a:r>
              <a:rPr lang="es-AR" dirty="0" smtClean="0"/>
              <a:t>En el corto plazo: la maximización de ganancias según el criterio del IT- CT:</a:t>
            </a:r>
          </a:p>
          <a:p>
            <a:r>
              <a:rPr lang="es-AR" dirty="0" smtClean="0"/>
              <a:t>El monopolista maximiza las ganancias en el nivel de producción que signifique mayor diferencia entre IT y CT.</a:t>
            </a:r>
            <a:endParaRPr lang="es-AR" dirty="0"/>
          </a:p>
        </p:txBody>
      </p:sp>
    </p:spTree>
    <p:extLst>
      <p:ext uri="{BB962C8B-B14F-4D97-AF65-F5344CB8AC3E}">
        <p14:creationId xmlns:p14="http://schemas.microsoft.com/office/powerpoint/2010/main" val="188677189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Monopolio:</a:t>
            </a:r>
            <a:endParaRPr lang="es-AR" dirty="0"/>
          </a:p>
        </p:txBody>
      </p:sp>
      <p:pic>
        <p:nvPicPr>
          <p:cNvPr id="4" name="Marcador de contenido 3"/>
          <p:cNvPicPr>
            <a:picLocks noGrp="1" noChangeAspect="1"/>
          </p:cNvPicPr>
          <p:nvPr>
            <p:ph idx="1"/>
          </p:nvPr>
        </p:nvPicPr>
        <p:blipFill>
          <a:blip r:embed="rId2"/>
          <a:stretch>
            <a:fillRect/>
          </a:stretch>
        </p:blipFill>
        <p:spPr>
          <a:xfrm>
            <a:off x="251520" y="1847088"/>
            <a:ext cx="8778180" cy="4606248"/>
          </a:xfrm>
          <a:prstGeom prst="rect">
            <a:avLst/>
          </a:prstGeom>
        </p:spPr>
      </p:pic>
    </p:spTree>
    <p:extLst>
      <p:ext uri="{BB962C8B-B14F-4D97-AF65-F5344CB8AC3E}">
        <p14:creationId xmlns:p14="http://schemas.microsoft.com/office/powerpoint/2010/main" val="285728660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Monopolio:</a:t>
            </a:r>
            <a:endParaRPr lang="es-AR" dirty="0"/>
          </a:p>
        </p:txBody>
      </p:sp>
      <p:sp>
        <p:nvSpPr>
          <p:cNvPr id="3" name="Marcador de contenido 2"/>
          <p:cNvSpPr>
            <a:spLocks noGrp="1"/>
          </p:cNvSpPr>
          <p:nvPr>
            <p:ph idx="1"/>
          </p:nvPr>
        </p:nvSpPr>
        <p:spPr/>
        <p:txBody>
          <a:bodyPr>
            <a:normAutofit lnSpcReduction="10000"/>
          </a:bodyPr>
          <a:lstStyle/>
          <a:p>
            <a:r>
              <a:rPr lang="es-AR" dirty="0" smtClean="0"/>
              <a:t>La maximización de ganancias se presenta en el momento en que el ingreso marginal es igual al costo marginal, lo cual sucede a una tasa de producción aproximada en donde el </a:t>
            </a:r>
            <a:r>
              <a:rPr lang="es-AR" dirty="0" err="1" smtClean="0"/>
              <a:t>CMg</a:t>
            </a:r>
            <a:r>
              <a:rPr lang="es-AR" dirty="0" smtClean="0"/>
              <a:t> debe cortar la curva de </a:t>
            </a:r>
            <a:r>
              <a:rPr lang="es-AR" dirty="0" err="1" smtClean="0"/>
              <a:t>Img</a:t>
            </a:r>
            <a:r>
              <a:rPr lang="es-AR" dirty="0" smtClean="0"/>
              <a:t> desde abajo.</a:t>
            </a:r>
          </a:p>
          <a:p>
            <a:r>
              <a:rPr lang="es-AR" dirty="0" smtClean="0"/>
              <a:t>El monopolista debe establecer el precio por lo cual se dice que es una unidad económica que realiza un proceso de búsqueda de precios.</a:t>
            </a:r>
          </a:p>
          <a:p>
            <a:r>
              <a:rPr lang="es-AR" dirty="0" smtClean="0"/>
              <a:t>El monopolista no tiene curva de Oferta, ya que no existe una relación única entre precio y cantidad ofrecida.</a:t>
            </a:r>
            <a:endParaRPr lang="es-AR" dirty="0"/>
          </a:p>
        </p:txBody>
      </p:sp>
    </p:spTree>
    <p:extLst>
      <p:ext uri="{BB962C8B-B14F-4D97-AF65-F5344CB8AC3E}">
        <p14:creationId xmlns:p14="http://schemas.microsoft.com/office/powerpoint/2010/main" val="304428254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AR" dirty="0" smtClean="0"/>
              <a:t>Discriminación de precios: Condiciones</a:t>
            </a:r>
            <a:endParaRPr lang="es-AR" dirty="0"/>
          </a:p>
        </p:txBody>
      </p:sp>
      <p:sp>
        <p:nvSpPr>
          <p:cNvPr id="3" name="Marcador de contenido 2"/>
          <p:cNvSpPr>
            <a:spLocks noGrp="1"/>
          </p:cNvSpPr>
          <p:nvPr>
            <p:ph idx="1"/>
          </p:nvPr>
        </p:nvSpPr>
        <p:spPr/>
        <p:txBody>
          <a:bodyPr/>
          <a:lstStyle/>
          <a:p>
            <a:r>
              <a:rPr lang="es-AR" dirty="0" smtClean="0"/>
              <a:t>A) La empresa debe tener algún tipo de poder de mercado ( no debe ser una empresa precio aceptante).</a:t>
            </a:r>
          </a:p>
          <a:p>
            <a:endParaRPr lang="es-AR" dirty="0" smtClean="0"/>
          </a:p>
          <a:p>
            <a:r>
              <a:rPr lang="es-AR" dirty="0" smtClean="0"/>
              <a:t>B) La empresa debe ser capaz de separar o segmentar los mercados.</a:t>
            </a:r>
          </a:p>
          <a:p>
            <a:endParaRPr lang="es-AR" dirty="0" smtClean="0"/>
          </a:p>
          <a:p>
            <a:r>
              <a:rPr lang="es-AR" dirty="0" smtClean="0"/>
              <a:t>C) Los compradores en los diferentes mercados deber tener diferentes elasticidades precio de demanda.</a:t>
            </a:r>
            <a:endParaRPr lang="es-AR" dirty="0"/>
          </a:p>
        </p:txBody>
      </p:sp>
    </p:spTree>
    <p:extLst>
      <p:ext uri="{BB962C8B-B14F-4D97-AF65-F5344CB8AC3E}">
        <p14:creationId xmlns:p14="http://schemas.microsoft.com/office/powerpoint/2010/main" val="362527716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AR" dirty="0" smtClean="0"/>
              <a:t>Condiciones para la discriminación de precios:</a:t>
            </a:r>
            <a:endParaRPr lang="es-AR" dirty="0"/>
          </a:p>
        </p:txBody>
      </p:sp>
      <p:pic>
        <p:nvPicPr>
          <p:cNvPr id="4" name="Marcador de contenido 3"/>
          <p:cNvPicPr>
            <a:picLocks noGrp="1" noChangeAspect="1"/>
          </p:cNvPicPr>
          <p:nvPr>
            <p:ph idx="1"/>
          </p:nvPr>
        </p:nvPicPr>
        <p:blipFill>
          <a:blip r:embed="rId2"/>
          <a:stretch>
            <a:fillRect/>
          </a:stretch>
        </p:blipFill>
        <p:spPr>
          <a:xfrm>
            <a:off x="326572" y="2392136"/>
            <a:ext cx="8188778" cy="3216729"/>
          </a:xfrm>
          <a:prstGeom prst="rect">
            <a:avLst/>
          </a:prstGeom>
        </p:spPr>
      </p:pic>
    </p:spTree>
    <p:extLst>
      <p:ext uri="{BB962C8B-B14F-4D97-AF65-F5344CB8AC3E}">
        <p14:creationId xmlns:p14="http://schemas.microsoft.com/office/powerpoint/2010/main" val="96767265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Formas de discriminación:</a:t>
            </a:r>
            <a:endParaRPr lang="es-AR" dirty="0"/>
          </a:p>
        </p:txBody>
      </p:sp>
      <p:sp>
        <p:nvSpPr>
          <p:cNvPr id="3" name="Marcador de contenido 2"/>
          <p:cNvSpPr>
            <a:spLocks noGrp="1"/>
          </p:cNvSpPr>
          <p:nvPr>
            <p:ph idx="1"/>
          </p:nvPr>
        </p:nvSpPr>
        <p:spPr>
          <a:xfrm>
            <a:off x="628650" y="1673677"/>
            <a:ext cx="7886700" cy="4327073"/>
          </a:xfrm>
        </p:spPr>
        <p:txBody>
          <a:bodyPr>
            <a:normAutofit fontScale="62500" lnSpcReduction="20000"/>
          </a:bodyPr>
          <a:lstStyle/>
          <a:p>
            <a:endParaRPr lang="es-AR" dirty="0" smtClean="0"/>
          </a:p>
          <a:p>
            <a:endParaRPr lang="es-AR" dirty="0" smtClean="0"/>
          </a:p>
          <a:p>
            <a:r>
              <a:rPr lang="es-AR" b="1" u="sng" dirty="0" smtClean="0"/>
              <a:t>De primer grado</a:t>
            </a:r>
            <a:r>
              <a:rPr lang="es-AR" dirty="0" smtClean="0"/>
              <a:t>: El vendedor conoce el precio máximo (o precio de reserva) que está dispuesta a pagar cada persona por su producto. En consecuencia, la empresa  -para maximizar sus beneficios- es capaz de extraer todo el excedente del consumidor.</a:t>
            </a:r>
          </a:p>
          <a:p>
            <a:r>
              <a:rPr lang="es-AR" dirty="0" smtClean="0"/>
              <a:t>Este modelo de mercado no es realista porque significa que el oferente tiene información perfecta sobre los compradores. Sin embargo, lo interesante es que los clientes que acceden al producto son los mismos que en competencia perfecta, es decir, aquellos que asignan al bien o servicio transado un valor igual o mayor al precio de equilibrio. La diferencia está en que, con el monopolista discriminador, no se establece una tarifa única sino que algunos individuos pagarán más que otros. </a:t>
            </a:r>
            <a:r>
              <a:rPr lang="es-AR" dirty="0" err="1" smtClean="0"/>
              <a:t>Ej</a:t>
            </a:r>
            <a:r>
              <a:rPr lang="es-AR" dirty="0" smtClean="0"/>
              <a:t>: Regateo de precios por artesanías.</a:t>
            </a:r>
          </a:p>
          <a:p>
            <a:r>
              <a:rPr lang="es-AR" b="1" u="sng" dirty="0" smtClean="0"/>
              <a:t>De segundo grado</a:t>
            </a:r>
            <a:r>
              <a:rPr lang="es-AR" dirty="0" smtClean="0"/>
              <a:t>: El oferente realiza un descuento a los clientes si compran en mayor cantidad. </a:t>
            </a:r>
            <a:r>
              <a:rPr lang="es-AR" dirty="0" err="1" smtClean="0"/>
              <a:t>Ej</a:t>
            </a:r>
            <a:r>
              <a:rPr lang="es-AR" dirty="0" smtClean="0"/>
              <a:t>: Compra por cantidad en supermercados.</a:t>
            </a:r>
          </a:p>
          <a:p>
            <a:r>
              <a:rPr lang="es-AR" b="1" u="sng" dirty="0" smtClean="0"/>
              <a:t>De tercer grado</a:t>
            </a:r>
            <a:r>
              <a:rPr lang="es-AR" dirty="0" smtClean="0"/>
              <a:t>: Requiere que los demandantes puedan ser clasificados por edad, género u otra variable. Así, a cada grupo se le asigna un precio distinto. Cabe mencionar que bajo este esquema debe ser imposible la reventa, como en el caso de un espectáculo con entradas no transferibles. </a:t>
            </a:r>
            <a:r>
              <a:rPr lang="es-AR" dirty="0" err="1" smtClean="0"/>
              <a:t>Ej</a:t>
            </a:r>
            <a:r>
              <a:rPr lang="es-AR" dirty="0" smtClean="0"/>
              <a:t>: Descuentos a estudiantes y jubilados para espectáculos o transportes.</a:t>
            </a:r>
            <a:endParaRPr lang="es-AR" dirty="0"/>
          </a:p>
        </p:txBody>
      </p:sp>
    </p:spTree>
    <p:extLst>
      <p:ext uri="{BB962C8B-B14F-4D97-AF65-F5344CB8AC3E}">
        <p14:creationId xmlns:p14="http://schemas.microsoft.com/office/powerpoint/2010/main" val="170857737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08001" y="987879"/>
            <a:ext cx="6447501" cy="1317172"/>
          </a:xfrm>
        </p:spPr>
        <p:txBody>
          <a:bodyPr/>
          <a:lstStyle/>
          <a:p>
            <a:r>
              <a:rPr lang="es-AR" dirty="0" smtClean="0"/>
              <a:t>Ejercicios propuestos:</a:t>
            </a:r>
            <a:endParaRPr lang="es-AR" dirty="0"/>
          </a:p>
        </p:txBody>
      </p:sp>
      <p:pic>
        <p:nvPicPr>
          <p:cNvPr id="4" name="Marcador de contenido 3"/>
          <p:cNvPicPr>
            <a:picLocks noGrp="1" noChangeAspect="1"/>
          </p:cNvPicPr>
          <p:nvPr>
            <p:ph idx="1"/>
          </p:nvPr>
        </p:nvPicPr>
        <p:blipFill>
          <a:blip r:embed="rId2"/>
          <a:stretch>
            <a:fillRect/>
          </a:stretch>
        </p:blipFill>
        <p:spPr>
          <a:xfrm>
            <a:off x="508001" y="1608365"/>
            <a:ext cx="7313385" cy="4147457"/>
          </a:xfrm>
          <a:prstGeom prst="rect">
            <a:avLst/>
          </a:prstGeom>
        </p:spPr>
      </p:pic>
    </p:spTree>
    <p:extLst>
      <p:ext uri="{BB962C8B-B14F-4D97-AF65-F5344CB8AC3E}">
        <p14:creationId xmlns:p14="http://schemas.microsoft.com/office/powerpoint/2010/main" val="13874873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Ejercicios Propuestos:</a:t>
            </a:r>
            <a:endParaRPr lang="en-US" dirty="0"/>
          </a:p>
        </p:txBody>
      </p:sp>
      <p:pic>
        <p:nvPicPr>
          <p:cNvPr id="6" name="Marcador de contenido 5"/>
          <p:cNvPicPr>
            <a:picLocks noGrp="1" noChangeAspect="1"/>
          </p:cNvPicPr>
          <p:nvPr>
            <p:ph idx="1"/>
          </p:nvPr>
        </p:nvPicPr>
        <p:blipFill>
          <a:blip r:embed="rId2"/>
          <a:stretch>
            <a:fillRect/>
          </a:stretch>
        </p:blipFill>
        <p:spPr>
          <a:xfrm>
            <a:off x="764178" y="2228851"/>
            <a:ext cx="6387737" cy="2352362"/>
          </a:xfrm>
          <a:prstGeom prst="rect">
            <a:avLst/>
          </a:prstGeom>
        </p:spPr>
      </p:pic>
    </p:spTree>
    <p:extLst>
      <p:ext uri="{BB962C8B-B14F-4D97-AF65-F5344CB8AC3E}">
        <p14:creationId xmlns:p14="http://schemas.microsoft.com/office/powerpoint/2010/main" val="310582663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Solución propuesta:</a:t>
            </a:r>
            <a:endParaRPr lang="en-US" dirty="0"/>
          </a:p>
        </p:txBody>
      </p:sp>
      <p:pic>
        <p:nvPicPr>
          <p:cNvPr id="4" name="Marcador de contenido 3"/>
          <p:cNvPicPr>
            <a:picLocks noGrp="1" noChangeAspect="1"/>
          </p:cNvPicPr>
          <p:nvPr>
            <p:ph idx="1"/>
          </p:nvPr>
        </p:nvPicPr>
        <p:blipFill>
          <a:blip r:embed="rId2"/>
          <a:stretch>
            <a:fillRect/>
          </a:stretch>
        </p:blipFill>
        <p:spPr>
          <a:xfrm>
            <a:off x="636815" y="2305050"/>
            <a:ext cx="6318687" cy="2902132"/>
          </a:xfrm>
          <a:prstGeom prst="rect">
            <a:avLst/>
          </a:prstGeom>
        </p:spPr>
      </p:pic>
    </p:spTree>
    <p:extLst>
      <p:ext uri="{BB962C8B-B14F-4D97-AF65-F5344CB8AC3E}">
        <p14:creationId xmlns:p14="http://schemas.microsoft.com/office/powerpoint/2010/main" val="86605251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a:defRPr/>
            </a:pPr>
            <a:r>
              <a:rPr lang="es-AR" dirty="0" smtClean="0"/>
              <a:t>COMPETENCIA MONOPOLISTA</a:t>
            </a:r>
            <a:endParaRPr lang="es-AR" dirty="0"/>
          </a:p>
        </p:txBody>
      </p:sp>
      <p:sp>
        <p:nvSpPr>
          <p:cNvPr id="3" name="2 Marcador de contenido"/>
          <p:cNvSpPr>
            <a:spLocks noGrp="1"/>
          </p:cNvSpPr>
          <p:nvPr>
            <p:ph idx="1"/>
          </p:nvPr>
        </p:nvSpPr>
        <p:spPr/>
        <p:txBody>
          <a:bodyPr>
            <a:normAutofit fontScale="92500"/>
          </a:bodyPr>
          <a:lstStyle/>
          <a:p>
            <a:pPr algn="just">
              <a:defRPr/>
            </a:pPr>
            <a:r>
              <a:rPr lang="es-AR" dirty="0" smtClean="0"/>
              <a:t>La competencia monopolística es un modelo de mercado que se caracteriza por la presencia de un gran número de compradores y vendedores, en donde las empresas compiten ofreciendo productos similares, susceptibles de satisfacer una misma necesidad (productos sustitutos).</a:t>
            </a:r>
          </a:p>
          <a:p>
            <a:pPr algn="just">
              <a:defRPr/>
            </a:pPr>
            <a:endParaRPr lang="es-AR" dirty="0" smtClean="0"/>
          </a:p>
          <a:p>
            <a:pPr algn="just">
              <a:defRPr/>
            </a:pPr>
            <a:r>
              <a:rPr lang="es-AR" dirty="0" smtClean="0"/>
              <a:t>Del grado de diferenciación que logren en cuanto a características reales o aparentes del producto que ofrecen dependerá su capacidad para determinar relativamente el precio de su bien, que debe estar en consonancia con el de las competidoras próximas. </a:t>
            </a:r>
          </a:p>
          <a:p>
            <a:pPr>
              <a:defRPr/>
            </a:pPr>
            <a:endParaRPr lang="es-AR" dirty="0"/>
          </a:p>
        </p:txBody>
      </p:sp>
    </p:spTree>
    <p:extLst>
      <p:ext uri="{BB962C8B-B14F-4D97-AF65-F5344CB8AC3E}">
        <p14:creationId xmlns:p14="http://schemas.microsoft.com/office/powerpoint/2010/main" val="4055047921"/>
      </p:ext>
    </p:extLst>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a:defRPr/>
            </a:pPr>
            <a:r>
              <a:rPr lang="es-AR" dirty="0" smtClean="0"/>
              <a:t>COMPETENCIA MONOPOLISTA</a:t>
            </a:r>
            <a:endParaRPr lang="es-AR" dirty="0"/>
          </a:p>
        </p:txBody>
      </p:sp>
      <p:sp>
        <p:nvSpPr>
          <p:cNvPr id="3" name="2 Marcador de contenido"/>
          <p:cNvSpPr>
            <a:spLocks noGrp="1"/>
          </p:cNvSpPr>
          <p:nvPr>
            <p:ph idx="1"/>
          </p:nvPr>
        </p:nvSpPr>
        <p:spPr>
          <a:xfrm>
            <a:off x="0" y="2286000"/>
            <a:ext cx="8229600" cy="4572000"/>
          </a:xfrm>
        </p:spPr>
        <p:txBody>
          <a:bodyPr>
            <a:normAutofit fontScale="92500" lnSpcReduction="20000"/>
          </a:bodyPr>
          <a:lstStyle/>
          <a:p>
            <a:pPr algn="just">
              <a:defRPr/>
            </a:pPr>
            <a:r>
              <a:rPr lang="es-AR" dirty="0" smtClean="0"/>
              <a:t>La </a:t>
            </a:r>
            <a:r>
              <a:rPr lang="es-AR" b="1" dirty="0" smtClean="0"/>
              <a:t>diferenciación</a:t>
            </a:r>
            <a:r>
              <a:rPr lang="es-AR" dirty="0" smtClean="0"/>
              <a:t> puede llegar a ser </a:t>
            </a:r>
            <a:r>
              <a:rPr lang="es-AR" b="1" dirty="0" smtClean="0"/>
              <a:t>real</a:t>
            </a:r>
            <a:r>
              <a:rPr lang="es-AR" dirty="0" smtClean="0"/>
              <a:t> o </a:t>
            </a:r>
            <a:r>
              <a:rPr lang="es-AR" b="1" dirty="0" smtClean="0"/>
              <a:t>aparente</a:t>
            </a:r>
            <a:r>
              <a:rPr lang="es-AR" dirty="0" smtClean="0"/>
              <a:t>:  </a:t>
            </a:r>
          </a:p>
          <a:p>
            <a:pPr algn="just">
              <a:defRPr/>
            </a:pPr>
            <a:r>
              <a:rPr lang="es-AR" dirty="0" smtClean="0"/>
              <a:t>La </a:t>
            </a:r>
            <a:r>
              <a:rPr lang="es-AR" i="1" dirty="0" smtClean="0"/>
              <a:t>diferenciación</a:t>
            </a:r>
            <a:r>
              <a:rPr lang="es-AR" dirty="0" smtClean="0"/>
              <a:t> será </a:t>
            </a:r>
            <a:r>
              <a:rPr lang="es-AR" i="1" dirty="0" smtClean="0"/>
              <a:t>real</a:t>
            </a:r>
            <a:r>
              <a:rPr lang="es-AR" dirty="0" smtClean="0"/>
              <a:t> cuando el producto contenga características físicas, químicas, de empaque o embalaje diferentes. </a:t>
            </a:r>
          </a:p>
          <a:p>
            <a:pPr algn="just">
              <a:defRPr/>
            </a:pPr>
            <a:r>
              <a:rPr lang="es-AR" dirty="0" smtClean="0"/>
              <a:t>También incluimos dentro de este tipo el hecho de que el producto pueda ser adquirido bajo condiciones de crédito especiales, si tiene garantía post venta, si cuenta con la posibilidad de servicio técnico permanente, etc.</a:t>
            </a:r>
          </a:p>
          <a:p>
            <a:pPr algn="just">
              <a:buFont typeface="Wingdings 3" pitchFamily="18" charset="2"/>
              <a:buNone/>
              <a:defRPr/>
            </a:pPr>
            <a:r>
              <a:rPr lang="es-AR" dirty="0" smtClean="0"/>
              <a:t> </a:t>
            </a:r>
          </a:p>
          <a:p>
            <a:pPr algn="just">
              <a:defRPr/>
            </a:pPr>
            <a:r>
              <a:rPr lang="es-AR" dirty="0" smtClean="0"/>
              <a:t>La </a:t>
            </a:r>
            <a:r>
              <a:rPr lang="es-AR" i="1" dirty="0" smtClean="0"/>
              <a:t>diferenciación</a:t>
            </a:r>
            <a:r>
              <a:rPr lang="es-AR" dirty="0" smtClean="0"/>
              <a:t> será </a:t>
            </a:r>
            <a:r>
              <a:rPr lang="es-AR" i="1" dirty="0" smtClean="0"/>
              <a:t>aparente</a:t>
            </a:r>
            <a:r>
              <a:rPr lang="es-AR" dirty="0" smtClean="0"/>
              <a:t> cuando la publicidad está orientada a resaltar aspectos subjetivos del consumidor que las adquiere, tales como grupos de pertenencia, marca, moda, etc.</a:t>
            </a:r>
          </a:p>
          <a:p>
            <a:pPr>
              <a:defRPr/>
            </a:pPr>
            <a:endParaRPr lang="es-AR" dirty="0"/>
          </a:p>
        </p:txBody>
      </p:sp>
    </p:spTree>
    <p:extLst>
      <p:ext uri="{BB962C8B-B14F-4D97-AF65-F5344CB8AC3E}">
        <p14:creationId xmlns:p14="http://schemas.microsoft.com/office/powerpoint/2010/main" val="2940117234"/>
      </p:ext>
    </p:extLst>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AR" dirty="0" smtClean="0"/>
              <a:t>OLIGOPOLIO</a:t>
            </a:r>
            <a:endParaRPr lang="es-AR" dirty="0"/>
          </a:p>
        </p:txBody>
      </p:sp>
      <p:sp>
        <p:nvSpPr>
          <p:cNvPr id="3" name="2 Marcador de contenido"/>
          <p:cNvSpPr>
            <a:spLocks noGrp="1"/>
          </p:cNvSpPr>
          <p:nvPr>
            <p:ph idx="1"/>
          </p:nvPr>
        </p:nvSpPr>
        <p:spPr/>
        <p:txBody>
          <a:bodyPr>
            <a:normAutofit fontScale="77500" lnSpcReduction="20000"/>
          </a:bodyPr>
          <a:lstStyle/>
          <a:p>
            <a:pPr algn="just">
              <a:defRPr/>
            </a:pPr>
            <a:r>
              <a:rPr lang="es-AR" dirty="0" smtClean="0"/>
              <a:t>El oligopolio es un modelo de mercado que se caracteriza por la presencia de pocas empresas en el mercado ante un gran número de compradores. Estas empresas pueden actuar de manera independiente entre sí, pero siempre fijando los precios de sus productos en función de los precios de sus competidores. Es importante destacar que al ser unas pocas empresas estas tienen mucha influencia en el mercado, en cuanto a determinación de precios. </a:t>
            </a:r>
          </a:p>
          <a:p>
            <a:pPr algn="just">
              <a:defRPr/>
            </a:pPr>
            <a:r>
              <a:rPr lang="es-AR" dirty="0" smtClean="0"/>
              <a:t>También pueden actuar en forma coordinada con las competidoras, a través de </a:t>
            </a:r>
            <a:r>
              <a:rPr lang="es-AR" i="1" dirty="0" smtClean="0"/>
              <a:t>acciones colusorias</a:t>
            </a:r>
            <a:r>
              <a:rPr lang="es-AR" dirty="0" smtClean="0"/>
              <a:t>, llegando a tener tanto poder para fijar precio como en el monopolio.</a:t>
            </a:r>
          </a:p>
          <a:p>
            <a:pPr algn="just">
              <a:defRPr/>
            </a:pPr>
            <a:r>
              <a:rPr lang="es-AR" dirty="0" smtClean="0"/>
              <a:t>Acciones colusorias: </a:t>
            </a:r>
            <a:r>
              <a:rPr lang="es-ES" dirty="0" smtClean="0"/>
              <a:t>En economía se denomina al acuerdo en que dos o más empresas de un mercado determinado definen que cada una actuará de manera concertada respecto del resto de las demás empresas. El fin de este tipo de acuerdos es que cada una de las empresas participantes en la colusión tome control de una determinada porción del mercado en el cual operan, y actuar de manera monopólica, impidiendo a otras empresas entrar al mercado.</a:t>
            </a:r>
            <a:endParaRPr lang="es-AR" dirty="0" smtClean="0"/>
          </a:p>
          <a:p>
            <a:pPr>
              <a:defRPr/>
            </a:pPr>
            <a:endParaRPr lang="es-AR" dirty="0"/>
          </a:p>
        </p:txBody>
      </p:sp>
    </p:spTree>
    <p:extLst>
      <p:ext uri="{BB962C8B-B14F-4D97-AF65-F5344CB8AC3E}">
        <p14:creationId xmlns:p14="http://schemas.microsoft.com/office/powerpoint/2010/main" val="1124473886"/>
      </p:ext>
    </p:extLst>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AR" dirty="0" smtClean="0"/>
              <a:t>OLIGOPOLIO:</a:t>
            </a:r>
            <a:endParaRPr lang="es-AR" dirty="0"/>
          </a:p>
        </p:txBody>
      </p:sp>
      <p:sp>
        <p:nvSpPr>
          <p:cNvPr id="3" name="2 Marcador de contenido"/>
          <p:cNvSpPr>
            <a:spLocks noGrp="1"/>
          </p:cNvSpPr>
          <p:nvPr>
            <p:ph idx="1"/>
          </p:nvPr>
        </p:nvSpPr>
        <p:spPr/>
        <p:txBody>
          <a:bodyPr>
            <a:normAutofit/>
          </a:bodyPr>
          <a:lstStyle/>
          <a:p>
            <a:pPr algn="just">
              <a:defRPr/>
            </a:pPr>
            <a:r>
              <a:rPr lang="es-AR" dirty="0" smtClean="0"/>
              <a:t>Los productos que ofrecen pueden ser </a:t>
            </a:r>
            <a:r>
              <a:rPr lang="es-AR" i="1" dirty="0" smtClean="0"/>
              <a:t>homogéneos</a:t>
            </a:r>
            <a:r>
              <a:rPr lang="es-AR" dirty="0" smtClean="0"/>
              <a:t> (en el caso de producción de materias primas como cemento, acero, cobre, hierro) o </a:t>
            </a:r>
            <a:r>
              <a:rPr lang="es-AR" i="1" dirty="0" smtClean="0"/>
              <a:t>diferenciados</a:t>
            </a:r>
            <a:r>
              <a:rPr lang="es-AR" dirty="0" smtClean="0"/>
              <a:t> (electrodomésticos, automóviles, servicios de transporte aéreo, telefonías,  etc.)</a:t>
            </a:r>
          </a:p>
          <a:p>
            <a:pPr algn="just">
              <a:buFont typeface="Wingdings 3" pitchFamily="18" charset="2"/>
              <a:buNone/>
              <a:defRPr/>
            </a:pPr>
            <a:endParaRPr lang="es-AR" dirty="0" smtClean="0"/>
          </a:p>
          <a:p>
            <a:pPr algn="just">
              <a:defRPr/>
            </a:pPr>
            <a:r>
              <a:rPr lang="es-AR" dirty="0" smtClean="0"/>
              <a:t>En muchos mercados nos encontramos con ejemplo de servicios o productos que podríamos asimilarlos a esta estructura de mercado por ejemplo el servicio de televisión satelital, telefonía celular y fija entre otros.</a:t>
            </a:r>
          </a:p>
          <a:p>
            <a:pPr>
              <a:defRPr/>
            </a:pPr>
            <a:endParaRPr lang="es-AR" dirty="0"/>
          </a:p>
        </p:txBody>
      </p:sp>
    </p:spTree>
    <p:extLst>
      <p:ext uri="{BB962C8B-B14F-4D97-AF65-F5344CB8AC3E}">
        <p14:creationId xmlns:p14="http://schemas.microsoft.com/office/powerpoint/2010/main" val="2364143695"/>
      </p:ext>
    </p:extLst>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fontScale="90000"/>
          </a:bodyPr>
          <a:lstStyle/>
          <a:p>
            <a:r>
              <a:rPr lang="es-AR" dirty="0" smtClean="0"/>
              <a:t>Criterios de rentabilidad privada. Análisis de Sensibilidad.</a:t>
            </a:r>
            <a:endParaRPr lang="es-AR" dirty="0"/>
          </a:p>
        </p:txBody>
      </p:sp>
      <p:sp>
        <p:nvSpPr>
          <p:cNvPr id="3" name="Subtítulo 2"/>
          <p:cNvSpPr>
            <a:spLocks noGrp="1"/>
          </p:cNvSpPr>
          <p:nvPr>
            <p:ph type="subTitle" idx="1"/>
          </p:nvPr>
        </p:nvSpPr>
        <p:spPr>
          <a:xfrm>
            <a:off x="1130300" y="3895375"/>
            <a:ext cx="5825202" cy="1648175"/>
          </a:xfrm>
        </p:spPr>
        <p:txBody>
          <a:bodyPr>
            <a:normAutofit/>
          </a:bodyPr>
          <a:lstStyle/>
          <a:p>
            <a:endParaRPr lang="es-AR" sz="1800" b="1" dirty="0">
              <a:solidFill>
                <a:schemeClr val="tx1">
                  <a:lumMod val="95000"/>
                  <a:lumOff val="5000"/>
                </a:schemeClr>
              </a:solidFill>
            </a:endParaRPr>
          </a:p>
          <a:p>
            <a:r>
              <a:rPr lang="es-AR" sz="1800" b="1" dirty="0">
                <a:solidFill>
                  <a:schemeClr val="tx1">
                    <a:lumMod val="95000"/>
                    <a:lumOff val="5000"/>
                  </a:schemeClr>
                </a:solidFill>
              </a:rPr>
              <a:t>Bibliografía: </a:t>
            </a:r>
            <a:r>
              <a:rPr lang="es-AR" sz="1800" b="1" dirty="0" err="1">
                <a:solidFill>
                  <a:schemeClr val="tx1">
                    <a:lumMod val="95000"/>
                    <a:lumOff val="5000"/>
                  </a:schemeClr>
                </a:solidFill>
              </a:rPr>
              <a:t>Sapag</a:t>
            </a:r>
            <a:r>
              <a:rPr lang="es-AR" sz="1800" b="1" dirty="0">
                <a:solidFill>
                  <a:schemeClr val="tx1">
                    <a:lumMod val="95000"/>
                    <a:lumOff val="5000"/>
                  </a:schemeClr>
                </a:solidFill>
              </a:rPr>
              <a:t> </a:t>
            </a:r>
            <a:r>
              <a:rPr lang="es-AR" sz="1800" b="1" dirty="0" err="1">
                <a:solidFill>
                  <a:schemeClr val="tx1">
                    <a:lumMod val="95000"/>
                    <a:lumOff val="5000"/>
                  </a:schemeClr>
                </a:solidFill>
              </a:rPr>
              <a:t>Chain</a:t>
            </a:r>
            <a:r>
              <a:rPr lang="es-AR" sz="1800" b="1" dirty="0">
                <a:solidFill>
                  <a:schemeClr val="tx1">
                    <a:lumMod val="95000"/>
                    <a:lumOff val="5000"/>
                  </a:schemeClr>
                </a:solidFill>
              </a:rPr>
              <a:t> </a:t>
            </a:r>
            <a:r>
              <a:rPr lang="es-AR" sz="1800" b="1" dirty="0" err="1">
                <a:solidFill>
                  <a:schemeClr val="tx1">
                    <a:lumMod val="95000"/>
                    <a:lumOff val="5000"/>
                  </a:schemeClr>
                </a:solidFill>
              </a:rPr>
              <a:t>Nassir</a:t>
            </a:r>
            <a:r>
              <a:rPr lang="es-AR" sz="1800" b="1" dirty="0">
                <a:solidFill>
                  <a:schemeClr val="tx1">
                    <a:lumMod val="95000"/>
                    <a:lumOff val="5000"/>
                  </a:schemeClr>
                </a:solidFill>
              </a:rPr>
              <a:t> (2018). Preparación y Evaluación de Proyectos.</a:t>
            </a:r>
          </a:p>
        </p:txBody>
      </p:sp>
    </p:spTree>
    <p:extLst>
      <p:ext uri="{BB962C8B-B14F-4D97-AF65-F5344CB8AC3E}">
        <p14:creationId xmlns:p14="http://schemas.microsoft.com/office/powerpoint/2010/main" val="408744689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Evaluación de Proyectos:</a:t>
            </a:r>
            <a:endParaRPr lang="es-AR" dirty="0"/>
          </a:p>
        </p:txBody>
      </p:sp>
      <p:sp>
        <p:nvSpPr>
          <p:cNvPr id="3" name="Marcador de contenido 2"/>
          <p:cNvSpPr>
            <a:spLocks noGrp="1"/>
          </p:cNvSpPr>
          <p:nvPr>
            <p:ph idx="1"/>
          </p:nvPr>
        </p:nvSpPr>
        <p:spPr>
          <a:xfrm>
            <a:off x="628650" y="1706336"/>
            <a:ext cx="7886700" cy="4000500"/>
          </a:xfrm>
        </p:spPr>
        <p:txBody>
          <a:bodyPr>
            <a:noAutofit/>
          </a:bodyPr>
          <a:lstStyle/>
          <a:p>
            <a:r>
              <a:rPr lang="es-AR" sz="2100" b="1" dirty="0"/>
              <a:t>Se realiza con dos objetivos</a:t>
            </a:r>
            <a:r>
              <a:rPr lang="es-AR" sz="2100" dirty="0"/>
              <a:t>:</a:t>
            </a:r>
          </a:p>
          <a:p>
            <a:pPr marL="385763" indent="-385763">
              <a:buAutoNum type="alphaLcParenR"/>
            </a:pPr>
            <a:r>
              <a:rPr lang="es-AR" sz="2100" dirty="0"/>
              <a:t>Tomar una decisión de aceptación o rechazo de un proyecto en particular.</a:t>
            </a:r>
          </a:p>
          <a:p>
            <a:pPr marL="385763" indent="-385763">
              <a:buAutoNum type="alphaLcParenR"/>
            </a:pPr>
            <a:r>
              <a:rPr lang="es-AR" sz="2100" dirty="0"/>
              <a:t>Decidir el ordenamiento de varios proyectos en función de su rentabilidad cuando son mutuamente excluyentes o existe racionamiento de capital.</a:t>
            </a:r>
          </a:p>
          <a:p>
            <a:pPr marL="0" indent="0">
              <a:buNone/>
            </a:pPr>
            <a:r>
              <a:rPr lang="es-AR" sz="2100" b="1" dirty="0"/>
              <a:t>Los factores condicionantes de la rentabilidad de las inversiones son:</a:t>
            </a:r>
          </a:p>
          <a:p>
            <a:pPr marL="385763" indent="-385763">
              <a:buAutoNum type="alphaLcParenR"/>
            </a:pPr>
            <a:r>
              <a:rPr lang="es-AR" sz="2100" dirty="0"/>
              <a:t>La cuantía de los flujos de caja.</a:t>
            </a:r>
          </a:p>
          <a:p>
            <a:pPr marL="385763" indent="-385763">
              <a:buAutoNum type="alphaLcParenR"/>
            </a:pPr>
            <a:r>
              <a:rPr lang="es-AR" sz="2100" dirty="0"/>
              <a:t>El valor del dinero en el tiempo.</a:t>
            </a:r>
          </a:p>
          <a:p>
            <a:pPr marL="385763" indent="-385763">
              <a:buAutoNum type="alphaLcParenR"/>
            </a:pPr>
            <a:r>
              <a:rPr lang="es-AR" sz="2100" dirty="0"/>
              <a:t>Oportunidad de los movimientos de esos valores. (Riesgos contextuales).</a:t>
            </a:r>
          </a:p>
        </p:txBody>
      </p:sp>
    </p:spTree>
    <p:extLst>
      <p:ext uri="{BB962C8B-B14F-4D97-AF65-F5344CB8AC3E}">
        <p14:creationId xmlns:p14="http://schemas.microsoft.com/office/powerpoint/2010/main" val="102356013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Variables a utilizar:</a:t>
            </a:r>
            <a:endParaRPr lang="es-AR" dirty="0"/>
          </a:p>
        </p:txBody>
      </p:sp>
      <p:sp>
        <p:nvSpPr>
          <p:cNvPr id="3" name="Marcador de contenido 2"/>
          <p:cNvSpPr>
            <a:spLocks noGrp="1"/>
          </p:cNvSpPr>
          <p:nvPr>
            <p:ph idx="1"/>
          </p:nvPr>
        </p:nvSpPr>
        <p:spPr>
          <a:xfrm>
            <a:off x="244929" y="1836965"/>
            <a:ext cx="8654143" cy="4000499"/>
          </a:xfrm>
        </p:spPr>
        <p:txBody>
          <a:bodyPr>
            <a:normAutofit/>
          </a:bodyPr>
          <a:lstStyle/>
          <a:p>
            <a:pPr algn="just"/>
            <a:r>
              <a:rPr lang="es-AR" sz="2400" dirty="0"/>
              <a:t>A) Ingresos Totales: Precio: técnicas, cantidades proyectadas: criterios de proyección. (Estimación de la demanda). Análisis del tipo de bien, elasticidad precio, ingreso, cruzada.</a:t>
            </a:r>
          </a:p>
          <a:p>
            <a:pPr algn="just"/>
            <a:r>
              <a:rPr lang="es-AR" sz="2400" dirty="0"/>
              <a:t>B) Costos Totales: costos privados: fijos, variables, costos de oportunidad. Proyección. Incorporación de mercados proveedores alternativos. Definición de criterios de eficiencia técnica y económica. Función de producción.</a:t>
            </a:r>
          </a:p>
          <a:p>
            <a:pPr algn="just"/>
            <a:r>
              <a:rPr lang="es-AR" sz="2400" dirty="0"/>
              <a:t>C) Inversión Inicial: Capital fijo. Capital circulante. Capital de Trabajo. Alternativas de financiación. Recupero.</a:t>
            </a:r>
          </a:p>
        </p:txBody>
      </p:sp>
    </p:spTree>
    <p:extLst>
      <p:ext uri="{BB962C8B-B14F-4D97-AF65-F5344CB8AC3E}">
        <p14:creationId xmlns:p14="http://schemas.microsoft.com/office/powerpoint/2010/main" val="21136798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AR" dirty="0" smtClean="0"/>
              <a:t>Criterios de Rentabilidad aplicados:</a:t>
            </a:r>
            <a:endParaRPr lang="es-AR" dirty="0"/>
          </a:p>
        </p:txBody>
      </p:sp>
      <p:sp>
        <p:nvSpPr>
          <p:cNvPr id="3" name="Marcador de contenido 2"/>
          <p:cNvSpPr>
            <a:spLocks noGrp="1"/>
          </p:cNvSpPr>
          <p:nvPr>
            <p:ph idx="1"/>
          </p:nvPr>
        </p:nvSpPr>
        <p:spPr>
          <a:xfrm>
            <a:off x="508000" y="2477692"/>
            <a:ext cx="7721600" cy="2910580"/>
          </a:xfrm>
        </p:spPr>
        <p:txBody>
          <a:bodyPr>
            <a:normAutofit/>
          </a:bodyPr>
          <a:lstStyle/>
          <a:p>
            <a:pPr algn="just"/>
            <a:r>
              <a:rPr lang="es-AR" sz="1800" b="1" dirty="0">
                <a:solidFill>
                  <a:schemeClr val="tx1">
                    <a:lumMod val="95000"/>
                    <a:lumOff val="5000"/>
                  </a:schemeClr>
                </a:solidFill>
              </a:rPr>
              <a:t>El criterio del VALOR ACTUAL NETO (VAN):</a:t>
            </a:r>
          </a:p>
          <a:p>
            <a:pPr marL="0" indent="0" algn="just">
              <a:buNone/>
            </a:pPr>
            <a:r>
              <a:rPr lang="es-AR" sz="1800" dirty="0"/>
              <a:t>Plantea que el proyecto debe aceptarse si su VAN es igual o superior a cero, siendo el VAN la diferencia entre todos los ingresos y egresos en moneda actual.</a:t>
            </a:r>
          </a:p>
          <a:p>
            <a:pPr marL="0" indent="0" algn="just">
              <a:buNone/>
            </a:pPr>
            <a:endParaRPr lang="es-AR" sz="1800" dirty="0"/>
          </a:p>
        </p:txBody>
      </p:sp>
      <p:pic>
        <p:nvPicPr>
          <p:cNvPr id="4" name="Imagen 3"/>
          <p:cNvPicPr>
            <a:picLocks noChangeAspect="1"/>
          </p:cNvPicPr>
          <p:nvPr/>
        </p:nvPicPr>
        <p:blipFill>
          <a:blip r:embed="rId2"/>
          <a:stretch>
            <a:fillRect/>
          </a:stretch>
        </p:blipFill>
        <p:spPr>
          <a:xfrm>
            <a:off x="1110343" y="3878036"/>
            <a:ext cx="6498772" cy="995023"/>
          </a:xfrm>
          <a:prstGeom prst="rect">
            <a:avLst/>
          </a:prstGeom>
        </p:spPr>
      </p:pic>
    </p:spTree>
    <p:extLst>
      <p:ext uri="{BB962C8B-B14F-4D97-AF65-F5344CB8AC3E}">
        <p14:creationId xmlns:p14="http://schemas.microsoft.com/office/powerpoint/2010/main" val="211362082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AR" dirty="0" smtClean="0"/>
              <a:t>El criterio de la TASA INTERNA DE RETORNO: </a:t>
            </a:r>
            <a:endParaRPr lang="es-AR" dirty="0"/>
          </a:p>
        </p:txBody>
      </p:sp>
      <p:sp>
        <p:nvSpPr>
          <p:cNvPr id="3" name="Marcador de contenido 2"/>
          <p:cNvSpPr>
            <a:spLocks noGrp="1"/>
          </p:cNvSpPr>
          <p:nvPr>
            <p:ph idx="1"/>
          </p:nvPr>
        </p:nvSpPr>
        <p:spPr>
          <a:xfrm>
            <a:off x="508000" y="2477692"/>
            <a:ext cx="8276771" cy="3294458"/>
          </a:xfrm>
        </p:spPr>
        <p:txBody>
          <a:bodyPr>
            <a:noAutofit/>
          </a:bodyPr>
          <a:lstStyle/>
          <a:p>
            <a:pPr algn="just"/>
            <a:r>
              <a:rPr lang="es-AR" sz="1800" dirty="0"/>
              <a:t>La TIR evalúa el proyecto  en función de la única tasa de rendimiento por período con la cual la totalidad de los beneficios actualizados son exactamente iguales a los desembolsos expresados en moneda actual.</a:t>
            </a:r>
          </a:p>
          <a:p>
            <a:pPr algn="just"/>
            <a:r>
              <a:rPr lang="es-AR" sz="1800" b="1" dirty="0"/>
              <a:t>Representa la tasa de interés más alta que un inversionista podría pagar sin perder dinero, cancelando la financiación con los flujos de fondos generados.</a:t>
            </a:r>
          </a:p>
          <a:p>
            <a:pPr algn="just"/>
            <a:r>
              <a:rPr lang="es-AR" sz="1800" dirty="0"/>
              <a:t>El criterio es equivalente a hacer el VAN igual a cero.</a:t>
            </a:r>
          </a:p>
          <a:p>
            <a:pPr algn="just"/>
            <a:r>
              <a:rPr lang="es-AR" sz="1800" dirty="0"/>
              <a:t>La tasa así calculada se compara con la tasa de descuento de la empresa, si la TIR es igual o mayor a ésta, el proyecto debe aceptarse.</a:t>
            </a:r>
          </a:p>
        </p:txBody>
      </p:sp>
    </p:spTree>
    <p:extLst>
      <p:ext uri="{BB962C8B-B14F-4D97-AF65-F5344CB8AC3E}">
        <p14:creationId xmlns:p14="http://schemas.microsoft.com/office/powerpoint/2010/main" val="50797942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AR" dirty="0" smtClean="0"/>
              <a:t>El criterio del PERÍODO DE RECUPERACIÓN DE LA INVERSIÓN: PRI</a:t>
            </a:r>
            <a:endParaRPr lang="es-AR" dirty="0"/>
          </a:p>
        </p:txBody>
      </p:sp>
      <p:sp>
        <p:nvSpPr>
          <p:cNvPr id="3" name="Marcador de contenido 2"/>
          <p:cNvSpPr>
            <a:spLocks noGrp="1"/>
          </p:cNvSpPr>
          <p:nvPr>
            <p:ph idx="1"/>
          </p:nvPr>
        </p:nvSpPr>
        <p:spPr>
          <a:xfrm>
            <a:off x="373176" y="2125266"/>
            <a:ext cx="8591210" cy="3263504"/>
          </a:xfrm>
        </p:spPr>
        <p:txBody>
          <a:bodyPr/>
          <a:lstStyle/>
          <a:p>
            <a:pPr algn="just"/>
            <a:r>
              <a:rPr lang="es-AR" sz="1800" dirty="0">
                <a:solidFill>
                  <a:schemeClr val="tx1">
                    <a:lumMod val="95000"/>
                    <a:lumOff val="5000"/>
                  </a:schemeClr>
                </a:solidFill>
              </a:rPr>
              <a:t>Este criterio indica el número de períodos necesarios para recuperar la inversión. Relaciona la inversión inicial requerida con el flujo de beneficios netos actualizados.</a:t>
            </a:r>
          </a:p>
          <a:p>
            <a:pPr algn="just"/>
            <a:r>
              <a:rPr lang="es-AR" sz="1800" dirty="0">
                <a:solidFill>
                  <a:schemeClr val="tx1">
                    <a:lumMod val="95000"/>
                    <a:lumOff val="5000"/>
                  </a:schemeClr>
                </a:solidFill>
              </a:rPr>
              <a:t>Este resultado se compara con el número de períodos aceptable por la empresa.</a:t>
            </a:r>
          </a:p>
          <a:p>
            <a:endParaRPr lang="es-AR" dirty="0" smtClean="0"/>
          </a:p>
          <a:p>
            <a:endParaRPr lang="es-AR" dirty="0"/>
          </a:p>
        </p:txBody>
      </p:sp>
      <p:pic>
        <p:nvPicPr>
          <p:cNvPr id="1026" name="Picture 2" descr="Cómo calcular el periodo de recuperación de inversión en bienes raí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3193" y="3892154"/>
            <a:ext cx="5622131" cy="821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05468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AR" dirty="0" smtClean="0"/>
              <a:t>Criterio de la RAZÓN BENEFICIO-COSTO:</a:t>
            </a:r>
            <a:endParaRPr lang="es-AR" dirty="0"/>
          </a:p>
        </p:txBody>
      </p:sp>
      <p:sp>
        <p:nvSpPr>
          <p:cNvPr id="5" name="Marcador de contenido 4"/>
          <p:cNvSpPr>
            <a:spLocks noGrp="1"/>
          </p:cNvSpPr>
          <p:nvPr>
            <p:ph idx="1"/>
          </p:nvPr>
        </p:nvSpPr>
        <p:spPr>
          <a:xfrm>
            <a:off x="508000" y="2477692"/>
            <a:ext cx="7476671" cy="3212816"/>
          </a:xfrm>
        </p:spPr>
        <p:txBody>
          <a:bodyPr/>
          <a:lstStyle/>
          <a:p>
            <a:pPr algn="just"/>
            <a:r>
              <a:rPr lang="es-AR" sz="1800" dirty="0">
                <a:solidFill>
                  <a:schemeClr val="tx1">
                    <a:lumMod val="95000"/>
                    <a:lumOff val="5000"/>
                  </a:schemeClr>
                </a:solidFill>
              </a:rPr>
              <a:t>Si el análisis de la relación C/B es mayor a 1 significa que es rentable, mientras que si es igual o menor a 1 indica que no es rentable.</a:t>
            </a:r>
          </a:p>
          <a:p>
            <a:pPr algn="just"/>
            <a:r>
              <a:rPr lang="es-AR" sz="1800" dirty="0">
                <a:solidFill>
                  <a:schemeClr val="tx1">
                    <a:lumMod val="95000"/>
                    <a:lumOff val="5000"/>
                  </a:schemeClr>
                </a:solidFill>
              </a:rPr>
              <a:t>Se toma el resultado y se compara con otros proyectos.</a:t>
            </a:r>
          </a:p>
          <a:p>
            <a:pPr algn="just"/>
            <a:r>
              <a:rPr lang="es-AR" sz="1800" dirty="0">
                <a:solidFill>
                  <a:schemeClr val="tx1">
                    <a:lumMod val="95000"/>
                    <a:lumOff val="5000"/>
                  </a:schemeClr>
                </a:solidFill>
              </a:rPr>
              <a:t>Se escoge el proyecto con el mayor índice en la relación.</a:t>
            </a:r>
          </a:p>
          <a:p>
            <a:pPr algn="just"/>
            <a:endParaRPr lang="es-AR" dirty="0"/>
          </a:p>
        </p:txBody>
      </p:sp>
      <p:pic>
        <p:nvPicPr>
          <p:cNvPr id="6" name="Imagen 5"/>
          <p:cNvPicPr>
            <a:picLocks noChangeAspect="1"/>
          </p:cNvPicPr>
          <p:nvPr/>
        </p:nvPicPr>
        <p:blipFill>
          <a:blip r:embed="rId2"/>
          <a:stretch>
            <a:fillRect/>
          </a:stretch>
        </p:blipFill>
        <p:spPr>
          <a:xfrm>
            <a:off x="1462314" y="4084099"/>
            <a:ext cx="5568042" cy="1316492"/>
          </a:xfrm>
          <a:prstGeom prst="rect">
            <a:avLst/>
          </a:prstGeom>
        </p:spPr>
      </p:pic>
    </p:spTree>
    <p:extLst>
      <p:ext uri="{BB962C8B-B14F-4D97-AF65-F5344CB8AC3E}">
        <p14:creationId xmlns:p14="http://schemas.microsoft.com/office/powerpoint/2010/main" val="216532082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Análisis de Sensibilidad:</a:t>
            </a:r>
            <a:endParaRPr lang="es-AR" dirty="0"/>
          </a:p>
        </p:txBody>
      </p:sp>
      <p:sp>
        <p:nvSpPr>
          <p:cNvPr id="3" name="Marcador de contenido 2"/>
          <p:cNvSpPr>
            <a:spLocks noGrp="1"/>
          </p:cNvSpPr>
          <p:nvPr>
            <p:ph idx="1"/>
          </p:nvPr>
        </p:nvSpPr>
        <p:spPr>
          <a:xfrm>
            <a:off x="508001" y="2477692"/>
            <a:ext cx="7999185" cy="3343444"/>
          </a:xfrm>
        </p:spPr>
        <p:txBody>
          <a:bodyPr>
            <a:normAutofit fontScale="92500"/>
          </a:bodyPr>
          <a:lstStyle/>
          <a:p>
            <a:pPr algn="just"/>
            <a:r>
              <a:rPr lang="es-AR" sz="2400" dirty="0"/>
              <a:t>Los valores de las variables que se han utilizado para llevar adelante la evaluación del proyecto puede tener desviaciones con efectos determinantes en la medición de sus resultados.</a:t>
            </a:r>
          </a:p>
          <a:p>
            <a:pPr algn="just"/>
            <a:r>
              <a:rPr lang="es-AR" sz="2400" dirty="0"/>
              <a:t>El análisis de sensibilidad revela el efecto que sobre la rentabilidad del proyecto tiene una alteración en las variables relevantes.</a:t>
            </a:r>
          </a:p>
          <a:p>
            <a:pPr algn="just"/>
            <a:r>
              <a:rPr lang="es-AR" sz="2400" dirty="0"/>
              <a:t>Dependiendo del número de variable que se sensibilicen de manera simultánea, el análisis puede ser unidimensional o multidimensional</a:t>
            </a:r>
            <a:r>
              <a:rPr lang="es-AR" dirty="0" smtClean="0"/>
              <a:t>.</a:t>
            </a:r>
          </a:p>
          <a:p>
            <a:pPr algn="just"/>
            <a:endParaRPr lang="es-AR" dirty="0"/>
          </a:p>
        </p:txBody>
      </p:sp>
    </p:spTree>
    <p:extLst>
      <p:ext uri="{BB962C8B-B14F-4D97-AF65-F5344CB8AC3E}">
        <p14:creationId xmlns:p14="http://schemas.microsoft.com/office/powerpoint/2010/main" val="31373014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AR" dirty="0" smtClean="0"/>
              <a:t>Modelo unidimensional de la sensibilización del VAN.</a:t>
            </a:r>
            <a:endParaRPr lang="es-AR" dirty="0"/>
          </a:p>
        </p:txBody>
      </p:sp>
      <p:sp>
        <p:nvSpPr>
          <p:cNvPr id="3" name="Marcador de contenido 2"/>
          <p:cNvSpPr>
            <a:spLocks noGrp="1"/>
          </p:cNvSpPr>
          <p:nvPr>
            <p:ph idx="1"/>
          </p:nvPr>
        </p:nvSpPr>
        <p:spPr>
          <a:xfrm>
            <a:off x="508000" y="2477692"/>
            <a:ext cx="8260442" cy="3523058"/>
          </a:xfrm>
        </p:spPr>
        <p:txBody>
          <a:bodyPr>
            <a:noAutofit/>
          </a:bodyPr>
          <a:lstStyle/>
          <a:p>
            <a:pPr algn="just"/>
            <a:r>
              <a:rPr lang="es-AR" sz="1800" dirty="0">
                <a:solidFill>
                  <a:schemeClr val="tx1">
                    <a:lumMod val="95000"/>
                    <a:lumOff val="5000"/>
                  </a:schemeClr>
                </a:solidFill>
              </a:rPr>
              <a:t>Se realizan  cambios en los valores de las variables determinantes del proyecto para evaluar cómo se modifica el VAN del proyecto.</a:t>
            </a:r>
          </a:p>
          <a:p>
            <a:pPr algn="just"/>
            <a:r>
              <a:rPr lang="es-AR" sz="1800" dirty="0">
                <a:solidFill>
                  <a:schemeClr val="tx1">
                    <a:lumMod val="95000"/>
                    <a:lumOff val="5000"/>
                  </a:schemeClr>
                </a:solidFill>
              </a:rPr>
              <a:t>Las variables a sensibilizar serán:</a:t>
            </a:r>
          </a:p>
          <a:p>
            <a:pPr marL="385763" indent="-385763" algn="just">
              <a:buAutoNum type="alphaLcParenR"/>
            </a:pPr>
            <a:r>
              <a:rPr lang="es-AR" sz="1800" dirty="0">
                <a:solidFill>
                  <a:schemeClr val="tx1">
                    <a:lumMod val="95000"/>
                    <a:lumOff val="5000"/>
                  </a:schemeClr>
                </a:solidFill>
              </a:rPr>
              <a:t>Inversión Inicial.</a:t>
            </a:r>
          </a:p>
          <a:p>
            <a:pPr marL="385763" indent="-385763" algn="just">
              <a:buAutoNum type="alphaLcParenR"/>
            </a:pPr>
            <a:r>
              <a:rPr lang="es-AR" sz="1800" dirty="0">
                <a:solidFill>
                  <a:schemeClr val="tx1">
                    <a:lumMod val="95000"/>
                    <a:lumOff val="5000"/>
                  </a:schemeClr>
                </a:solidFill>
              </a:rPr>
              <a:t>Ingresos del período.</a:t>
            </a:r>
          </a:p>
          <a:p>
            <a:pPr marL="385763" indent="-385763" algn="just">
              <a:buAutoNum type="alphaLcParenR"/>
            </a:pPr>
            <a:r>
              <a:rPr lang="es-AR" sz="1800" dirty="0">
                <a:solidFill>
                  <a:schemeClr val="tx1">
                    <a:lumMod val="95000"/>
                    <a:lumOff val="5000"/>
                  </a:schemeClr>
                </a:solidFill>
              </a:rPr>
              <a:t>Egresos del período.</a:t>
            </a:r>
          </a:p>
          <a:p>
            <a:pPr marL="385763" indent="-385763" algn="just">
              <a:buAutoNum type="alphaLcParenR"/>
            </a:pPr>
            <a:r>
              <a:rPr lang="es-AR" sz="1800" dirty="0">
                <a:solidFill>
                  <a:schemeClr val="tx1">
                    <a:lumMod val="95000"/>
                    <a:lumOff val="5000"/>
                  </a:schemeClr>
                </a:solidFill>
              </a:rPr>
              <a:t>Tasa de descuento.</a:t>
            </a:r>
          </a:p>
          <a:p>
            <a:pPr marL="385763" indent="-385763" algn="just">
              <a:buAutoNum type="alphaLcParenR"/>
            </a:pPr>
            <a:r>
              <a:rPr lang="es-AR" sz="1800" dirty="0">
                <a:solidFill>
                  <a:schemeClr val="tx1">
                    <a:lumMod val="95000"/>
                    <a:lumOff val="5000"/>
                  </a:schemeClr>
                </a:solidFill>
              </a:rPr>
              <a:t>Períodos.</a:t>
            </a:r>
          </a:p>
        </p:txBody>
      </p:sp>
    </p:spTree>
    <p:extLst>
      <p:ext uri="{BB962C8B-B14F-4D97-AF65-F5344CB8AC3E}">
        <p14:creationId xmlns:p14="http://schemas.microsoft.com/office/powerpoint/2010/main" val="306296764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 y="1131094"/>
            <a:ext cx="8948057" cy="994172"/>
          </a:xfrm>
        </p:spPr>
        <p:txBody>
          <a:bodyPr>
            <a:normAutofit/>
          </a:bodyPr>
          <a:lstStyle/>
          <a:p>
            <a:r>
              <a:rPr lang="es-AR" sz="2850" dirty="0"/>
              <a:t>Modelo multidimensional de la sensibilización del VAN.</a:t>
            </a:r>
          </a:p>
        </p:txBody>
      </p:sp>
      <p:sp>
        <p:nvSpPr>
          <p:cNvPr id="3" name="Marcador de contenido 2"/>
          <p:cNvSpPr>
            <a:spLocks noGrp="1"/>
          </p:cNvSpPr>
          <p:nvPr>
            <p:ph idx="1"/>
          </p:nvPr>
        </p:nvSpPr>
        <p:spPr>
          <a:xfrm>
            <a:off x="628650" y="1869622"/>
            <a:ext cx="7886700" cy="3620351"/>
          </a:xfrm>
        </p:spPr>
        <p:txBody>
          <a:bodyPr/>
          <a:lstStyle/>
          <a:p>
            <a:r>
              <a:rPr lang="es-AR" dirty="0" smtClean="0"/>
              <a:t>Incorpora en su análisis el efecto combinado de la variación de dos o más variables analizando cual será su impacto en los valores del VAN.</a:t>
            </a:r>
          </a:p>
          <a:p>
            <a:endParaRPr lang="es-AR" dirty="0"/>
          </a:p>
        </p:txBody>
      </p:sp>
      <p:pic>
        <p:nvPicPr>
          <p:cNvPr id="4" name="Imagen 3"/>
          <p:cNvPicPr>
            <a:picLocks noChangeAspect="1"/>
          </p:cNvPicPr>
          <p:nvPr/>
        </p:nvPicPr>
        <p:blipFill>
          <a:blip r:embed="rId2"/>
          <a:stretch>
            <a:fillRect/>
          </a:stretch>
        </p:blipFill>
        <p:spPr>
          <a:xfrm>
            <a:off x="1143000" y="2783171"/>
            <a:ext cx="6858000" cy="3445329"/>
          </a:xfrm>
          <a:prstGeom prst="rect">
            <a:avLst/>
          </a:prstGeom>
        </p:spPr>
      </p:pic>
    </p:spTree>
    <p:extLst>
      <p:ext uri="{BB962C8B-B14F-4D97-AF65-F5344CB8AC3E}">
        <p14:creationId xmlns:p14="http://schemas.microsoft.com/office/powerpoint/2010/main" val="29690422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ujo">
  <a:themeElements>
    <a:clrScheme name="Flujo">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ujo">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ujo">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653</TotalTime>
  <Words>4122</Words>
  <Application>Microsoft Office PowerPoint</Application>
  <PresentationFormat>Presentación en pantalla (4:3)</PresentationFormat>
  <Paragraphs>359</Paragraphs>
  <Slides>89</Slides>
  <Notes>2</Notes>
  <HiddenSlides>0</HiddenSlides>
  <MMClips>0</MMClips>
  <ScaleCrop>false</ScaleCrop>
  <HeadingPairs>
    <vt:vector size="8" baseType="variant">
      <vt:variant>
        <vt:lpstr>Fuentes usadas</vt:lpstr>
      </vt:variant>
      <vt:variant>
        <vt:i4>6</vt:i4>
      </vt:variant>
      <vt:variant>
        <vt:lpstr>Tema</vt:lpstr>
      </vt:variant>
      <vt:variant>
        <vt:i4>1</vt:i4>
      </vt:variant>
      <vt:variant>
        <vt:lpstr>Servidores OLE incrustados</vt:lpstr>
      </vt:variant>
      <vt:variant>
        <vt:i4>1</vt:i4>
      </vt:variant>
      <vt:variant>
        <vt:lpstr>Títulos de diapositiva</vt:lpstr>
      </vt:variant>
      <vt:variant>
        <vt:i4>89</vt:i4>
      </vt:variant>
    </vt:vector>
  </HeadingPairs>
  <TitlesOfParts>
    <vt:vector size="97" baseType="lpstr">
      <vt:lpstr>Arial</vt:lpstr>
      <vt:lpstr>Calibri</vt:lpstr>
      <vt:lpstr>Constantia</vt:lpstr>
      <vt:lpstr>Google Sans</vt:lpstr>
      <vt:lpstr>Wingdings 2</vt:lpstr>
      <vt:lpstr>Wingdings 3</vt:lpstr>
      <vt:lpstr>Flujo</vt:lpstr>
      <vt:lpstr>Hoja de cálculo</vt:lpstr>
      <vt:lpstr>Economía Aplicada: Módulo Marketing.</vt:lpstr>
      <vt:lpstr>Concepto de Marketing:</vt:lpstr>
      <vt:lpstr>Conceptos básicos:</vt:lpstr>
      <vt:lpstr>Presentación de PowerPoint</vt:lpstr>
      <vt:lpstr>Mercado y Marketing:</vt:lpstr>
      <vt:lpstr>Segmentación del Mercado:</vt:lpstr>
      <vt:lpstr>Tipos de Segmentación de mercado:</vt:lpstr>
      <vt:lpstr>Ejemplos:</vt:lpstr>
      <vt:lpstr>Segmentación psicográfica:</vt:lpstr>
      <vt:lpstr>Ejemplos de segmentación de mercado:</vt:lpstr>
      <vt:lpstr>Segmentación conductual:</vt:lpstr>
      <vt:lpstr>Características:</vt:lpstr>
      <vt:lpstr>Segmentación demográfica:</vt:lpstr>
      <vt:lpstr>Tipos de Segmentación:</vt:lpstr>
      <vt:lpstr>Tipos de Segmentación:</vt:lpstr>
      <vt:lpstr>Estudio de Mercado: Concepto</vt:lpstr>
      <vt:lpstr>Mercados que intervienen:</vt:lpstr>
      <vt:lpstr>Mercados que intervienen:</vt:lpstr>
      <vt:lpstr>Mercados que Intervienen:</vt:lpstr>
      <vt:lpstr>Mercados que intervienen:</vt:lpstr>
      <vt:lpstr>Objetivos del estudio de mercado:</vt:lpstr>
      <vt:lpstr>Etapas del Estudio de mercado:</vt:lpstr>
      <vt:lpstr>Etapas del estudio de mercado:</vt:lpstr>
      <vt:lpstr>El Consumidor:</vt:lpstr>
      <vt:lpstr>Estrategia comercial:</vt:lpstr>
      <vt:lpstr>Estrategia comercial:</vt:lpstr>
      <vt:lpstr>Fijación técnica del precio:</vt:lpstr>
      <vt:lpstr>Elasticidad precio de la Demanda.</vt:lpstr>
      <vt:lpstr>Factores Determinantes de la Elasticidad precio de demanda.</vt:lpstr>
      <vt:lpstr>Coeficientes posibles.</vt:lpstr>
      <vt:lpstr>Elasticidad precio de la Demanda.</vt:lpstr>
      <vt:lpstr>Elasticidad precio de la Demanda.</vt:lpstr>
      <vt:lpstr>Elasticidad Ingreso de la Demanda.</vt:lpstr>
      <vt:lpstr>Elasticidad ingreso de la demanda.</vt:lpstr>
      <vt:lpstr>Elasticidad cruzada de la demanda.</vt:lpstr>
      <vt:lpstr>Elasticidad precio de Oferta.</vt:lpstr>
      <vt:lpstr>Coeficientes posibles:</vt:lpstr>
      <vt:lpstr>Estrategias de fijación de precios:</vt:lpstr>
      <vt:lpstr> Estrategias de fijación de precios.</vt:lpstr>
      <vt:lpstr>Morfología de Mercado: COMPETENCIA PERFECTA</vt:lpstr>
      <vt:lpstr>Competencia Perfecta: Características</vt:lpstr>
      <vt:lpstr>Competencia Perfecta: Supuestos</vt:lpstr>
      <vt:lpstr>Período de mercado o plazo inmediato:</vt:lpstr>
      <vt:lpstr>Período de mercado o plazo inmediato:</vt:lpstr>
      <vt:lpstr>Demanda de mercado y demanda individual.</vt:lpstr>
      <vt:lpstr>Demanda a la cual se enfrenta el competidor perfecto:</vt:lpstr>
      <vt:lpstr>Flujos financieros del competidor perfecto:</vt:lpstr>
      <vt:lpstr>Maximización de beneficios: Enfoque IT-CT</vt:lpstr>
      <vt:lpstr>Maximización de beneficios: Enfoque Img=Cmg</vt:lpstr>
      <vt:lpstr>Nivel Óptimo de Producción:</vt:lpstr>
      <vt:lpstr>Ganancias Normales:</vt:lpstr>
      <vt:lpstr>Presentación de PowerPoint</vt:lpstr>
      <vt:lpstr>Presentación de PowerPoint</vt:lpstr>
      <vt:lpstr>Beneficios súper normales:</vt:lpstr>
      <vt:lpstr>Curva de Oferta </vt:lpstr>
      <vt:lpstr>Equilibrio a largo plazo para una empresa competitiva:</vt:lpstr>
      <vt:lpstr>Presentación de PowerPoint</vt:lpstr>
      <vt:lpstr>Presentación de PowerPoint</vt:lpstr>
      <vt:lpstr>Presentación de PowerPoint</vt:lpstr>
      <vt:lpstr>Equilibrio a Largo Plazo:</vt:lpstr>
      <vt:lpstr>Ejercicios de Aplicación: Complete las columnas faltantes.</vt:lpstr>
      <vt:lpstr>Solución:</vt:lpstr>
      <vt:lpstr>MONOPOLIO</vt:lpstr>
      <vt:lpstr>Monopolio no discriminatorio:</vt:lpstr>
      <vt:lpstr>Monopolio no discriminatorio:</vt:lpstr>
      <vt:lpstr>Monopolio:</vt:lpstr>
      <vt:lpstr>Monopolio:</vt:lpstr>
      <vt:lpstr>Monopolio:</vt:lpstr>
      <vt:lpstr>Monopolio:</vt:lpstr>
      <vt:lpstr>Discriminación de precios: Condiciones</vt:lpstr>
      <vt:lpstr>Condiciones para la discriminación de precios:</vt:lpstr>
      <vt:lpstr>Formas de discriminación:</vt:lpstr>
      <vt:lpstr>Ejercicios propuestos:</vt:lpstr>
      <vt:lpstr>Ejercicios Propuestos:</vt:lpstr>
      <vt:lpstr>Solución propuesta:</vt:lpstr>
      <vt:lpstr>COMPETENCIA MONOPOLISTA</vt:lpstr>
      <vt:lpstr>COMPETENCIA MONOPOLISTA</vt:lpstr>
      <vt:lpstr>OLIGOPOLIO</vt:lpstr>
      <vt:lpstr>OLIGOPOLIO:</vt:lpstr>
      <vt:lpstr>Criterios de rentabilidad privada. Análisis de Sensibilidad.</vt:lpstr>
      <vt:lpstr>Evaluación de Proyectos:</vt:lpstr>
      <vt:lpstr>Variables a utilizar:</vt:lpstr>
      <vt:lpstr>Criterios de Rentabilidad aplicados:</vt:lpstr>
      <vt:lpstr>El criterio de la TASA INTERNA DE RETORNO: </vt:lpstr>
      <vt:lpstr>El criterio del PERÍODO DE RECUPERACIÓN DE LA INVERSIÓN: PRI</vt:lpstr>
      <vt:lpstr>Criterio de la RAZÓN BENEFICIO-COSTO:</vt:lpstr>
      <vt:lpstr>Análisis de Sensibilidad:</vt:lpstr>
      <vt:lpstr>Modelo unidimensional de la sensibilización del VAN.</vt:lpstr>
      <vt:lpstr>Modelo multidimensional de la sensibilización del VAN.</vt:lpstr>
    </vt:vector>
  </TitlesOfParts>
  <Company>Windows uE 2010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Economía Aplicada: Módulo Marketing.</dc:title>
  <dc:creator>WinuE</dc:creator>
  <cp:lastModifiedBy>Usuario</cp:lastModifiedBy>
  <cp:revision>65</cp:revision>
  <dcterms:created xsi:type="dcterms:W3CDTF">2018-01-22T20:50:52Z</dcterms:created>
  <dcterms:modified xsi:type="dcterms:W3CDTF">2025-05-07T10:59:31Z</dcterms:modified>
</cp:coreProperties>
</file>