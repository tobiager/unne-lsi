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256" r:id="rId2"/>
    <p:sldId id="257" r:id="rId3"/>
    <p:sldId id="258" r:id="rId4"/>
    <p:sldId id="259" r:id="rId5"/>
    <p:sldId id="260" r:id="rId6"/>
    <p:sldId id="261" r:id="rId7"/>
    <p:sldId id="262" r:id="rId8"/>
    <p:sldId id="267" r:id="rId9"/>
    <p:sldId id="268" r:id="rId10"/>
    <p:sldId id="271" r:id="rId11"/>
    <p:sldId id="269" r:id="rId12"/>
    <p:sldId id="293" r:id="rId13"/>
    <p:sldId id="272" r:id="rId14"/>
    <p:sldId id="263" r:id="rId15"/>
    <p:sldId id="265" r:id="rId16"/>
    <p:sldId id="266"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304"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06" r:id="rId54"/>
    <p:sldId id="307" r:id="rId55"/>
    <p:sldId id="308" r:id="rId56"/>
    <p:sldId id="309" r:id="rId57"/>
    <p:sldId id="310" r:id="rId58"/>
    <p:sldId id="286" r:id="rId59"/>
    <p:sldId id="290" r:id="rId60"/>
    <p:sldId id="291" r:id="rId61"/>
    <p:sldId id="292" r:id="rId62"/>
    <p:sldId id="288" r:id="rId63"/>
    <p:sldId id="287" r:id="rId64"/>
    <p:sldId id="289" r:id="rId65"/>
    <p:sldId id="294" r:id="rId66"/>
    <p:sldId id="295" r:id="rId67"/>
    <p:sldId id="296" r:id="rId68"/>
    <p:sldId id="297" r:id="rId69"/>
    <p:sldId id="298" r:id="rId70"/>
    <p:sldId id="299" r:id="rId71"/>
    <p:sldId id="300" r:id="rId72"/>
    <p:sldId id="301" r:id="rId73"/>
    <p:sldId id="302" r:id="rId74"/>
    <p:sldId id="303" r:id="rId75"/>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C6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2C9645-C4AA-4FBE-85D9-9470B4C8CF55}"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AR"/>
        </a:p>
      </dgm:t>
    </dgm:pt>
    <dgm:pt modelId="{9FCE1A17-468C-41C9-B4CD-F2E4860202F8}">
      <dgm:prSet phldrT="[Texto]"/>
      <dgm:spPr>
        <a:solidFill>
          <a:srgbClr val="00B0F0"/>
        </a:solidFill>
        <a:ln>
          <a:solidFill>
            <a:schemeClr val="accent1"/>
          </a:solidFill>
        </a:ln>
      </dgm:spPr>
      <dgm:t>
        <a:bodyPr/>
        <a:lstStyle/>
        <a:p>
          <a:r>
            <a:rPr lang="es-AR" dirty="0" smtClean="0"/>
            <a:t>Necesidad Humana</a:t>
          </a:r>
          <a:endParaRPr lang="es-AR" dirty="0"/>
        </a:p>
      </dgm:t>
    </dgm:pt>
    <dgm:pt modelId="{308401EB-2D75-4057-9C1B-822B570E905A}" type="parTrans" cxnId="{0634A5EC-476F-40E6-97B5-6C94825EF1F6}">
      <dgm:prSet/>
      <dgm:spPr/>
      <dgm:t>
        <a:bodyPr/>
        <a:lstStyle/>
        <a:p>
          <a:endParaRPr lang="es-AR"/>
        </a:p>
      </dgm:t>
    </dgm:pt>
    <dgm:pt modelId="{60304752-F3E0-45B0-B597-FD95278CD153}" type="sibTrans" cxnId="{0634A5EC-476F-40E6-97B5-6C94825EF1F6}">
      <dgm:prSet/>
      <dgm:spPr/>
      <dgm:t>
        <a:bodyPr/>
        <a:lstStyle/>
        <a:p>
          <a:endParaRPr lang="es-AR"/>
        </a:p>
      </dgm:t>
    </dgm:pt>
    <dgm:pt modelId="{9C2F642C-601F-476F-B8A5-2216FB5C8B72}">
      <dgm:prSet phldrT="[Texto]"/>
      <dgm:spPr>
        <a:solidFill>
          <a:srgbClr val="FFC000"/>
        </a:solidFill>
      </dgm:spPr>
      <dgm:t>
        <a:bodyPr/>
        <a:lstStyle/>
        <a:p>
          <a:r>
            <a:rPr lang="es-AR" dirty="0" smtClean="0"/>
            <a:t>Deseo humano</a:t>
          </a:r>
          <a:endParaRPr lang="es-AR" dirty="0"/>
        </a:p>
      </dgm:t>
    </dgm:pt>
    <dgm:pt modelId="{048A8A02-7CB2-4487-915D-A1E5CF182830}" type="parTrans" cxnId="{99274CE2-C502-4CEB-837F-6893221C1A62}">
      <dgm:prSet/>
      <dgm:spPr/>
      <dgm:t>
        <a:bodyPr/>
        <a:lstStyle/>
        <a:p>
          <a:endParaRPr lang="es-AR"/>
        </a:p>
      </dgm:t>
    </dgm:pt>
    <dgm:pt modelId="{DBD4E011-21E8-44A1-B247-3FBE6A682E84}" type="sibTrans" cxnId="{99274CE2-C502-4CEB-837F-6893221C1A62}">
      <dgm:prSet/>
      <dgm:spPr/>
      <dgm:t>
        <a:bodyPr/>
        <a:lstStyle/>
        <a:p>
          <a:endParaRPr lang="es-AR"/>
        </a:p>
      </dgm:t>
    </dgm:pt>
    <dgm:pt modelId="{D051DE39-ECED-4468-88EC-D126B403F19D}">
      <dgm:prSet phldrT="[Texto]"/>
      <dgm:spPr>
        <a:solidFill>
          <a:srgbClr val="7030A0"/>
        </a:solidFill>
      </dgm:spPr>
      <dgm:t>
        <a:bodyPr/>
        <a:lstStyle/>
        <a:p>
          <a:r>
            <a:rPr lang="es-AR" dirty="0" smtClean="0"/>
            <a:t>Demandas</a:t>
          </a:r>
          <a:endParaRPr lang="es-AR" dirty="0"/>
        </a:p>
      </dgm:t>
    </dgm:pt>
    <dgm:pt modelId="{4D234925-623B-4E77-B5E8-DEBF2FD7F83C}" type="parTrans" cxnId="{A27BA5F4-9221-4012-B9D9-F91C3E1548D7}">
      <dgm:prSet/>
      <dgm:spPr/>
      <dgm:t>
        <a:bodyPr/>
        <a:lstStyle/>
        <a:p>
          <a:endParaRPr lang="es-AR"/>
        </a:p>
      </dgm:t>
    </dgm:pt>
    <dgm:pt modelId="{475BD358-0BC2-4AEF-921F-786DFE3F9EBD}" type="sibTrans" cxnId="{A27BA5F4-9221-4012-B9D9-F91C3E1548D7}">
      <dgm:prSet/>
      <dgm:spPr/>
      <dgm:t>
        <a:bodyPr/>
        <a:lstStyle/>
        <a:p>
          <a:endParaRPr lang="es-AR"/>
        </a:p>
      </dgm:t>
    </dgm:pt>
    <dgm:pt modelId="{5137D92D-1CF4-470B-BE20-F355B226B31E}">
      <dgm:prSet phldrT="[Texto]"/>
      <dgm:spPr/>
      <dgm:t>
        <a:bodyPr/>
        <a:lstStyle/>
        <a:p>
          <a:r>
            <a:rPr lang="es-AR" dirty="0" smtClean="0"/>
            <a:t>Producto</a:t>
          </a:r>
          <a:endParaRPr lang="es-AR" dirty="0"/>
        </a:p>
      </dgm:t>
    </dgm:pt>
    <dgm:pt modelId="{48906F9A-7D48-415E-8023-161C020DC58C}" type="parTrans" cxnId="{9D76D964-E118-444D-BE0A-D593B05B8E1B}">
      <dgm:prSet/>
      <dgm:spPr/>
      <dgm:t>
        <a:bodyPr/>
        <a:lstStyle/>
        <a:p>
          <a:endParaRPr lang="es-AR"/>
        </a:p>
      </dgm:t>
    </dgm:pt>
    <dgm:pt modelId="{7B783562-2205-4B63-9118-E8DDE8E6C6DC}" type="sibTrans" cxnId="{9D76D964-E118-444D-BE0A-D593B05B8E1B}">
      <dgm:prSet/>
      <dgm:spPr/>
      <dgm:t>
        <a:bodyPr/>
        <a:lstStyle/>
        <a:p>
          <a:endParaRPr lang="es-AR"/>
        </a:p>
      </dgm:t>
    </dgm:pt>
    <dgm:pt modelId="{208592E8-884B-4952-8861-6FCBB437E178}">
      <dgm:prSet phldrT="[Texto]"/>
      <dgm:spPr>
        <a:solidFill>
          <a:srgbClr val="00B050"/>
        </a:solidFill>
      </dgm:spPr>
      <dgm:t>
        <a:bodyPr/>
        <a:lstStyle/>
        <a:p>
          <a:r>
            <a:rPr lang="es-AR" dirty="0" smtClean="0"/>
            <a:t>Intercambio</a:t>
          </a:r>
          <a:endParaRPr lang="es-AR" dirty="0"/>
        </a:p>
      </dgm:t>
    </dgm:pt>
    <dgm:pt modelId="{8E4281B3-A96B-4C22-9408-9902E53AF7BC}" type="parTrans" cxnId="{D44AD718-E0F9-4ECE-84BA-DDA60F2BE091}">
      <dgm:prSet/>
      <dgm:spPr/>
      <dgm:t>
        <a:bodyPr/>
        <a:lstStyle/>
        <a:p>
          <a:endParaRPr lang="es-AR"/>
        </a:p>
      </dgm:t>
    </dgm:pt>
    <dgm:pt modelId="{BC4A6FB2-74A1-4E24-A627-0F937D008F7C}" type="sibTrans" cxnId="{D44AD718-E0F9-4ECE-84BA-DDA60F2BE091}">
      <dgm:prSet/>
      <dgm:spPr/>
      <dgm:t>
        <a:bodyPr/>
        <a:lstStyle/>
        <a:p>
          <a:endParaRPr lang="es-AR"/>
        </a:p>
      </dgm:t>
    </dgm:pt>
    <dgm:pt modelId="{39F320BE-F71F-407D-9617-AEBD461F251B}" type="pres">
      <dgm:prSet presAssocID="{3D2C9645-C4AA-4FBE-85D9-9470B4C8CF55}" presName="cycle" presStyleCnt="0">
        <dgm:presLayoutVars>
          <dgm:dir/>
          <dgm:resizeHandles val="exact"/>
        </dgm:presLayoutVars>
      </dgm:prSet>
      <dgm:spPr/>
      <dgm:t>
        <a:bodyPr/>
        <a:lstStyle/>
        <a:p>
          <a:endParaRPr lang="es-AR"/>
        </a:p>
      </dgm:t>
    </dgm:pt>
    <dgm:pt modelId="{26B9365A-8C8F-409A-B6AC-A83762A15EC5}" type="pres">
      <dgm:prSet presAssocID="{9FCE1A17-468C-41C9-B4CD-F2E4860202F8}" presName="node" presStyleLbl="node1" presStyleIdx="0" presStyleCnt="5">
        <dgm:presLayoutVars>
          <dgm:bulletEnabled val="1"/>
        </dgm:presLayoutVars>
      </dgm:prSet>
      <dgm:spPr/>
      <dgm:t>
        <a:bodyPr/>
        <a:lstStyle/>
        <a:p>
          <a:endParaRPr lang="es-AR"/>
        </a:p>
      </dgm:t>
    </dgm:pt>
    <dgm:pt modelId="{FBDF4867-F007-420F-A360-6995386D0CBF}" type="pres">
      <dgm:prSet presAssocID="{60304752-F3E0-45B0-B597-FD95278CD153}" presName="sibTrans" presStyleLbl="sibTrans2D1" presStyleIdx="0" presStyleCnt="5"/>
      <dgm:spPr/>
      <dgm:t>
        <a:bodyPr/>
        <a:lstStyle/>
        <a:p>
          <a:endParaRPr lang="es-AR"/>
        </a:p>
      </dgm:t>
    </dgm:pt>
    <dgm:pt modelId="{92E99406-10D2-4A72-8135-6A2ABBC27205}" type="pres">
      <dgm:prSet presAssocID="{60304752-F3E0-45B0-B597-FD95278CD153}" presName="connectorText" presStyleLbl="sibTrans2D1" presStyleIdx="0" presStyleCnt="5"/>
      <dgm:spPr/>
      <dgm:t>
        <a:bodyPr/>
        <a:lstStyle/>
        <a:p>
          <a:endParaRPr lang="es-AR"/>
        </a:p>
      </dgm:t>
    </dgm:pt>
    <dgm:pt modelId="{EA0DB310-18EF-4EF4-A79D-38ECF4523D91}" type="pres">
      <dgm:prSet presAssocID="{9C2F642C-601F-476F-B8A5-2216FB5C8B72}" presName="node" presStyleLbl="node1" presStyleIdx="1" presStyleCnt="5">
        <dgm:presLayoutVars>
          <dgm:bulletEnabled val="1"/>
        </dgm:presLayoutVars>
      </dgm:prSet>
      <dgm:spPr/>
      <dgm:t>
        <a:bodyPr/>
        <a:lstStyle/>
        <a:p>
          <a:endParaRPr lang="es-AR"/>
        </a:p>
      </dgm:t>
    </dgm:pt>
    <dgm:pt modelId="{41A89100-2A06-4399-8419-AB24DB797541}" type="pres">
      <dgm:prSet presAssocID="{DBD4E011-21E8-44A1-B247-3FBE6A682E84}" presName="sibTrans" presStyleLbl="sibTrans2D1" presStyleIdx="1" presStyleCnt="5"/>
      <dgm:spPr/>
      <dgm:t>
        <a:bodyPr/>
        <a:lstStyle/>
        <a:p>
          <a:endParaRPr lang="es-AR"/>
        </a:p>
      </dgm:t>
    </dgm:pt>
    <dgm:pt modelId="{B083305A-8A55-4741-B90D-D46E09F73C90}" type="pres">
      <dgm:prSet presAssocID="{DBD4E011-21E8-44A1-B247-3FBE6A682E84}" presName="connectorText" presStyleLbl="sibTrans2D1" presStyleIdx="1" presStyleCnt="5"/>
      <dgm:spPr/>
      <dgm:t>
        <a:bodyPr/>
        <a:lstStyle/>
        <a:p>
          <a:endParaRPr lang="es-AR"/>
        </a:p>
      </dgm:t>
    </dgm:pt>
    <dgm:pt modelId="{AB2BD0D7-4FB4-4A59-9712-B06F8A8BB22D}" type="pres">
      <dgm:prSet presAssocID="{D051DE39-ECED-4468-88EC-D126B403F19D}" presName="node" presStyleLbl="node1" presStyleIdx="2" presStyleCnt="5">
        <dgm:presLayoutVars>
          <dgm:bulletEnabled val="1"/>
        </dgm:presLayoutVars>
      </dgm:prSet>
      <dgm:spPr/>
      <dgm:t>
        <a:bodyPr/>
        <a:lstStyle/>
        <a:p>
          <a:endParaRPr lang="es-AR"/>
        </a:p>
      </dgm:t>
    </dgm:pt>
    <dgm:pt modelId="{FBAB90F6-5585-481E-A4F1-7B8F6E6D85A0}" type="pres">
      <dgm:prSet presAssocID="{475BD358-0BC2-4AEF-921F-786DFE3F9EBD}" presName="sibTrans" presStyleLbl="sibTrans2D1" presStyleIdx="2" presStyleCnt="5"/>
      <dgm:spPr/>
      <dgm:t>
        <a:bodyPr/>
        <a:lstStyle/>
        <a:p>
          <a:endParaRPr lang="es-AR"/>
        </a:p>
      </dgm:t>
    </dgm:pt>
    <dgm:pt modelId="{FC171122-788E-4C2E-8C10-3FE4B57AD8F0}" type="pres">
      <dgm:prSet presAssocID="{475BD358-0BC2-4AEF-921F-786DFE3F9EBD}" presName="connectorText" presStyleLbl="sibTrans2D1" presStyleIdx="2" presStyleCnt="5"/>
      <dgm:spPr/>
      <dgm:t>
        <a:bodyPr/>
        <a:lstStyle/>
        <a:p>
          <a:endParaRPr lang="es-AR"/>
        </a:p>
      </dgm:t>
    </dgm:pt>
    <dgm:pt modelId="{D37F51AD-A1C4-4DF8-A325-09B19F5E53A9}" type="pres">
      <dgm:prSet presAssocID="{5137D92D-1CF4-470B-BE20-F355B226B31E}" presName="node" presStyleLbl="node1" presStyleIdx="3" presStyleCnt="5">
        <dgm:presLayoutVars>
          <dgm:bulletEnabled val="1"/>
        </dgm:presLayoutVars>
      </dgm:prSet>
      <dgm:spPr/>
      <dgm:t>
        <a:bodyPr/>
        <a:lstStyle/>
        <a:p>
          <a:endParaRPr lang="es-AR"/>
        </a:p>
      </dgm:t>
    </dgm:pt>
    <dgm:pt modelId="{B9740F72-AAF8-4C12-B2BB-E5285A4AD8B9}" type="pres">
      <dgm:prSet presAssocID="{7B783562-2205-4B63-9118-E8DDE8E6C6DC}" presName="sibTrans" presStyleLbl="sibTrans2D1" presStyleIdx="3" presStyleCnt="5"/>
      <dgm:spPr/>
      <dgm:t>
        <a:bodyPr/>
        <a:lstStyle/>
        <a:p>
          <a:endParaRPr lang="es-AR"/>
        </a:p>
      </dgm:t>
    </dgm:pt>
    <dgm:pt modelId="{2DC083BD-4E7C-441D-B404-BC0D2C97A2BD}" type="pres">
      <dgm:prSet presAssocID="{7B783562-2205-4B63-9118-E8DDE8E6C6DC}" presName="connectorText" presStyleLbl="sibTrans2D1" presStyleIdx="3" presStyleCnt="5"/>
      <dgm:spPr/>
      <dgm:t>
        <a:bodyPr/>
        <a:lstStyle/>
        <a:p>
          <a:endParaRPr lang="es-AR"/>
        </a:p>
      </dgm:t>
    </dgm:pt>
    <dgm:pt modelId="{6CF666FE-2169-4D94-A2BA-1111022BA568}" type="pres">
      <dgm:prSet presAssocID="{208592E8-884B-4952-8861-6FCBB437E178}" presName="node" presStyleLbl="node1" presStyleIdx="4" presStyleCnt="5">
        <dgm:presLayoutVars>
          <dgm:bulletEnabled val="1"/>
        </dgm:presLayoutVars>
      </dgm:prSet>
      <dgm:spPr/>
      <dgm:t>
        <a:bodyPr/>
        <a:lstStyle/>
        <a:p>
          <a:endParaRPr lang="es-AR"/>
        </a:p>
      </dgm:t>
    </dgm:pt>
    <dgm:pt modelId="{8FAE403F-9735-4DCE-8DC2-68C9F99AC0C5}" type="pres">
      <dgm:prSet presAssocID="{BC4A6FB2-74A1-4E24-A627-0F937D008F7C}" presName="sibTrans" presStyleLbl="sibTrans2D1" presStyleIdx="4" presStyleCnt="5"/>
      <dgm:spPr/>
      <dgm:t>
        <a:bodyPr/>
        <a:lstStyle/>
        <a:p>
          <a:endParaRPr lang="es-AR"/>
        </a:p>
      </dgm:t>
    </dgm:pt>
    <dgm:pt modelId="{3C7F1FC6-26EA-4ED8-8BB6-3612CC3C7E6F}" type="pres">
      <dgm:prSet presAssocID="{BC4A6FB2-74A1-4E24-A627-0F937D008F7C}" presName="connectorText" presStyleLbl="sibTrans2D1" presStyleIdx="4" presStyleCnt="5"/>
      <dgm:spPr/>
      <dgm:t>
        <a:bodyPr/>
        <a:lstStyle/>
        <a:p>
          <a:endParaRPr lang="es-AR"/>
        </a:p>
      </dgm:t>
    </dgm:pt>
  </dgm:ptLst>
  <dgm:cxnLst>
    <dgm:cxn modelId="{9D76D964-E118-444D-BE0A-D593B05B8E1B}" srcId="{3D2C9645-C4AA-4FBE-85D9-9470B4C8CF55}" destId="{5137D92D-1CF4-470B-BE20-F355B226B31E}" srcOrd="3" destOrd="0" parTransId="{48906F9A-7D48-415E-8023-161C020DC58C}" sibTransId="{7B783562-2205-4B63-9118-E8DDE8E6C6DC}"/>
    <dgm:cxn modelId="{D44AD718-E0F9-4ECE-84BA-DDA60F2BE091}" srcId="{3D2C9645-C4AA-4FBE-85D9-9470B4C8CF55}" destId="{208592E8-884B-4952-8861-6FCBB437E178}" srcOrd="4" destOrd="0" parTransId="{8E4281B3-A96B-4C22-9408-9902E53AF7BC}" sibTransId="{BC4A6FB2-74A1-4E24-A627-0F937D008F7C}"/>
    <dgm:cxn modelId="{12CD23AC-FDAD-4EF4-9E0C-E4677099775F}" type="presOf" srcId="{DBD4E011-21E8-44A1-B247-3FBE6A682E84}" destId="{41A89100-2A06-4399-8419-AB24DB797541}" srcOrd="0" destOrd="0" presId="urn:microsoft.com/office/officeart/2005/8/layout/cycle2"/>
    <dgm:cxn modelId="{6C300CB8-3B25-4D07-AC5E-CE82C9F109E1}" type="presOf" srcId="{5137D92D-1CF4-470B-BE20-F355B226B31E}" destId="{D37F51AD-A1C4-4DF8-A325-09B19F5E53A9}" srcOrd="0" destOrd="0" presId="urn:microsoft.com/office/officeart/2005/8/layout/cycle2"/>
    <dgm:cxn modelId="{9AEAEA80-B247-447F-BB9D-BE94F4F89829}" type="presOf" srcId="{9FCE1A17-468C-41C9-B4CD-F2E4860202F8}" destId="{26B9365A-8C8F-409A-B6AC-A83762A15EC5}" srcOrd="0" destOrd="0" presId="urn:microsoft.com/office/officeart/2005/8/layout/cycle2"/>
    <dgm:cxn modelId="{F51FF4BB-D388-4E1A-A9EA-E15D7356BC84}" type="presOf" srcId="{475BD358-0BC2-4AEF-921F-786DFE3F9EBD}" destId="{FBAB90F6-5585-481E-A4F1-7B8F6E6D85A0}" srcOrd="0" destOrd="0" presId="urn:microsoft.com/office/officeart/2005/8/layout/cycle2"/>
    <dgm:cxn modelId="{37408E08-6DCF-4586-AE8F-ECDD498D59D2}" type="presOf" srcId="{BC4A6FB2-74A1-4E24-A627-0F937D008F7C}" destId="{3C7F1FC6-26EA-4ED8-8BB6-3612CC3C7E6F}" srcOrd="1" destOrd="0" presId="urn:microsoft.com/office/officeart/2005/8/layout/cycle2"/>
    <dgm:cxn modelId="{A27BA5F4-9221-4012-B9D9-F91C3E1548D7}" srcId="{3D2C9645-C4AA-4FBE-85D9-9470B4C8CF55}" destId="{D051DE39-ECED-4468-88EC-D126B403F19D}" srcOrd="2" destOrd="0" parTransId="{4D234925-623B-4E77-B5E8-DEBF2FD7F83C}" sibTransId="{475BD358-0BC2-4AEF-921F-786DFE3F9EBD}"/>
    <dgm:cxn modelId="{4E2A6E02-3DA7-4E39-BDE4-7FB462648E2A}" type="presOf" srcId="{208592E8-884B-4952-8861-6FCBB437E178}" destId="{6CF666FE-2169-4D94-A2BA-1111022BA568}" srcOrd="0" destOrd="0" presId="urn:microsoft.com/office/officeart/2005/8/layout/cycle2"/>
    <dgm:cxn modelId="{25EAB605-3BBE-4DA2-B5A8-67869CCA39D1}" type="presOf" srcId="{BC4A6FB2-74A1-4E24-A627-0F937D008F7C}" destId="{8FAE403F-9735-4DCE-8DC2-68C9F99AC0C5}" srcOrd="0" destOrd="0" presId="urn:microsoft.com/office/officeart/2005/8/layout/cycle2"/>
    <dgm:cxn modelId="{0634A5EC-476F-40E6-97B5-6C94825EF1F6}" srcId="{3D2C9645-C4AA-4FBE-85D9-9470B4C8CF55}" destId="{9FCE1A17-468C-41C9-B4CD-F2E4860202F8}" srcOrd="0" destOrd="0" parTransId="{308401EB-2D75-4057-9C1B-822B570E905A}" sibTransId="{60304752-F3E0-45B0-B597-FD95278CD153}"/>
    <dgm:cxn modelId="{28D4568C-B494-497E-9960-F41DEF2F6E50}" type="presOf" srcId="{9C2F642C-601F-476F-B8A5-2216FB5C8B72}" destId="{EA0DB310-18EF-4EF4-A79D-38ECF4523D91}" srcOrd="0" destOrd="0" presId="urn:microsoft.com/office/officeart/2005/8/layout/cycle2"/>
    <dgm:cxn modelId="{79AFE540-68F6-46AA-9FAC-942B36DA819F}" type="presOf" srcId="{3D2C9645-C4AA-4FBE-85D9-9470B4C8CF55}" destId="{39F320BE-F71F-407D-9617-AEBD461F251B}" srcOrd="0" destOrd="0" presId="urn:microsoft.com/office/officeart/2005/8/layout/cycle2"/>
    <dgm:cxn modelId="{D0CE6884-8D53-43AB-8667-ACC397436B17}" type="presOf" srcId="{DBD4E011-21E8-44A1-B247-3FBE6A682E84}" destId="{B083305A-8A55-4741-B90D-D46E09F73C90}" srcOrd="1" destOrd="0" presId="urn:microsoft.com/office/officeart/2005/8/layout/cycle2"/>
    <dgm:cxn modelId="{1095B93E-BFD7-46C1-8558-5E1C70195F95}" type="presOf" srcId="{7B783562-2205-4B63-9118-E8DDE8E6C6DC}" destId="{B9740F72-AAF8-4C12-B2BB-E5285A4AD8B9}" srcOrd="0" destOrd="0" presId="urn:microsoft.com/office/officeart/2005/8/layout/cycle2"/>
    <dgm:cxn modelId="{28F1017A-B3A2-4D49-9740-1A7A7C3B26D2}" type="presOf" srcId="{60304752-F3E0-45B0-B597-FD95278CD153}" destId="{FBDF4867-F007-420F-A360-6995386D0CBF}" srcOrd="0" destOrd="0" presId="urn:microsoft.com/office/officeart/2005/8/layout/cycle2"/>
    <dgm:cxn modelId="{922EE896-4135-41E5-AC49-D8FAF99C0D51}" type="presOf" srcId="{475BD358-0BC2-4AEF-921F-786DFE3F9EBD}" destId="{FC171122-788E-4C2E-8C10-3FE4B57AD8F0}" srcOrd="1" destOrd="0" presId="urn:microsoft.com/office/officeart/2005/8/layout/cycle2"/>
    <dgm:cxn modelId="{4435ADC6-E6F7-4919-AA30-AB45D96F435A}" type="presOf" srcId="{D051DE39-ECED-4468-88EC-D126B403F19D}" destId="{AB2BD0D7-4FB4-4A59-9712-B06F8A8BB22D}" srcOrd="0" destOrd="0" presId="urn:microsoft.com/office/officeart/2005/8/layout/cycle2"/>
    <dgm:cxn modelId="{99274CE2-C502-4CEB-837F-6893221C1A62}" srcId="{3D2C9645-C4AA-4FBE-85D9-9470B4C8CF55}" destId="{9C2F642C-601F-476F-B8A5-2216FB5C8B72}" srcOrd="1" destOrd="0" parTransId="{048A8A02-7CB2-4487-915D-A1E5CF182830}" sibTransId="{DBD4E011-21E8-44A1-B247-3FBE6A682E84}"/>
    <dgm:cxn modelId="{DEA283B8-C29B-47DD-8BB4-50253A54864A}" type="presOf" srcId="{7B783562-2205-4B63-9118-E8DDE8E6C6DC}" destId="{2DC083BD-4E7C-441D-B404-BC0D2C97A2BD}" srcOrd="1" destOrd="0" presId="urn:microsoft.com/office/officeart/2005/8/layout/cycle2"/>
    <dgm:cxn modelId="{E5751C2B-4B88-413B-9C91-189FCFF7D81B}" type="presOf" srcId="{60304752-F3E0-45B0-B597-FD95278CD153}" destId="{92E99406-10D2-4A72-8135-6A2ABBC27205}" srcOrd="1" destOrd="0" presId="urn:microsoft.com/office/officeart/2005/8/layout/cycle2"/>
    <dgm:cxn modelId="{2445FDDB-AB19-4217-B8F2-E8FE20FE40F9}" type="presParOf" srcId="{39F320BE-F71F-407D-9617-AEBD461F251B}" destId="{26B9365A-8C8F-409A-B6AC-A83762A15EC5}" srcOrd="0" destOrd="0" presId="urn:microsoft.com/office/officeart/2005/8/layout/cycle2"/>
    <dgm:cxn modelId="{8FE98AF4-1678-430C-A410-0576DE0661B8}" type="presParOf" srcId="{39F320BE-F71F-407D-9617-AEBD461F251B}" destId="{FBDF4867-F007-420F-A360-6995386D0CBF}" srcOrd="1" destOrd="0" presId="urn:microsoft.com/office/officeart/2005/8/layout/cycle2"/>
    <dgm:cxn modelId="{3EE1F0A6-E615-4A7C-A627-DEA897221B74}" type="presParOf" srcId="{FBDF4867-F007-420F-A360-6995386D0CBF}" destId="{92E99406-10D2-4A72-8135-6A2ABBC27205}" srcOrd="0" destOrd="0" presId="urn:microsoft.com/office/officeart/2005/8/layout/cycle2"/>
    <dgm:cxn modelId="{3D1641C1-FC49-48EB-8E9C-98B7F9834E78}" type="presParOf" srcId="{39F320BE-F71F-407D-9617-AEBD461F251B}" destId="{EA0DB310-18EF-4EF4-A79D-38ECF4523D91}" srcOrd="2" destOrd="0" presId="urn:microsoft.com/office/officeart/2005/8/layout/cycle2"/>
    <dgm:cxn modelId="{666B91A9-5C4C-4AB7-8EC8-0CF7743E37B4}" type="presParOf" srcId="{39F320BE-F71F-407D-9617-AEBD461F251B}" destId="{41A89100-2A06-4399-8419-AB24DB797541}" srcOrd="3" destOrd="0" presId="urn:microsoft.com/office/officeart/2005/8/layout/cycle2"/>
    <dgm:cxn modelId="{A8AAE1DD-AFB7-4BA3-925B-D290C4C8E2FB}" type="presParOf" srcId="{41A89100-2A06-4399-8419-AB24DB797541}" destId="{B083305A-8A55-4741-B90D-D46E09F73C90}" srcOrd="0" destOrd="0" presId="urn:microsoft.com/office/officeart/2005/8/layout/cycle2"/>
    <dgm:cxn modelId="{E6F1AAA1-7626-45F4-B94B-2A5441DF4DC8}" type="presParOf" srcId="{39F320BE-F71F-407D-9617-AEBD461F251B}" destId="{AB2BD0D7-4FB4-4A59-9712-B06F8A8BB22D}" srcOrd="4" destOrd="0" presId="urn:microsoft.com/office/officeart/2005/8/layout/cycle2"/>
    <dgm:cxn modelId="{D25841D7-560A-45E0-A07A-BD0A6B555742}" type="presParOf" srcId="{39F320BE-F71F-407D-9617-AEBD461F251B}" destId="{FBAB90F6-5585-481E-A4F1-7B8F6E6D85A0}" srcOrd="5" destOrd="0" presId="urn:microsoft.com/office/officeart/2005/8/layout/cycle2"/>
    <dgm:cxn modelId="{6FD82B38-CAB9-4227-9FB4-78882D17AE57}" type="presParOf" srcId="{FBAB90F6-5585-481E-A4F1-7B8F6E6D85A0}" destId="{FC171122-788E-4C2E-8C10-3FE4B57AD8F0}" srcOrd="0" destOrd="0" presId="urn:microsoft.com/office/officeart/2005/8/layout/cycle2"/>
    <dgm:cxn modelId="{D65042D6-18C9-4263-BA0F-C4174346995F}" type="presParOf" srcId="{39F320BE-F71F-407D-9617-AEBD461F251B}" destId="{D37F51AD-A1C4-4DF8-A325-09B19F5E53A9}" srcOrd="6" destOrd="0" presId="urn:microsoft.com/office/officeart/2005/8/layout/cycle2"/>
    <dgm:cxn modelId="{92E4BE80-0D1F-46C8-B75A-226E96A68BC4}" type="presParOf" srcId="{39F320BE-F71F-407D-9617-AEBD461F251B}" destId="{B9740F72-AAF8-4C12-B2BB-E5285A4AD8B9}" srcOrd="7" destOrd="0" presId="urn:microsoft.com/office/officeart/2005/8/layout/cycle2"/>
    <dgm:cxn modelId="{44EB828E-32EE-4DF9-AF93-257544B858EE}" type="presParOf" srcId="{B9740F72-AAF8-4C12-B2BB-E5285A4AD8B9}" destId="{2DC083BD-4E7C-441D-B404-BC0D2C97A2BD}" srcOrd="0" destOrd="0" presId="urn:microsoft.com/office/officeart/2005/8/layout/cycle2"/>
    <dgm:cxn modelId="{0D52337B-78D1-4C88-83E8-222636EF3A47}" type="presParOf" srcId="{39F320BE-F71F-407D-9617-AEBD461F251B}" destId="{6CF666FE-2169-4D94-A2BA-1111022BA568}" srcOrd="8" destOrd="0" presId="urn:microsoft.com/office/officeart/2005/8/layout/cycle2"/>
    <dgm:cxn modelId="{EBF6706B-9DC1-406B-9EDE-E9083882396C}" type="presParOf" srcId="{39F320BE-F71F-407D-9617-AEBD461F251B}" destId="{8FAE403F-9735-4DCE-8DC2-68C9F99AC0C5}" srcOrd="9" destOrd="0" presId="urn:microsoft.com/office/officeart/2005/8/layout/cycle2"/>
    <dgm:cxn modelId="{A915AEFB-7CBA-40CF-9CAA-F41B67AF2D5E}" type="presParOf" srcId="{8FAE403F-9735-4DCE-8DC2-68C9F99AC0C5}" destId="{3C7F1FC6-26EA-4ED8-8BB6-3612CC3C7E6F}"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36338C-34DB-4512-B5D7-9FF795EFB575}" type="doc">
      <dgm:prSet loTypeId="urn:microsoft.com/office/officeart/2005/8/layout/pyramid2" loCatId="pyramid" qsTypeId="urn:microsoft.com/office/officeart/2005/8/quickstyle/simple1" qsCatId="simple" csTypeId="urn:microsoft.com/office/officeart/2005/8/colors/accent1_2" csCatId="accent1" phldr="1"/>
      <dgm:spPr/>
    </dgm:pt>
    <dgm:pt modelId="{2D33E298-5E31-423F-8CB5-53CCE25DD11D}">
      <dgm:prSet phldrT="[Texto]"/>
      <dgm:spPr/>
      <dgm:t>
        <a:bodyPr/>
        <a:lstStyle/>
        <a:p>
          <a:r>
            <a:rPr lang="es-AR" dirty="0" smtClean="0"/>
            <a:t>Mercado: Conjunto de compradores reales o potenciales.</a:t>
          </a:r>
          <a:endParaRPr lang="es-AR" dirty="0"/>
        </a:p>
      </dgm:t>
    </dgm:pt>
    <dgm:pt modelId="{6B61036E-65AA-4AF8-863D-1D09B879DA40}" type="parTrans" cxnId="{EF59F494-EC1C-462D-94D8-DF9AF1E4216D}">
      <dgm:prSet/>
      <dgm:spPr/>
    </dgm:pt>
    <dgm:pt modelId="{4205FFD7-88A9-4225-A2B1-A3FD395C364B}" type="sibTrans" cxnId="{EF59F494-EC1C-462D-94D8-DF9AF1E4216D}">
      <dgm:prSet/>
      <dgm:spPr/>
    </dgm:pt>
    <dgm:pt modelId="{AC70EC45-6700-44DD-83EA-5D656470985C}">
      <dgm:prSet phldrT="[Texto]"/>
      <dgm:spPr/>
      <dgm:t>
        <a:bodyPr/>
        <a:lstStyle/>
        <a:p>
          <a:r>
            <a:rPr lang="es-AR" dirty="0" smtClean="0"/>
            <a:t>Marketing: trabaja con mercados para que se lleven a cabo intercambios.</a:t>
          </a:r>
          <a:endParaRPr lang="es-AR" dirty="0"/>
        </a:p>
      </dgm:t>
    </dgm:pt>
    <dgm:pt modelId="{50C2BFE9-BD98-4F26-B8C3-A2380A4754DE}" type="parTrans" cxnId="{B03E71CD-991C-4E32-89D2-8DA189024B31}">
      <dgm:prSet/>
      <dgm:spPr/>
    </dgm:pt>
    <dgm:pt modelId="{A58853AD-AF8C-4F9D-8134-338A2FCDF53B}" type="sibTrans" cxnId="{B03E71CD-991C-4E32-89D2-8DA189024B31}">
      <dgm:prSet/>
      <dgm:spPr/>
    </dgm:pt>
    <dgm:pt modelId="{0E9C52F3-ED64-4124-B8A3-0BEAEF0A0007}">
      <dgm:prSet phldrT="[Texto]"/>
      <dgm:spPr/>
      <dgm:t>
        <a:bodyPr/>
        <a:lstStyle/>
        <a:p>
          <a:r>
            <a:rPr lang="es-AR" dirty="0" smtClean="0"/>
            <a:t>Finalidad: satisfacer deseos y  necesidades.</a:t>
          </a:r>
          <a:endParaRPr lang="es-AR" dirty="0"/>
        </a:p>
      </dgm:t>
    </dgm:pt>
    <dgm:pt modelId="{28A1E076-E8D7-4A97-BEBF-1172DA8DEC51}" type="parTrans" cxnId="{F4AF35D0-F73D-4D92-AFF1-3F9C9C6A4362}">
      <dgm:prSet/>
      <dgm:spPr/>
    </dgm:pt>
    <dgm:pt modelId="{B8A54289-EA6F-4F1D-BCD7-793A222F18B0}" type="sibTrans" cxnId="{F4AF35D0-F73D-4D92-AFF1-3F9C9C6A4362}">
      <dgm:prSet/>
      <dgm:spPr/>
    </dgm:pt>
    <dgm:pt modelId="{18988EB8-3040-465F-8A5B-950811DCBC38}" type="pres">
      <dgm:prSet presAssocID="{E436338C-34DB-4512-B5D7-9FF795EFB575}" presName="compositeShape" presStyleCnt="0">
        <dgm:presLayoutVars>
          <dgm:dir/>
          <dgm:resizeHandles/>
        </dgm:presLayoutVars>
      </dgm:prSet>
      <dgm:spPr/>
    </dgm:pt>
    <dgm:pt modelId="{D08DE774-9D27-4B1E-9D98-928E9461B48B}" type="pres">
      <dgm:prSet presAssocID="{E436338C-34DB-4512-B5D7-9FF795EFB575}" presName="pyramid" presStyleLbl="node1" presStyleIdx="0" presStyleCnt="1"/>
      <dgm:spPr/>
    </dgm:pt>
    <dgm:pt modelId="{28D67723-D8BD-43C5-B844-A3B98D122E72}" type="pres">
      <dgm:prSet presAssocID="{E436338C-34DB-4512-B5D7-9FF795EFB575}" presName="theList" presStyleCnt="0"/>
      <dgm:spPr/>
    </dgm:pt>
    <dgm:pt modelId="{790815DC-E32F-4966-9673-F0A839967925}" type="pres">
      <dgm:prSet presAssocID="{2D33E298-5E31-423F-8CB5-53CCE25DD11D}" presName="aNode" presStyleLbl="fgAcc1" presStyleIdx="0" presStyleCnt="3">
        <dgm:presLayoutVars>
          <dgm:bulletEnabled val="1"/>
        </dgm:presLayoutVars>
      </dgm:prSet>
      <dgm:spPr/>
      <dgm:t>
        <a:bodyPr/>
        <a:lstStyle/>
        <a:p>
          <a:endParaRPr lang="es-AR"/>
        </a:p>
      </dgm:t>
    </dgm:pt>
    <dgm:pt modelId="{4E00AE59-ABFB-44C9-BD83-8EA065877110}" type="pres">
      <dgm:prSet presAssocID="{2D33E298-5E31-423F-8CB5-53CCE25DD11D}" presName="aSpace" presStyleCnt="0"/>
      <dgm:spPr/>
    </dgm:pt>
    <dgm:pt modelId="{10CE90FE-87FF-4BDE-A868-8D6941C47E86}" type="pres">
      <dgm:prSet presAssocID="{AC70EC45-6700-44DD-83EA-5D656470985C}" presName="aNode" presStyleLbl="fgAcc1" presStyleIdx="1" presStyleCnt="3">
        <dgm:presLayoutVars>
          <dgm:bulletEnabled val="1"/>
        </dgm:presLayoutVars>
      </dgm:prSet>
      <dgm:spPr/>
      <dgm:t>
        <a:bodyPr/>
        <a:lstStyle/>
        <a:p>
          <a:endParaRPr lang="es-AR"/>
        </a:p>
      </dgm:t>
    </dgm:pt>
    <dgm:pt modelId="{361F9B9C-BC37-4D17-B134-DDADB9397C7F}" type="pres">
      <dgm:prSet presAssocID="{AC70EC45-6700-44DD-83EA-5D656470985C}" presName="aSpace" presStyleCnt="0"/>
      <dgm:spPr/>
    </dgm:pt>
    <dgm:pt modelId="{06D2CC01-073A-4DDE-AACA-03E686A7F5B7}" type="pres">
      <dgm:prSet presAssocID="{0E9C52F3-ED64-4124-B8A3-0BEAEF0A0007}" presName="aNode" presStyleLbl="fgAcc1" presStyleIdx="2" presStyleCnt="3">
        <dgm:presLayoutVars>
          <dgm:bulletEnabled val="1"/>
        </dgm:presLayoutVars>
      </dgm:prSet>
      <dgm:spPr/>
      <dgm:t>
        <a:bodyPr/>
        <a:lstStyle/>
        <a:p>
          <a:endParaRPr lang="es-AR"/>
        </a:p>
      </dgm:t>
    </dgm:pt>
    <dgm:pt modelId="{0B90E750-C059-41B4-9B13-B0B1F874E969}" type="pres">
      <dgm:prSet presAssocID="{0E9C52F3-ED64-4124-B8A3-0BEAEF0A0007}" presName="aSpace" presStyleCnt="0"/>
      <dgm:spPr/>
    </dgm:pt>
  </dgm:ptLst>
  <dgm:cxnLst>
    <dgm:cxn modelId="{C66AE66C-793C-4224-B02A-9F8E87A518DC}" type="presOf" srcId="{AC70EC45-6700-44DD-83EA-5D656470985C}" destId="{10CE90FE-87FF-4BDE-A868-8D6941C47E86}" srcOrd="0" destOrd="0" presId="urn:microsoft.com/office/officeart/2005/8/layout/pyramid2"/>
    <dgm:cxn modelId="{7D30802D-D11D-4672-AC8F-25DE161D2992}" type="presOf" srcId="{2D33E298-5E31-423F-8CB5-53CCE25DD11D}" destId="{790815DC-E32F-4966-9673-F0A839967925}" srcOrd="0" destOrd="0" presId="urn:microsoft.com/office/officeart/2005/8/layout/pyramid2"/>
    <dgm:cxn modelId="{3CA2D209-B1F7-4D52-8622-D2D172989A68}" type="presOf" srcId="{0E9C52F3-ED64-4124-B8A3-0BEAEF0A0007}" destId="{06D2CC01-073A-4DDE-AACA-03E686A7F5B7}" srcOrd="0" destOrd="0" presId="urn:microsoft.com/office/officeart/2005/8/layout/pyramid2"/>
    <dgm:cxn modelId="{F4AF35D0-F73D-4D92-AFF1-3F9C9C6A4362}" srcId="{E436338C-34DB-4512-B5D7-9FF795EFB575}" destId="{0E9C52F3-ED64-4124-B8A3-0BEAEF0A0007}" srcOrd="2" destOrd="0" parTransId="{28A1E076-E8D7-4A97-BEBF-1172DA8DEC51}" sibTransId="{B8A54289-EA6F-4F1D-BCD7-793A222F18B0}"/>
    <dgm:cxn modelId="{B03E71CD-991C-4E32-89D2-8DA189024B31}" srcId="{E436338C-34DB-4512-B5D7-9FF795EFB575}" destId="{AC70EC45-6700-44DD-83EA-5D656470985C}" srcOrd="1" destOrd="0" parTransId="{50C2BFE9-BD98-4F26-B8C3-A2380A4754DE}" sibTransId="{A58853AD-AF8C-4F9D-8134-338A2FCDF53B}"/>
    <dgm:cxn modelId="{EF59F494-EC1C-462D-94D8-DF9AF1E4216D}" srcId="{E436338C-34DB-4512-B5D7-9FF795EFB575}" destId="{2D33E298-5E31-423F-8CB5-53CCE25DD11D}" srcOrd="0" destOrd="0" parTransId="{6B61036E-65AA-4AF8-863D-1D09B879DA40}" sibTransId="{4205FFD7-88A9-4225-A2B1-A3FD395C364B}"/>
    <dgm:cxn modelId="{FBAE7412-2A74-47B0-AC3D-2711D495E77C}" type="presOf" srcId="{E436338C-34DB-4512-B5D7-9FF795EFB575}" destId="{18988EB8-3040-465F-8A5B-950811DCBC38}" srcOrd="0" destOrd="0" presId="urn:microsoft.com/office/officeart/2005/8/layout/pyramid2"/>
    <dgm:cxn modelId="{AA8E12FB-9D1B-4832-AA9C-F6099C179C81}" type="presParOf" srcId="{18988EB8-3040-465F-8A5B-950811DCBC38}" destId="{D08DE774-9D27-4B1E-9D98-928E9461B48B}" srcOrd="0" destOrd="0" presId="urn:microsoft.com/office/officeart/2005/8/layout/pyramid2"/>
    <dgm:cxn modelId="{6BF8295F-74E4-44B3-B8B4-4B6764CD5759}" type="presParOf" srcId="{18988EB8-3040-465F-8A5B-950811DCBC38}" destId="{28D67723-D8BD-43C5-B844-A3B98D122E72}" srcOrd="1" destOrd="0" presId="urn:microsoft.com/office/officeart/2005/8/layout/pyramid2"/>
    <dgm:cxn modelId="{DD324076-38FD-47D6-8DDA-755F2D385E44}" type="presParOf" srcId="{28D67723-D8BD-43C5-B844-A3B98D122E72}" destId="{790815DC-E32F-4966-9673-F0A839967925}" srcOrd="0" destOrd="0" presId="urn:microsoft.com/office/officeart/2005/8/layout/pyramid2"/>
    <dgm:cxn modelId="{4188328E-8309-47CC-A3A8-4A8CF5763874}" type="presParOf" srcId="{28D67723-D8BD-43C5-B844-A3B98D122E72}" destId="{4E00AE59-ABFB-44C9-BD83-8EA065877110}" srcOrd="1" destOrd="0" presId="urn:microsoft.com/office/officeart/2005/8/layout/pyramid2"/>
    <dgm:cxn modelId="{1A6D1F55-5C1D-4D20-B58A-F9911B4F599D}" type="presParOf" srcId="{28D67723-D8BD-43C5-B844-A3B98D122E72}" destId="{10CE90FE-87FF-4BDE-A868-8D6941C47E86}" srcOrd="2" destOrd="0" presId="urn:microsoft.com/office/officeart/2005/8/layout/pyramid2"/>
    <dgm:cxn modelId="{25FD665E-2634-4DCB-80E9-27BB4C873679}" type="presParOf" srcId="{28D67723-D8BD-43C5-B844-A3B98D122E72}" destId="{361F9B9C-BC37-4D17-B134-DDADB9397C7F}" srcOrd="3" destOrd="0" presId="urn:microsoft.com/office/officeart/2005/8/layout/pyramid2"/>
    <dgm:cxn modelId="{C0491E06-584B-4E43-A57A-840B95EA5521}" type="presParOf" srcId="{28D67723-D8BD-43C5-B844-A3B98D122E72}" destId="{06D2CC01-073A-4DDE-AACA-03E686A7F5B7}" srcOrd="4" destOrd="0" presId="urn:microsoft.com/office/officeart/2005/8/layout/pyramid2"/>
    <dgm:cxn modelId="{B3367203-A470-434E-A22A-AC9E230B514B}" type="presParOf" srcId="{28D67723-D8BD-43C5-B844-A3B98D122E72}" destId="{0B90E750-C059-41B4-9B13-B0B1F874E969}"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5C00B1-D72E-4286-9A09-B656BB36E4D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AR"/>
        </a:p>
      </dgm:t>
    </dgm:pt>
    <dgm:pt modelId="{8F82CB61-0B0D-4F83-B0BE-E47974183024}">
      <dgm:prSet phldrT="[Texto]" custT="1"/>
      <dgm:spPr>
        <a:solidFill>
          <a:srgbClr val="00B050"/>
        </a:solidFill>
      </dgm:spPr>
      <dgm:t>
        <a:bodyPr/>
        <a:lstStyle/>
        <a:p>
          <a:r>
            <a:rPr lang="es-AR" sz="1800" dirty="0" smtClean="0"/>
            <a:t>Agrupamiento de consumidores en función de comportamientos  similares.</a:t>
          </a:r>
          <a:endParaRPr lang="es-AR" sz="1800" dirty="0"/>
        </a:p>
      </dgm:t>
    </dgm:pt>
    <dgm:pt modelId="{BB6A6202-9EC8-4825-AC2F-6FAE63A96DBB}" type="parTrans" cxnId="{DF9D02E4-23FC-4AAD-80EB-AC0603092F2A}">
      <dgm:prSet/>
      <dgm:spPr/>
      <dgm:t>
        <a:bodyPr/>
        <a:lstStyle/>
        <a:p>
          <a:endParaRPr lang="es-AR"/>
        </a:p>
      </dgm:t>
    </dgm:pt>
    <dgm:pt modelId="{8D3B9DCE-FF0F-4281-8C30-CD074FC164FA}" type="sibTrans" cxnId="{DF9D02E4-23FC-4AAD-80EB-AC0603092F2A}">
      <dgm:prSet/>
      <dgm:spPr/>
      <dgm:t>
        <a:bodyPr/>
        <a:lstStyle/>
        <a:p>
          <a:endParaRPr lang="es-AR"/>
        </a:p>
      </dgm:t>
    </dgm:pt>
    <dgm:pt modelId="{8855C8B8-45F1-42FE-840C-81DB9165322D}">
      <dgm:prSet phldrT="[Texto]" custT="1"/>
      <dgm:spPr>
        <a:solidFill>
          <a:srgbClr val="FFFF00"/>
        </a:solidFill>
        <a:ln>
          <a:solidFill>
            <a:schemeClr val="tx1"/>
          </a:solidFill>
        </a:ln>
      </dgm:spPr>
      <dgm:t>
        <a:bodyPr/>
        <a:lstStyle/>
        <a:p>
          <a:r>
            <a:rPr lang="es-AR" sz="1600" dirty="0" smtClean="0">
              <a:solidFill>
                <a:schemeClr val="tx1"/>
              </a:solidFill>
            </a:rPr>
            <a:t>Factores de segmentación: necesidades, recursos, ubicaciones, actitudes de compra, etc.</a:t>
          </a:r>
          <a:endParaRPr lang="es-AR" sz="1600" dirty="0">
            <a:solidFill>
              <a:schemeClr val="tx1"/>
            </a:solidFill>
          </a:endParaRPr>
        </a:p>
      </dgm:t>
    </dgm:pt>
    <dgm:pt modelId="{299234A9-C532-4E1D-86B4-5718598010C6}" type="parTrans" cxnId="{637B4DB8-2F54-4F4A-942F-59D7A3BE56F4}">
      <dgm:prSet/>
      <dgm:spPr/>
      <dgm:t>
        <a:bodyPr/>
        <a:lstStyle/>
        <a:p>
          <a:endParaRPr lang="es-AR"/>
        </a:p>
      </dgm:t>
    </dgm:pt>
    <dgm:pt modelId="{13087FB5-1C65-49A0-AC34-6448C33745B5}" type="sibTrans" cxnId="{637B4DB8-2F54-4F4A-942F-59D7A3BE56F4}">
      <dgm:prSet/>
      <dgm:spPr/>
      <dgm:t>
        <a:bodyPr/>
        <a:lstStyle/>
        <a:p>
          <a:endParaRPr lang="es-AR"/>
        </a:p>
      </dgm:t>
    </dgm:pt>
    <dgm:pt modelId="{1B570ED5-ADFA-49F9-BBCF-5DD0AB83F7A9}">
      <dgm:prSet phldrT="[Texto]"/>
      <dgm:spPr>
        <a:solidFill>
          <a:srgbClr val="7030A0"/>
        </a:solidFill>
      </dgm:spPr>
      <dgm:t>
        <a:bodyPr/>
        <a:lstStyle/>
        <a:p>
          <a:r>
            <a:rPr lang="es-AR" dirty="0" smtClean="0"/>
            <a:t>Permite conocer al consumidor utilizando menos recursos.</a:t>
          </a:r>
          <a:endParaRPr lang="es-AR" dirty="0"/>
        </a:p>
      </dgm:t>
    </dgm:pt>
    <dgm:pt modelId="{EEC4EB57-7FFD-48FE-A602-74160D4872B7}" type="parTrans" cxnId="{B92F0323-97AF-4645-ACD8-C9395AF24D7A}">
      <dgm:prSet/>
      <dgm:spPr/>
      <dgm:t>
        <a:bodyPr/>
        <a:lstStyle/>
        <a:p>
          <a:endParaRPr lang="es-AR"/>
        </a:p>
      </dgm:t>
    </dgm:pt>
    <dgm:pt modelId="{5BB905FC-71C7-4B26-BB3E-C10D7A775A9C}" type="sibTrans" cxnId="{B92F0323-97AF-4645-ACD8-C9395AF24D7A}">
      <dgm:prSet/>
      <dgm:spPr/>
      <dgm:t>
        <a:bodyPr/>
        <a:lstStyle/>
        <a:p>
          <a:endParaRPr lang="es-AR"/>
        </a:p>
      </dgm:t>
    </dgm:pt>
    <dgm:pt modelId="{3C0D0D07-9DCF-4A7B-BA9B-E929BC92B856}" type="pres">
      <dgm:prSet presAssocID="{D45C00B1-D72E-4286-9A09-B656BB36E4DD}" presName="linear" presStyleCnt="0">
        <dgm:presLayoutVars>
          <dgm:dir/>
          <dgm:animLvl val="lvl"/>
          <dgm:resizeHandles val="exact"/>
        </dgm:presLayoutVars>
      </dgm:prSet>
      <dgm:spPr/>
      <dgm:t>
        <a:bodyPr/>
        <a:lstStyle/>
        <a:p>
          <a:endParaRPr lang="es-AR"/>
        </a:p>
      </dgm:t>
    </dgm:pt>
    <dgm:pt modelId="{8CE7B9EB-7D4D-44E9-88B2-AF77C40A14A2}" type="pres">
      <dgm:prSet presAssocID="{8F82CB61-0B0D-4F83-B0BE-E47974183024}" presName="parentLin" presStyleCnt="0"/>
      <dgm:spPr/>
    </dgm:pt>
    <dgm:pt modelId="{321EDC59-F70E-412F-AAF6-29172A68E20E}" type="pres">
      <dgm:prSet presAssocID="{8F82CB61-0B0D-4F83-B0BE-E47974183024}" presName="parentLeftMargin" presStyleLbl="node1" presStyleIdx="0" presStyleCnt="3"/>
      <dgm:spPr/>
      <dgm:t>
        <a:bodyPr/>
        <a:lstStyle/>
        <a:p>
          <a:endParaRPr lang="es-AR"/>
        </a:p>
      </dgm:t>
    </dgm:pt>
    <dgm:pt modelId="{593C768F-91FB-42BC-B219-16E450E6E48D}" type="pres">
      <dgm:prSet presAssocID="{8F82CB61-0B0D-4F83-B0BE-E47974183024}" presName="parentText" presStyleLbl="node1" presStyleIdx="0" presStyleCnt="3" custScaleY="284368" custLinFactX="6319" custLinFactNeighborX="100000" custLinFactNeighborY="32636">
        <dgm:presLayoutVars>
          <dgm:chMax val="0"/>
          <dgm:bulletEnabled val="1"/>
        </dgm:presLayoutVars>
      </dgm:prSet>
      <dgm:spPr/>
      <dgm:t>
        <a:bodyPr/>
        <a:lstStyle/>
        <a:p>
          <a:endParaRPr lang="es-AR"/>
        </a:p>
      </dgm:t>
    </dgm:pt>
    <dgm:pt modelId="{36D3B104-55B5-44E5-A28E-ECD2207DE0CE}" type="pres">
      <dgm:prSet presAssocID="{8F82CB61-0B0D-4F83-B0BE-E47974183024}" presName="negativeSpace" presStyleCnt="0"/>
      <dgm:spPr/>
    </dgm:pt>
    <dgm:pt modelId="{A8D116F3-9B0F-489A-8849-D8A4449E2CE2}" type="pres">
      <dgm:prSet presAssocID="{8F82CB61-0B0D-4F83-B0BE-E47974183024}" presName="childText" presStyleLbl="conFgAcc1" presStyleIdx="0" presStyleCnt="3">
        <dgm:presLayoutVars>
          <dgm:bulletEnabled val="1"/>
        </dgm:presLayoutVars>
      </dgm:prSet>
      <dgm:spPr/>
    </dgm:pt>
    <dgm:pt modelId="{76FFD430-7182-4B0F-8CCF-0F0B83B8CD59}" type="pres">
      <dgm:prSet presAssocID="{8D3B9DCE-FF0F-4281-8C30-CD074FC164FA}" presName="spaceBetweenRectangles" presStyleCnt="0"/>
      <dgm:spPr/>
    </dgm:pt>
    <dgm:pt modelId="{0ABCB789-CCC1-49E2-836A-1CE113D5E485}" type="pres">
      <dgm:prSet presAssocID="{8855C8B8-45F1-42FE-840C-81DB9165322D}" presName="parentLin" presStyleCnt="0"/>
      <dgm:spPr/>
    </dgm:pt>
    <dgm:pt modelId="{BB531CAD-0707-48FA-8E05-83321C7EFB3F}" type="pres">
      <dgm:prSet presAssocID="{8855C8B8-45F1-42FE-840C-81DB9165322D}" presName="parentLeftMargin" presStyleLbl="node1" presStyleIdx="0" presStyleCnt="3"/>
      <dgm:spPr/>
      <dgm:t>
        <a:bodyPr/>
        <a:lstStyle/>
        <a:p>
          <a:endParaRPr lang="es-AR"/>
        </a:p>
      </dgm:t>
    </dgm:pt>
    <dgm:pt modelId="{95F34B4C-CC3F-4FC6-B767-7C474E064C53}" type="pres">
      <dgm:prSet presAssocID="{8855C8B8-45F1-42FE-840C-81DB9165322D}" presName="parentText" presStyleLbl="node1" presStyleIdx="1" presStyleCnt="3" custScaleY="303313" custLinFactX="5059" custLinFactNeighborX="100000" custLinFactNeighborY="36771">
        <dgm:presLayoutVars>
          <dgm:chMax val="0"/>
          <dgm:bulletEnabled val="1"/>
        </dgm:presLayoutVars>
      </dgm:prSet>
      <dgm:spPr/>
      <dgm:t>
        <a:bodyPr/>
        <a:lstStyle/>
        <a:p>
          <a:endParaRPr lang="es-AR"/>
        </a:p>
      </dgm:t>
    </dgm:pt>
    <dgm:pt modelId="{8A7D29B0-7CDE-4936-B0E8-9ADE62FCCC38}" type="pres">
      <dgm:prSet presAssocID="{8855C8B8-45F1-42FE-840C-81DB9165322D}" presName="negativeSpace" presStyleCnt="0"/>
      <dgm:spPr/>
    </dgm:pt>
    <dgm:pt modelId="{44D089FC-4BE5-4BAB-AB8C-C63D57BC8738}" type="pres">
      <dgm:prSet presAssocID="{8855C8B8-45F1-42FE-840C-81DB9165322D}" presName="childText" presStyleLbl="conFgAcc1" presStyleIdx="1" presStyleCnt="3">
        <dgm:presLayoutVars>
          <dgm:bulletEnabled val="1"/>
        </dgm:presLayoutVars>
      </dgm:prSet>
      <dgm:spPr/>
    </dgm:pt>
    <dgm:pt modelId="{04B4F493-B9B4-4764-B999-568BF77271EB}" type="pres">
      <dgm:prSet presAssocID="{13087FB5-1C65-49A0-AC34-6448C33745B5}" presName="spaceBetweenRectangles" presStyleCnt="0"/>
      <dgm:spPr/>
    </dgm:pt>
    <dgm:pt modelId="{CD463C3E-C1C6-4859-9486-B3926F9D7327}" type="pres">
      <dgm:prSet presAssocID="{1B570ED5-ADFA-49F9-BBCF-5DD0AB83F7A9}" presName="parentLin" presStyleCnt="0"/>
      <dgm:spPr/>
    </dgm:pt>
    <dgm:pt modelId="{0D01C678-D5DA-4845-9674-40C674F8DD24}" type="pres">
      <dgm:prSet presAssocID="{1B570ED5-ADFA-49F9-BBCF-5DD0AB83F7A9}" presName="parentLeftMargin" presStyleLbl="node1" presStyleIdx="1" presStyleCnt="3"/>
      <dgm:spPr/>
      <dgm:t>
        <a:bodyPr/>
        <a:lstStyle/>
        <a:p>
          <a:endParaRPr lang="es-AR"/>
        </a:p>
      </dgm:t>
    </dgm:pt>
    <dgm:pt modelId="{D50B5AFD-4C8A-475A-88A2-C78DE2AD6626}" type="pres">
      <dgm:prSet presAssocID="{1B570ED5-ADFA-49F9-BBCF-5DD0AB83F7A9}" presName="parentText" presStyleLbl="node1" presStyleIdx="2" presStyleCnt="3" custScaleY="263581" custLinFactX="7561" custLinFactNeighborX="100000" custLinFactNeighborY="78523">
        <dgm:presLayoutVars>
          <dgm:chMax val="0"/>
          <dgm:bulletEnabled val="1"/>
        </dgm:presLayoutVars>
      </dgm:prSet>
      <dgm:spPr/>
      <dgm:t>
        <a:bodyPr/>
        <a:lstStyle/>
        <a:p>
          <a:endParaRPr lang="es-AR"/>
        </a:p>
      </dgm:t>
    </dgm:pt>
    <dgm:pt modelId="{A27984A9-92D5-4888-8D3B-5F9F62F1096F}" type="pres">
      <dgm:prSet presAssocID="{1B570ED5-ADFA-49F9-BBCF-5DD0AB83F7A9}" presName="negativeSpace" presStyleCnt="0"/>
      <dgm:spPr/>
    </dgm:pt>
    <dgm:pt modelId="{B0BC7C1C-D894-441F-B898-3164BBE3B0C1}" type="pres">
      <dgm:prSet presAssocID="{1B570ED5-ADFA-49F9-BBCF-5DD0AB83F7A9}" presName="childText" presStyleLbl="conFgAcc1" presStyleIdx="2" presStyleCnt="3">
        <dgm:presLayoutVars>
          <dgm:bulletEnabled val="1"/>
        </dgm:presLayoutVars>
      </dgm:prSet>
      <dgm:spPr/>
    </dgm:pt>
  </dgm:ptLst>
  <dgm:cxnLst>
    <dgm:cxn modelId="{4334D674-32FA-46E6-A343-C7374249E70A}" type="presOf" srcId="{D45C00B1-D72E-4286-9A09-B656BB36E4DD}" destId="{3C0D0D07-9DCF-4A7B-BA9B-E929BC92B856}" srcOrd="0" destOrd="0" presId="urn:microsoft.com/office/officeart/2005/8/layout/list1"/>
    <dgm:cxn modelId="{C3ED454C-A375-45D6-9625-66DADCA58B94}" type="presOf" srcId="{8855C8B8-45F1-42FE-840C-81DB9165322D}" destId="{BB531CAD-0707-48FA-8E05-83321C7EFB3F}" srcOrd="0" destOrd="0" presId="urn:microsoft.com/office/officeart/2005/8/layout/list1"/>
    <dgm:cxn modelId="{DF9D02E4-23FC-4AAD-80EB-AC0603092F2A}" srcId="{D45C00B1-D72E-4286-9A09-B656BB36E4DD}" destId="{8F82CB61-0B0D-4F83-B0BE-E47974183024}" srcOrd="0" destOrd="0" parTransId="{BB6A6202-9EC8-4825-AC2F-6FAE63A96DBB}" sibTransId="{8D3B9DCE-FF0F-4281-8C30-CD074FC164FA}"/>
    <dgm:cxn modelId="{2645AF60-3A01-4310-B540-A2F6C06843A8}" type="presOf" srcId="{1B570ED5-ADFA-49F9-BBCF-5DD0AB83F7A9}" destId="{D50B5AFD-4C8A-475A-88A2-C78DE2AD6626}" srcOrd="1" destOrd="0" presId="urn:microsoft.com/office/officeart/2005/8/layout/list1"/>
    <dgm:cxn modelId="{E90B0908-79F6-4260-B18A-E5EF77F07F71}" type="presOf" srcId="{1B570ED5-ADFA-49F9-BBCF-5DD0AB83F7A9}" destId="{0D01C678-D5DA-4845-9674-40C674F8DD24}" srcOrd="0" destOrd="0" presId="urn:microsoft.com/office/officeart/2005/8/layout/list1"/>
    <dgm:cxn modelId="{F2383D0B-51B7-4FFA-B75E-75C5334B1534}" type="presOf" srcId="{8855C8B8-45F1-42FE-840C-81DB9165322D}" destId="{95F34B4C-CC3F-4FC6-B767-7C474E064C53}" srcOrd="1" destOrd="0" presId="urn:microsoft.com/office/officeart/2005/8/layout/list1"/>
    <dgm:cxn modelId="{1D3C29BB-3B7A-4ECB-9BCF-B1FA1813B16A}" type="presOf" srcId="{8F82CB61-0B0D-4F83-B0BE-E47974183024}" destId="{321EDC59-F70E-412F-AAF6-29172A68E20E}" srcOrd="0" destOrd="0" presId="urn:microsoft.com/office/officeart/2005/8/layout/list1"/>
    <dgm:cxn modelId="{B92F0323-97AF-4645-ACD8-C9395AF24D7A}" srcId="{D45C00B1-D72E-4286-9A09-B656BB36E4DD}" destId="{1B570ED5-ADFA-49F9-BBCF-5DD0AB83F7A9}" srcOrd="2" destOrd="0" parTransId="{EEC4EB57-7FFD-48FE-A602-74160D4872B7}" sibTransId="{5BB905FC-71C7-4B26-BB3E-C10D7A775A9C}"/>
    <dgm:cxn modelId="{637B4DB8-2F54-4F4A-942F-59D7A3BE56F4}" srcId="{D45C00B1-D72E-4286-9A09-B656BB36E4DD}" destId="{8855C8B8-45F1-42FE-840C-81DB9165322D}" srcOrd="1" destOrd="0" parTransId="{299234A9-C532-4E1D-86B4-5718598010C6}" sibTransId="{13087FB5-1C65-49A0-AC34-6448C33745B5}"/>
    <dgm:cxn modelId="{0CC58F93-73C4-4A1C-BD29-62897DFAFEAD}" type="presOf" srcId="{8F82CB61-0B0D-4F83-B0BE-E47974183024}" destId="{593C768F-91FB-42BC-B219-16E450E6E48D}" srcOrd="1" destOrd="0" presId="urn:microsoft.com/office/officeart/2005/8/layout/list1"/>
    <dgm:cxn modelId="{2DE1A644-E265-4B14-B681-2AA3415A9D45}" type="presParOf" srcId="{3C0D0D07-9DCF-4A7B-BA9B-E929BC92B856}" destId="{8CE7B9EB-7D4D-44E9-88B2-AF77C40A14A2}" srcOrd="0" destOrd="0" presId="urn:microsoft.com/office/officeart/2005/8/layout/list1"/>
    <dgm:cxn modelId="{BA355FE7-A22E-4EE0-B67A-7AD90C470D7D}" type="presParOf" srcId="{8CE7B9EB-7D4D-44E9-88B2-AF77C40A14A2}" destId="{321EDC59-F70E-412F-AAF6-29172A68E20E}" srcOrd="0" destOrd="0" presId="urn:microsoft.com/office/officeart/2005/8/layout/list1"/>
    <dgm:cxn modelId="{568D37DC-3E1F-4FFD-ACBA-85952C10090B}" type="presParOf" srcId="{8CE7B9EB-7D4D-44E9-88B2-AF77C40A14A2}" destId="{593C768F-91FB-42BC-B219-16E450E6E48D}" srcOrd="1" destOrd="0" presId="urn:microsoft.com/office/officeart/2005/8/layout/list1"/>
    <dgm:cxn modelId="{45FDE192-9BA0-412C-87CA-A20AD742AEC2}" type="presParOf" srcId="{3C0D0D07-9DCF-4A7B-BA9B-E929BC92B856}" destId="{36D3B104-55B5-44E5-A28E-ECD2207DE0CE}" srcOrd="1" destOrd="0" presId="urn:microsoft.com/office/officeart/2005/8/layout/list1"/>
    <dgm:cxn modelId="{F332D064-5D4F-4480-9DA1-1D478BD2B858}" type="presParOf" srcId="{3C0D0D07-9DCF-4A7B-BA9B-E929BC92B856}" destId="{A8D116F3-9B0F-489A-8849-D8A4449E2CE2}" srcOrd="2" destOrd="0" presId="urn:microsoft.com/office/officeart/2005/8/layout/list1"/>
    <dgm:cxn modelId="{D289DFD7-488C-4FA1-AD6B-8A8B1EC360C0}" type="presParOf" srcId="{3C0D0D07-9DCF-4A7B-BA9B-E929BC92B856}" destId="{76FFD430-7182-4B0F-8CCF-0F0B83B8CD59}" srcOrd="3" destOrd="0" presId="urn:microsoft.com/office/officeart/2005/8/layout/list1"/>
    <dgm:cxn modelId="{A8CBA34D-57F7-4750-861A-F1EF24237450}" type="presParOf" srcId="{3C0D0D07-9DCF-4A7B-BA9B-E929BC92B856}" destId="{0ABCB789-CCC1-49E2-836A-1CE113D5E485}" srcOrd="4" destOrd="0" presId="urn:microsoft.com/office/officeart/2005/8/layout/list1"/>
    <dgm:cxn modelId="{37971498-78BD-4133-A4A8-899EC981C469}" type="presParOf" srcId="{0ABCB789-CCC1-49E2-836A-1CE113D5E485}" destId="{BB531CAD-0707-48FA-8E05-83321C7EFB3F}" srcOrd="0" destOrd="0" presId="urn:microsoft.com/office/officeart/2005/8/layout/list1"/>
    <dgm:cxn modelId="{AFB00965-8DF9-4254-9084-A18BD3AAAE21}" type="presParOf" srcId="{0ABCB789-CCC1-49E2-836A-1CE113D5E485}" destId="{95F34B4C-CC3F-4FC6-B767-7C474E064C53}" srcOrd="1" destOrd="0" presId="urn:microsoft.com/office/officeart/2005/8/layout/list1"/>
    <dgm:cxn modelId="{F753BFB1-B655-46AF-9767-342C76CD1512}" type="presParOf" srcId="{3C0D0D07-9DCF-4A7B-BA9B-E929BC92B856}" destId="{8A7D29B0-7CDE-4936-B0E8-9ADE62FCCC38}" srcOrd="5" destOrd="0" presId="urn:microsoft.com/office/officeart/2005/8/layout/list1"/>
    <dgm:cxn modelId="{5A5B90E8-E8A7-47A5-AC97-909137D764F6}" type="presParOf" srcId="{3C0D0D07-9DCF-4A7B-BA9B-E929BC92B856}" destId="{44D089FC-4BE5-4BAB-AB8C-C63D57BC8738}" srcOrd="6" destOrd="0" presId="urn:microsoft.com/office/officeart/2005/8/layout/list1"/>
    <dgm:cxn modelId="{9A21C405-9809-4DA1-99BE-352BEF2BA9E9}" type="presParOf" srcId="{3C0D0D07-9DCF-4A7B-BA9B-E929BC92B856}" destId="{04B4F493-B9B4-4764-B999-568BF77271EB}" srcOrd="7" destOrd="0" presId="urn:microsoft.com/office/officeart/2005/8/layout/list1"/>
    <dgm:cxn modelId="{F4E0F2FC-8768-4A81-9783-AAB629B3355A}" type="presParOf" srcId="{3C0D0D07-9DCF-4A7B-BA9B-E929BC92B856}" destId="{CD463C3E-C1C6-4859-9486-B3926F9D7327}" srcOrd="8" destOrd="0" presId="urn:microsoft.com/office/officeart/2005/8/layout/list1"/>
    <dgm:cxn modelId="{2BD4E856-6E50-465C-BE69-4A61735D424C}" type="presParOf" srcId="{CD463C3E-C1C6-4859-9486-B3926F9D7327}" destId="{0D01C678-D5DA-4845-9674-40C674F8DD24}" srcOrd="0" destOrd="0" presId="urn:microsoft.com/office/officeart/2005/8/layout/list1"/>
    <dgm:cxn modelId="{FB685744-FA55-4867-8983-59DC24169CB8}" type="presParOf" srcId="{CD463C3E-C1C6-4859-9486-B3926F9D7327}" destId="{D50B5AFD-4C8A-475A-88A2-C78DE2AD6626}" srcOrd="1" destOrd="0" presId="urn:microsoft.com/office/officeart/2005/8/layout/list1"/>
    <dgm:cxn modelId="{29FB12A1-D09C-407F-BAAE-914A00D38BD5}" type="presParOf" srcId="{3C0D0D07-9DCF-4A7B-BA9B-E929BC92B856}" destId="{A27984A9-92D5-4888-8D3B-5F9F62F1096F}" srcOrd="9" destOrd="0" presId="urn:microsoft.com/office/officeart/2005/8/layout/list1"/>
    <dgm:cxn modelId="{4F985812-12AB-4266-AB6D-6B44D35FC6DB}" type="presParOf" srcId="{3C0D0D07-9DCF-4A7B-BA9B-E929BC92B856}" destId="{B0BC7C1C-D894-441F-B898-3164BBE3B0C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A83069C-007E-4C4F-96AB-FB1B693626A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AR"/>
        </a:p>
      </dgm:t>
    </dgm:pt>
    <dgm:pt modelId="{C3775562-2BF9-4BE8-ACE5-E154162A135B}">
      <dgm:prSet phldrT="[Texto]"/>
      <dgm:spPr>
        <a:solidFill>
          <a:srgbClr val="7030A0"/>
        </a:solidFill>
      </dgm:spPr>
      <dgm:t>
        <a:bodyPr/>
        <a:lstStyle/>
        <a:p>
          <a:r>
            <a:rPr lang="es-AR" dirty="0" smtClean="0"/>
            <a:t>Segmentación geográfica</a:t>
          </a:r>
          <a:endParaRPr lang="es-AR" dirty="0"/>
        </a:p>
      </dgm:t>
    </dgm:pt>
    <dgm:pt modelId="{1DB20B6A-5F65-4C94-8184-EFB31EFF9AA3}" type="parTrans" cxnId="{B4492248-57A7-4126-A8BE-B4D89B955858}">
      <dgm:prSet/>
      <dgm:spPr/>
      <dgm:t>
        <a:bodyPr/>
        <a:lstStyle/>
        <a:p>
          <a:endParaRPr lang="es-AR"/>
        </a:p>
      </dgm:t>
    </dgm:pt>
    <dgm:pt modelId="{0741819B-FF47-4497-89AB-C360880EFF1A}" type="sibTrans" cxnId="{B4492248-57A7-4126-A8BE-B4D89B955858}">
      <dgm:prSet/>
      <dgm:spPr/>
      <dgm:t>
        <a:bodyPr/>
        <a:lstStyle/>
        <a:p>
          <a:endParaRPr lang="es-AR"/>
        </a:p>
      </dgm:t>
    </dgm:pt>
    <dgm:pt modelId="{A1176F3B-6F1E-4CC3-BAAF-E732F17DA3DB}">
      <dgm:prSet phldrT="[Texto]"/>
      <dgm:spPr>
        <a:solidFill>
          <a:srgbClr val="FFC000"/>
        </a:solidFill>
      </dgm:spPr>
      <dgm:t>
        <a:bodyPr/>
        <a:lstStyle/>
        <a:p>
          <a:r>
            <a:rPr lang="es-AR" dirty="0" smtClean="0"/>
            <a:t>Segmentación demográfica</a:t>
          </a:r>
          <a:endParaRPr lang="es-AR" dirty="0"/>
        </a:p>
      </dgm:t>
    </dgm:pt>
    <dgm:pt modelId="{5C44750B-A700-4F9E-BCB4-31F8664117DD}" type="parTrans" cxnId="{E961EE9B-0BC8-4C82-BBA9-FF18655162C7}">
      <dgm:prSet/>
      <dgm:spPr/>
      <dgm:t>
        <a:bodyPr/>
        <a:lstStyle/>
        <a:p>
          <a:endParaRPr lang="es-AR"/>
        </a:p>
      </dgm:t>
    </dgm:pt>
    <dgm:pt modelId="{36CB662F-12EB-40C9-84C1-8AEA1D7B7921}" type="sibTrans" cxnId="{E961EE9B-0BC8-4C82-BBA9-FF18655162C7}">
      <dgm:prSet/>
      <dgm:spPr/>
      <dgm:t>
        <a:bodyPr/>
        <a:lstStyle/>
        <a:p>
          <a:endParaRPr lang="es-AR"/>
        </a:p>
      </dgm:t>
    </dgm:pt>
    <dgm:pt modelId="{647A986D-D051-41F9-9B1C-088C65474D7B}">
      <dgm:prSet phldrT="[Texto]"/>
      <dgm:spPr>
        <a:solidFill>
          <a:schemeClr val="accent5">
            <a:lumMod val="75000"/>
          </a:schemeClr>
        </a:solidFill>
      </dgm:spPr>
      <dgm:t>
        <a:bodyPr/>
        <a:lstStyle/>
        <a:p>
          <a:r>
            <a:rPr lang="es-AR" dirty="0" smtClean="0"/>
            <a:t>Segmentación </a:t>
          </a:r>
          <a:r>
            <a:rPr lang="es-AR" dirty="0" err="1" smtClean="0"/>
            <a:t>psicográfica</a:t>
          </a:r>
          <a:endParaRPr lang="es-AR" dirty="0"/>
        </a:p>
      </dgm:t>
    </dgm:pt>
    <dgm:pt modelId="{1ECFD116-07E2-41D4-8194-CCF80AB5EE36}" type="parTrans" cxnId="{FB6682EB-7D52-4E07-A3A8-E4AEC2B8E718}">
      <dgm:prSet/>
      <dgm:spPr/>
      <dgm:t>
        <a:bodyPr/>
        <a:lstStyle/>
        <a:p>
          <a:endParaRPr lang="es-AR"/>
        </a:p>
      </dgm:t>
    </dgm:pt>
    <dgm:pt modelId="{6B5C488C-3CD1-4454-8D12-5B0C3B921BFD}" type="sibTrans" cxnId="{FB6682EB-7D52-4E07-A3A8-E4AEC2B8E718}">
      <dgm:prSet/>
      <dgm:spPr/>
      <dgm:t>
        <a:bodyPr/>
        <a:lstStyle/>
        <a:p>
          <a:endParaRPr lang="es-AR"/>
        </a:p>
      </dgm:t>
    </dgm:pt>
    <dgm:pt modelId="{4C90CF96-AE54-46A0-8EFB-54084FAD497D}">
      <dgm:prSet phldrT="[Texto]"/>
      <dgm:spPr/>
      <dgm:t>
        <a:bodyPr/>
        <a:lstStyle/>
        <a:p>
          <a:r>
            <a:rPr lang="es-AR" dirty="0" smtClean="0"/>
            <a:t>Segmentación por conducta.</a:t>
          </a:r>
          <a:endParaRPr lang="es-AR" dirty="0"/>
        </a:p>
      </dgm:t>
    </dgm:pt>
    <dgm:pt modelId="{75AE6971-4CDE-4DF8-A99E-33969A4270D7}" type="parTrans" cxnId="{048A55AA-E462-48AF-B5E0-D7A2102ECC22}">
      <dgm:prSet/>
      <dgm:spPr/>
      <dgm:t>
        <a:bodyPr/>
        <a:lstStyle/>
        <a:p>
          <a:endParaRPr lang="es-AR"/>
        </a:p>
      </dgm:t>
    </dgm:pt>
    <dgm:pt modelId="{8F167383-C02A-42A0-B29F-317211277E9E}" type="sibTrans" cxnId="{048A55AA-E462-48AF-B5E0-D7A2102ECC22}">
      <dgm:prSet/>
      <dgm:spPr/>
      <dgm:t>
        <a:bodyPr/>
        <a:lstStyle/>
        <a:p>
          <a:endParaRPr lang="es-AR"/>
        </a:p>
      </dgm:t>
    </dgm:pt>
    <dgm:pt modelId="{8EE91B2B-6368-47FC-B1EE-A41601164CE9}" type="pres">
      <dgm:prSet presAssocID="{9A83069C-007E-4C4F-96AB-FB1B693626AF}" presName="diagram" presStyleCnt="0">
        <dgm:presLayoutVars>
          <dgm:dir/>
          <dgm:resizeHandles val="exact"/>
        </dgm:presLayoutVars>
      </dgm:prSet>
      <dgm:spPr/>
      <dgm:t>
        <a:bodyPr/>
        <a:lstStyle/>
        <a:p>
          <a:endParaRPr lang="es-AR"/>
        </a:p>
      </dgm:t>
    </dgm:pt>
    <dgm:pt modelId="{C3BD9014-52D9-4184-B8CB-2BF4E919E3F3}" type="pres">
      <dgm:prSet presAssocID="{C3775562-2BF9-4BE8-ACE5-E154162A135B}" presName="node" presStyleLbl="node1" presStyleIdx="0" presStyleCnt="4">
        <dgm:presLayoutVars>
          <dgm:bulletEnabled val="1"/>
        </dgm:presLayoutVars>
      </dgm:prSet>
      <dgm:spPr/>
      <dgm:t>
        <a:bodyPr/>
        <a:lstStyle/>
        <a:p>
          <a:endParaRPr lang="es-AR"/>
        </a:p>
      </dgm:t>
    </dgm:pt>
    <dgm:pt modelId="{D3A02113-11B1-4E81-B990-DB1A4D296639}" type="pres">
      <dgm:prSet presAssocID="{0741819B-FF47-4497-89AB-C360880EFF1A}" presName="sibTrans" presStyleCnt="0"/>
      <dgm:spPr/>
    </dgm:pt>
    <dgm:pt modelId="{C59AB63F-5216-42DD-B70E-DCCC146F8389}" type="pres">
      <dgm:prSet presAssocID="{A1176F3B-6F1E-4CC3-BAAF-E732F17DA3DB}" presName="node" presStyleLbl="node1" presStyleIdx="1" presStyleCnt="4">
        <dgm:presLayoutVars>
          <dgm:bulletEnabled val="1"/>
        </dgm:presLayoutVars>
      </dgm:prSet>
      <dgm:spPr/>
      <dgm:t>
        <a:bodyPr/>
        <a:lstStyle/>
        <a:p>
          <a:endParaRPr lang="es-AR"/>
        </a:p>
      </dgm:t>
    </dgm:pt>
    <dgm:pt modelId="{97249E36-6B03-419F-8F8A-4C48A62BEA69}" type="pres">
      <dgm:prSet presAssocID="{36CB662F-12EB-40C9-84C1-8AEA1D7B7921}" presName="sibTrans" presStyleCnt="0"/>
      <dgm:spPr/>
    </dgm:pt>
    <dgm:pt modelId="{9F529250-1E03-49DF-836A-5898BBC70316}" type="pres">
      <dgm:prSet presAssocID="{647A986D-D051-41F9-9B1C-088C65474D7B}" presName="node" presStyleLbl="node1" presStyleIdx="2" presStyleCnt="4">
        <dgm:presLayoutVars>
          <dgm:bulletEnabled val="1"/>
        </dgm:presLayoutVars>
      </dgm:prSet>
      <dgm:spPr/>
      <dgm:t>
        <a:bodyPr/>
        <a:lstStyle/>
        <a:p>
          <a:endParaRPr lang="es-AR"/>
        </a:p>
      </dgm:t>
    </dgm:pt>
    <dgm:pt modelId="{B389AEBE-E168-4394-8AB1-CDC77B06A952}" type="pres">
      <dgm:prSet presAssocID="{6B5C488C-3CD1-4454-8D12-5B0C3B921BFD}" presName="sibTrans" presStyleCnt="0"/>
      <dgm:spPr/>
    </dgm:pt>
    <dgm:pt modelId="{F02CE32F-EBFA-4384-A93D-6CC6E1888014}" type="pres">
      <dgm:prSet presAssocID="{4C90CF96-AE54-46A0-8EFB-54084FAD497D}" presName="node" presStyleLbl="node1" presStyleIdx="3" presStyleCnt="4">
        <dgm:presLayoutVars>
          <dgm:bulletEnabled val="1"/>
        </dgm:presLayoutVars>
      </dgm:prSet>
      <dgm:spPr/>
      <dgm:t>
        <a:bodyPr/>
        <a:lstStyle/>
        <a:p>
          <a:endParaRPr lang="es-AR"/>
        </a:p>
      </dgm:t>
    </dgm:pt>
  </dgm:ptLst>
  <dgm:cxnLst>
    <dgm:cxn modelId="{E49B07BF-5234-4EAF-8A2A-14A276BB1085}" type="presOf" srcId="{647A986D-D051-41F9-9B1C-088C65474D7B}" destId="{9F529250-1E03-49DF-836A-5898BBC70316}" srcOrd="0" destOrd="0" presId="urn:microsoft.com/office/officeart/2005/8/layout/default"/>
    <dgm:cxn modelId="{6B4E170F-A8EB-4CD6-91DD-88F5CCF9151B}" type="presOf" srcId="{C3775562-2BF9-4BE8-ACE5-E154162A135B}" destId="{C3BD9014-52D9-4184-B8CB-2BF4E919E3F3}" srcOrd="0" destOrd="0" presId="urn:microsoft.com/office/officeart/2005/8/layout/default"/>
    <dgm:cxn modelId="{E961EE9B-0BC8-4C82-BBA9-FF18655162C7}" srcId="{9A83069C-007E-4C4F-96AB-FB1B693626AF}" destId="{A1176F3B-6F1E-4CC3-BAAF-E732F17DA3DB}" srcOrd="1" destOrd="0" parTransId="{5C44750B-A700-4F9E-BCB4-31F8664117DD}" sibTransId="{36CB662F-12EB-40C9-84C1-8AEA1D7B7921}"/>
    <dgm:cxn modelId="{5EA1BD4B-AF6B-4BF8-A95E-83B6CD98F4CF}" type="presOf" srcId="{9A83069C-007E-4C4F-96AB-FB1B693626AF}" destId="{8EE91B2B-6368-47FC-B1EE-A41601164CE9}" srcOrd="0" destOrd="0" presId="urn:microsoft.com/office/officeart/2005/8/layout/default"/>
    <dgm:cxn modelId="{B4492248-57A7-4126-A8BE-B4D89B955858}" srcId="{9A83069C-007E-4C4F-96AB-FB1B693626AF}" destId="{C3775562-2BF9-4BE8-ACE5-E154162A135B}" srcOrd="0" destOrd="0" parTransId="{1DB20B6A-5F65-4C94-8184-EFB31EFF9AA3}" sibTransId="{0741819B-FF47-4497-89AB-C360880EFF1A}"/>
    <dgm:cxn modelId="{0DA375B9-FCDE-46FD-84F0-C601B256A8E2}" type="presOf" srcId="{4C90CF96-AE54-46A0-8EFB-54084FAD497D}" destId="{F02CE32F-EBFA-4384-A93D-6CC6E1888014}" srcOrd="0" destOrd="0" presId="urn:microsoft.com/office/officeart/2005/8/layout/default"/>
    <dgm:cxn modelId="{FB6682EB-7D52-4E07-A3A8-E4AEC2B8E718}" srcId="{9A83069C-007E-4C4F-96AB-FB1B693626AF}" destId="{647A986D-D051-41F9-9B1C-088C65474D7B}" srcOrd="2" destOrd="0" parTransId="{1ECFD116-07E2-41D4-8194-CCF80AB5EE36}" sibTransId="{6B5C488C-3CD1-4454-8D12-5B0C3B921BFD}"/>
    <dgm:cxn modelId="{E1F5D84F-15D4-4F92-AD41-3DDA3C7A753F}" type="presOf" srcId="{A1176F3B-6F1E-4CC3-BAAF-E732F17DA3DB}" destId="{C59AB63F-5216-42DD-B70E-DCCC146F8389}" srcOrd="0" destOrd="0" presId="urn:microsoft.com/office/officeart/2005/8/layout/default"/>
    <dgm:cxn modelId="{048A55AA-E462-48AF-B5E0-D7A2102ECC22}" srcId="{9A83069C-007E-4C4F-96AB-FB1B693626AF}" destId="{4C90CF96-AE54-46A0-8EFB-54084FAD497D}" srcOrd="3" destOrd="0" parTransId="{75AE6971-4CDE-4DF8-A99E-33969A4270D7}" sibTransId="{8F167383-C02A-42A0-B29F-317211277E9E}"/>
    <dgm:cxn modelId="{59110D9E-3249-41D9-98D6-177737374E46}" type="presParOf" srcId="{8EE91B2B-6368-47FC-B1EE-A41601164CE9}" destId="{C3BD9014-52D9-4184-B8CB-2BF4E919E3F3}" srcOrd="0" destOrd="0" presId="urn:microsoft.com/office/officeart/2005/8/layout/default"/>
    <dgm:cxn modelId="{9FAEA21B-6602-4680-9121-A32C33B7FECF}" type="presParOf" srcId="{8EE91B2B-6368-47FC-B1EE-A41601164CE9}" destId="{D3A02113-11B1-4E81-B990-DB1A4D296639}" srcOrd="1" destOrd="0" presId="urn:microsoft.com/office/officeart/2005/8/layout/default"/>
    <dgm:cxn modelId="{64EC5B13-4ACE-4343-ABC2-7F6D3F3BDB80}" type="presParOf" srcId="{8EE91B2B-6368-47FC-B1EE-A41601164CE9}" destId="{C59AB63F-5216-42DD-B70E-DCCC146F8389}" srcOrd="2" destOrd="0" presId="urn:microsoft.com/office/officeart/2005/8/layout/default"/>
    <dgm:cxn modelId="{F217D346-97EE-4A9F-8040-1451A7A5A0C9}" type="presParOf" srcId="{8EE91B2B-6368-47FC-B1EE-A41601164CE9}" destId="{97249E36-6B03-419F-8F8A-4C48A62BEA69}" srcOrd="3" destOrd="0" presId="urn:microsoft.com/office/officeart/2005/8/layout/default"/>
    <dgm:cxn modelId="{0DF1B50B-2E80-472A-902C-5FEEA25B4543}" type="presParOf" srcId="{8EE91B2B-6368-47FC-B1EE-A41601164CE9}" destId="{9F529250-1E03-49DF-836A-5898BBC70316}" srcOrd="4" destOrd="0" presId="urn:microsoft.com/office/officeart/2005/8/layout/default"/>
    <dgm:cxn modelId="{3AC7714E-9CCE-424D-B2BB-FBB99B73FDFC}" type="presParOf" srcId="{8EE91B2B-6368-47FC-B1EE-A41601164CE9}" destId="{B389AEBE-E168-4394-8AB1-CDC77B06A952}" srcOrd="5" destOrd="0" presId="urn:microsoft.com/office/officeart/2005/8/layout/default"/>
    <dgm:cxn modelId="{FB8A57FB-2433-45B7-8F3C-C1243901F62E}" type="presParOf" srcId="{8EE91B2B-6368-47FC-B1EE-A41601164CE9}" destId="{F02CE32F-EBFA-4384-A93D-6CC6E1888014}"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6480A9-62E9-4511-90DF-C45B33AAE99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s-AR"/>
        </a:p>
      </dgm:t>
    </dgm:pt>
    <dgm:pt modelId="{A625407D-8CE3-4DFC-A6CC-64508EB0D951}">
      <dgm:prSet phldrT="[Texto]"/>
      <dgm:spPr>
        <a:solidFill>
          <a:srgbClr val="00B050"/>
        </a:solidFill>
      </dgm:spPr>
      <dgm:t>
        <a:bodyPr/>
        <a:lstStyle/>
        <a:p>
          <a:r>
            <a:rPr lang="es-AR" b="1" dirty="0" smtClean="0">
              <a:solidFill>
                <a:schemeClr val="tx1"/>
              </a:solidFill>
            </a:rPr>
            <a:t>Mercado proveedor</a:t>
          </a:r>
          <a:endParaRPr lang="es-AR" b="1" dirty="0">
            <a:solidFill>
              <a:schemeClr val="tx1"/>
            </a:solidFill>
          </a:endParaRPr>
        </a:p>
      </dgm:t>
    </dgm:pt>
    <dgm:pt modelId="{1E1DC79D-5280-4DCF-BD91-A6D670468296}" type="parTrans" cxnId="{98866BD4-D0C7-42C7-AB9A-7E04842447E2}">
      <dgm:prSet/>
      <dgm:spPr/>
      <dgm:t>
        <a:bodyPr/>
        <a:lstStyle/>
        <a:p>
          <a:endParaRPr lang="es-AR"/>
        </a:p>
      </dgm:t>
    </dgm:pt>
    <dgm:pt modelId="{B9788A14-C25A-4EB7-A9EC-865B2F4895AD}" type="sibTrans" cxnId="{98866BD4-D0C7-42C7-AB9A-7E04842447E2}">
      <dgm:prSet/>
      <dgm:spPr/>
      <dgm:t>
        <a:bodyPr/>
        <a:lstStyle/>
        <a:p>
          <a:endParaRPr lang="es-AR"/>
        </a:p>
      </dgm:t>
    </dgm:pt>
    <dgm:pt modelId="{45CBD124-52FE-4BDB-BB27-85407C27CFC7}">
      <dgm:prSet phldrT="[Texto]"/>
      <dgm:spPr>
        <a:solidFill>
          <a:srgbClr val="FFFF00"/>
        </a:solidFill>
      </dgm:spPr>
      <dgm:t>
        <a:bodyPr/>
        <a:lstStyle/>
        <a:p>
          <a:r>
            <a:rPr lang="es-AR" dirty="0" smtClean="0">
              <a:solidFill>
                <a:schemeClr val="tx1"/>
              </a:solidFill>
            </a:rPr>
            <a:t>Mercado competidor</a:t>
          </a:r>
          <a:endParaRPr lang="es-AR" dirty="0">
            <a:solidFill>
              <a:schemeClr val="tx1"/>
            </a:solidFill>
          </a:endParaRPr>
        </a:p>
      </dgm:t>
    </dgm:pt>
    <dgm:pt modelId="{209C25CE-A894-46D2-AE2D-60A357F2660A}" type="parTrans" cxnId="{1147F584-4886-4AB4-B9C2-9621777FBAE0}">
      <dgm:prSet/>
      <dgm:spPr/>
      <dgm:t>
        <a:bodyPr/>
        <a:lstStyle/>
        <a:p>
          <a:endParaRPr lang="es-AR"/>
        </a:p>
      </dgm:t>
    </dgm:pt>
    <dgm:pt modelId="{C3FCBA1A-D648-4607-AC25-B5A44EAE9A62}" type="sibTrans" cxnId="{1147F584-4886-4AB4-B9C2-9621777FBAE0}">
      <dgm:prSet/>
      <dgm:spPr/>
      <dgm:t>
        <a:bodyPr/>
        <a:lstStyle/>
        <a:p>
          <a:endParaRPr lang="es-AR"/>
        </a:p>
      </dgm:t>
    </dgm:pt>
    <dgm:pt modelId="{5726AB7A-84DF-43A3-AAF5-9B7E0D528D0B}">
      <dgm:prSet phldrT="[Texto]"/>
      <dgm:spPr>
        <a:solidFill>
          <a:schemeClr val="tx2">
            <a:lumMod val="60000"/>
            <a:lumOff val="40000"/>
          </a:schemeClr>
        </a:solidFill>
      </dgm:spPr>
      <dgm:t>
        <a:bodyPr/>
        <a:lstStyle/>
        <a:p>
          <a:r>
            <a:rPr lang="es-AR" dirty="0" smtClean="0">
              <a:solidFill>
                <a:schemeClr val="tx1"/>
              </a:solidFill>
            </a:rPr>
            <a:t>Mercado  distribuidor</a:t>
          </a:r>
          <a:endParaRPr lang="es-AR" dirty="0">
            <a:solidFill>
              <a:schemeClr val="tx1"/>
            </a:solidFill>
          </a:endParaRPr>
        </a:p>
      </dgm:t>
    </dgm:pt>
    <dgm:pt modelId="{93FF4EB6-6686-4B1B-AF32-3C9DF37636C0}" type="parTrans" cxnId="{E417F2F9-38CF-440A-9884-FD65D0BC1383}">
      <dgm:prSet/>
      <dgm:spPr/>
      <dgm:t>
        <a:bodyPr/>
        <a:lstStyle/>
        <a:p>
          <a:endParaRPr lang="es-AR"/>
        </a:p>
      </dgm:t>
    </dgm:pt>
    <dgm:pt modelId="{7A0D0022-6B59-4A44-8D39-F99022E15343}" type="sibTrans" cxnId="{E417F2F9-38CF-440A-9884-FD65D0BC1383}">
      <dgm:prSet/>
      <dgm:spPr/>
      <dgm:t>
        <a:bodyPr/>
        <a:lstStyle/>
        <a:p>
          <a:endParaRPr lang="es-AR"/>
        </a:p>
      </dgm:t>
    </dgm:pt>
    <dgm:pt modelId="{BFC7B221-5003-4E49-B92D-807CFCDF0253}">
      <dgm:prSet phldrT="[Texto]"/>
      <dgm:spPr>
        <a:solidFill>
          <a:srgbClr val="7030A0"/>
        </a:solidFill>
      </dgm:spPr>
      <dgm:t>
        <a:bodyPr/>
        <a:lstStyle/>
        <a:p>
          <a:r>
            <a:rPr lang="es-AR" dirty="0" smtClean="0">
              <a:solidFill>
                <a:schemeClr val="tx1"/>
              </a:solidFill>
            </a:rPr>
            <a:t>Mercado Consumidor</a:t>
          </a:r>
          <a:endParaRPr lang="es-AR" dirty="0">
            <a:solidFill>
              <a:schemeClr val="tx1"/>
            </a:solidFill>
          </a:endParaRPr>
        </a:p>
      </dgm:t>
    </dgm:pt>
    <dgm:pt modelId="{D91259E3-4AFF-4ED9-B8FF-F1BB8EF47FA6}" type="parTrans" cxnId="{580DCF25-99F2-4CBF-BAA9-F1A858D2008E}">
      <dgm:prSet/>
      <dgm:spPr/>
      <dgm:t>
        <a:bodyPr/>
        <a:lstStyle/>
        <a:p>
          <a:endParaRPr lang="es-AR"/>
        </a:p>
      </dgm:t>
    </dgm:pt>
    <dgm:pt modelId="{35CF1032-B948-41FB-B8EF-7768802FDCFB}" type="sibTrans" cxnId="{580DCF25-99F2-4CBF-BAA9-F1A858D2008E}">
      <dgm:prSet/>
      <dgm:spPr/>
      <dgm:t>
        <a:bodyPr/>
        <a:lstStyle/>
        <a:p>
          <a:endParaRPr lang="es-AR"/>
        </a:p>
      </dgm:t>
    </dgm:pt>
    <dgm:pt modelId="{BBE33F4C-A0E3-4F10-88AA-93093B9FBD93}">
      <dgm:prSet phldrT="[Texto]"/>
      <dgm:spPr/>
      <dgm:t>
        <a:bodyPr/>
        <a:lstStyle/>
        <a:p>
          <a:r>
            <a:rPr lang="es-AR" dirty="0" smtClean="0">
              <a:solidFill>
                <a:schemeClr val="tx1"/>
              </a:solidFill>
            </a:rPr>
            <a:t>Mercado Externo</a:t>
          </a:r>
          <a:endParaRPr lang="es-AR" dirty="0">
            <a:solidFill>
              <a:schemeClr val="tx1"/>
            </a:solidFill>
          </a:endParaRPr>
        </a:p>
      </dgm:t>
    </dgm:pt>
    <dgm:pt modelId="{2D131CE6-FD0D-4155-A6AF-4F15FCBF8E37}" type="parTrans" cxnId="{56269D2C-421C-49E6-AD24-2FBBB8E09BFA}">
      <dgm:prSet/>
      <dgm:spPr/>
      <dgm:t>
        <a:bodyPr/>
        <a:lstStyle/>
        <a:p>
          <a:endParaRPr lang="es-AR"/>
        </a:p>
      </dgm:t>
    </dgm:pt>
    <dgm:pt modelId="{04FA9523-5C40-4071-95C0-ECE4C5C76160}" type="sibTrans" cxnId="{56269D2C-421C-49E6-AD24-2FBBB8E09BFA}">
      <dgm:prSet/>
      <dgm:spPr/>
      <dgm:t>
        <a:bodyPr/>
        <a:lstStyle/>
        <a:p>
          <a:endParaRPr lang="es-AR"/>
        </a:p>
      </dgm:t>
    </dgm:pt>
    <dgm:pt modelId="{C9727F33-F1AE-478A-827D-89723E12A764}" type="pres">
      <dgm:prSet presAssocID="{DD6480A9-62E9-4511-90DF-C45B33AAE99C}" presName="cycle" presStyleCnt="0">
        <dgm:presLayoutVars>
          <dgm:dir/>
          <dgm:resizeHandles val="exact"/>
        </dgm:presLayoutVars>
      </dgm:prSet>
      <dgm:spPr/>
      <dgm:t>
        <a:bodyPr/>
        <a:lstStyle/>
        <a:p>
          <a:endParaRPr lang="es-ES"/>
        </a:p>
      </dgm:t>
    </dgm:pt>
    <dgm:pt modelId="{7862E7BF-6306-4500-9C40-4D6F074FBE5F}" type="pres">
      <dgm:prSet presAssocID="{A625407D-8CE3-4DFC-A6CC-64508EB0D951}" presName="node" presStyleLbl="node1" presStyleIdx="0" presStyleCnt="5">
        <dgm:presLayoutVars>
          <dgm:bulletEnabled val="1"/>
        </dgm:presLayoutVars>
      </dgm:prSet>
      <dgm:spPr/>
      <dgm:t>
        <a:bodyPr/>
        <a:lstStyle/>
        <a:p>
          <a:endParaRPr lang="es-AR"/>
        </a:p>
      </dgm:t>
    </dgm:pt>
    <dgm:pt modelId="{5B24FB6A-92C3-46CC-A297-27C8A83B873C}" type="pres">
      <dgm:prSet presAssocID="{B9788A14-C25A-4EB7-A9EC-865B2F4895AD}" presName="sibTrans" presStyleLbl="sibTrans2D1" presStyleIdx="0" presStyleCnt="5"/>
      <dgm:spPr/>
      <dgm:t>
        <a:bodyPr/>
        <a:lstStyle/>
        <a:p>
          <a:endParaRPr lang="es-ES"/>
        </a:p>
      </dgm:t>
    </dgm:pt>
    <dgm:pt modelId="{778D97F7-666A-4C39-BC48-1B02666A1A43}" type="pres">
      <dgm:prSet presAssocID="{B9788A14-C25A-4EB7-A9EC-865B2F4895AD}" presName="connectorText" presStyleLbl="sibTrans2D1" presStyleIdx="0" presStyleCnt="5"/>
      <dgm:spPr/>
      <dgm:t>
        <a:bodyPr/>
        <a:lstStyle/>
        <a:p>
          <a:endParaRPr lang="es-ES"/>
        </a:p>
      </dgm:t>
    </dgm:pt>
    <dgm:pt modelId="{58E3FE06-E25C-4AA5-8490-6389373ABD37}" type="pres">
      <dgm:prSet presAssocID="{45CBD124-52FE-4BDB-BB27-85407C27CFC7}" presName="node" presStyleLbl="node1" presStyleIdx="1" presStyleCnt="5">
        <dgm:presLayoutVars>
          <dgm:bulletEnabled val="1"/>
        </dgm:presLayoutVars>
      </dgm:prSet>
      <dgm:spPr/>
      <dgm:t>
        <a:bodyPr/>
        <a:lstStyle/>
        <a:p>
          <a:endParaRPr lang="es-ES"/>
        </a:p>
      </dgm:t>
    </dgm:pt>
    <dgm:pt modelId="{CE2973A4-5045-4DC6-9B91-B06E00330549}" type="pres">
      <dgm:prSet presAssocID="{C3FCBA1A-D648-4607-AC25-B5A44EAE9A62}" presName="sibTrans" presStyleLbl="sibTrans2D1" presStyleIdx="1" presStyleCnt="5"/>
      <dgm:spPr/>
      <dgm:t>
        <a:bodyPr/>
        <a:lstStyle/>
        <a:p>
          <a:endParaRPr lang="es-ES"/>
        </a:p>
      </dgm:t>
    </dgm:pt>
    <dgm:pt modelId="{7C7D7BED-90C2-40D8-B6A9-82A42E9A3A51}" type="pres">
      <dgm:prSet presAssocID="{C3FCBA1A-D648-4607-AC25-B5A44EAE9A62}" presName="connectorText" presStyleLbl="sibTrans2D1" presStyleIdx="1" presStyleCnt="5"/>
      <dgm:spPr/>
      <dgm:t>
        <a:bodyPr/>
        <a:lstStyle/>
        <a:p>
          <a:endParaRPr lang="es-ES"/>
        </a:p>
      </dgm:t>
    </dgm:pt>
    <dgm:pt modelId="{0146CA55-FF4D-42CA-A545-0C478C9AA6A7}" type="pres">
      <dgm:prSet presAssocID="{5726AB7A-84DF-43A3-AAF5-9B7E0D528D0B}" presName="node" presStyleLbl="node1" presStyleIdx="2" presStyleCnt="5">
        <dgm:presLayoutVars>
          <dgm:bulletEnabled val="1"/>
        </dgm:presLayoutVars>
      </dgm:prSet>
      <dgm:spPr/>
      <dgm:t>
        <a:bodyPr/>
        <a:lstStyle/>
        <a:p>
          <a:endParaRPr lang="es-ES"/>
        </a:p>
      </dgm:t>
    </dgm:pt>
    <dgm:pt modelId="{7246C81A-BF9C-4D94-BB78-7B46F1B76D3D}" type="pres">
      <dgm:prSet presAssocID="{7A0D0022-6B59-4A44-8D39-F99022E15343}" presName="sibTrans" presStyleLbl="sibTrans2D1" presStyleIdx="2" presStyleCnt="5"/>
      <dgm:spPr/>
      <dgm:t>
        <a:bodyPr/>
        <a:lstStyle/>
        <a:p>
          <a:endParaRPr lang="es-ES"/>
        </a:p>
      </dgm:t>
    </dgm:pt>
    <dgm:pt modelId="{88510CB6-779E-4B64-B7E9-84DD4E2EE69D}" type="pres">
      <dgm:prSet presAssocID="{7A0D0022-6B59-4A44-8D39-F99022E15343}" presName="connectorText" presStyleLbl="sibTrans2D1" presStyleIdx="2" presStyleCnt="5"/>
      <dgm:spPr/>
      <dgm:t>
        <a:bodyPr/>
        <a:lstStyle/>
        <a:p>
          <a:endParaRPr lang="es-ES"/>
        </a:p>
      </dgm:t>
    </dgm:pt>
    <dgm:pt modelId="{2CF9A725-1089-4AD6-A3A0-4A1B8A7F8026}" type="pres">
      <dgm:prSet presAssocID="{BFC7B221-5003-4E49-B92D-807CFCDF0253}" presName="node" presStyleLbl="node1" presStyleIdx="3" presStyleCnt="5">
        <dgm:presLayoutVars>
          <dgm:bulletEnabled val="1"/>
        </dgm:presLayoutVars>
      </dgm:prSet>
      <dgm:spPr/>
      <dgm:t>
        <a:bodyPr/>
        <a:lstStyle/>
        <a:p>
          <a:endParaRPr lang="es-ES"/>
        </a:p>
      </dgm:t>
    </dgm:pt>
    <dgm:pt modelId="{05DFFEF6-74F1-45AA-9506-31692A30059E}" type="pres">
      <dgm:prSet presAssocID="{35CF1032-B948-41FB-B8EF-7768802FDCFB}" presName="sibTrans" presStyleLbl="sibTrans2D1" presStyleIdx="3" presStyleCnt="5"/>
      <dgm:spPr/>
      <dgm:t>
        <a:bodyPr/>
        <a:lstStyle/>
        <a:p>
          <a:endParaRPr lang="es-ES"/>
        </a:p>
      </dgm:t>
    </dgm:pt>
    <dgm:pt modelId="{8496A74D-C466-469F-B235-BFB34B6C66D1}" type="pres">
      <dgm:prSet presAssocID="{35CF1032-B948-41FB-B8EF-7768802FDCFB}" presName="connectorText" presStyleLbl="sibTrans2D1" presStyleIdx="3" presStyleCnt="5"/>
      <dgm:spPr/>
      <dgm:t>
        <a:bodyPr/>
        <a:lstStyle/>
        <a:p>
          <a:endParaRPr lang="es-ES"/>
        </a:p>
      </dgm:t>
    </dgm:pt>
    <dgm:pt modelId="{9BD6D4AB-2328-4B1A-97C3-72EE962A63C3}" type="pres">
      <dgm:prSet presAssocID="{BBE33F4C-A0E3-4F10-88AA-93093B9FBD93}" presName="node" presStyleLbl="node1" presStyleIdx="4" presStyleCnt="5">
        <dgm:presLayoutVars>
          <dgm:bulletEnabled val="1"/>
        </dgm:presLayoutVars>
      </dgm:prSet>
      <dgm:spPr/>
      <dgm:t>
        <a:bodyPr/>
        <a:lstStyle/>
        <a:p>
          <a:endParaRPr lang="es-ES"/>
        </a:p>
      </dgm:t>
    </dgm:pt>
    <dgm:pt modelId="{51C2DCEF-34E0-46A2-A936-CAF91755EACD}" type="pres">
      <dgm:prSet presAssocID="{04FA9523-5C40-4071-95C0-ECE4C5C76160}" presName="sibTrans" presStyleLbl="sibTrans2D1" presStyleIdx="4" presStyleCnt="5"/>
      <dgm:spPr/>
      <dgm:t>
        <a:bodyPr/>
        <a:lstStyle/>
        <a:p>
          <a:endParaRPr lang="es-ES"/>
        </a:p>
      </dgm:t>
    </dgm:pt>
    <dgm:pt modelId="{74277499-D7D3-420A-80C9-DCCD78DA40D5}" type="pres">
      <dgm:prSet presAssocID="{04FA9523-5C40-4071-95C0-ECE4C5C76160}" presName="connectorText" presStyleLbl="sibTrans2D1" presStyleIdx="4" presStyleCnt="5"/>
      <dgm:spPr/>
      <dgm:t>
        <a:bodyPr/>
        <a:lstStyle/>
        <a:p>
          <a:endParaRPr lang="es-ES"/>
        </a:p>
      </dgm:t>
    </dgm:pt>
  </dgm:ptLst>
  <dgm:cxnLst>
    <dgm:cxn modelId="{A23C94EC-1FAE-4642-9AD9-E41CC4AA4F7B}" type="presOf" srcId="{B9788A14-C25A-4EB7-A9EC-865B2F4895AD}" destId="{778D97F7-666A-4C39-BC48-1B02666A1A43}" srcOrd="1" destOrd="0" presId="urn:microsoft.com/office/officeart/2005/8/layout/cycle2"/>
    <dgm:cxn modelId="{580DCF25-99F2-4CBF-BAA9-F1A858D2008E}" srcId="{DD6480A9-62E9-4511-90DF-C45B33AAE99C}" destId="{BFC7B221-5003-4E49-B92D-807CFCDF0253}" srcOrd="3" destOrd="0" parTransId="{D91259E3-4AFF-4ED9-B8FF-F1BB8EF47FA6}" sibTransId="{35CF1032-B948-41FB-B8EF-7768802FDCFB}"/>
    <dgm:cxn modelId="{1147F584-4886-4AB4-B9C2-9621777FBAE0}" srcId="{DD6480A9-62E9-4511-90DF-C45B33AAE99C}" destId="{45CBD124-52FE-4BDB-BB27-85407C27CFC7}" srcOrd="1" destOrd="0" parTransId="{209C25CE-A894-46D2-AE2D-60A357F2660A}" sibTransId="{C3FCBA1A-D648-4607-AC25-B5A44EAE9A62}"/>
    <dgm:cxn modelId="{98866BD4-D0C7-42C7-AB9A-7E04842447E2}" srcId="{DD6480A9-62E9-4511-90DF-C45B33AAE99C}" destId="{A625407D-8CE3-4DFC-A6CC-64508EB0D951}" srcOrd="0" destOrd="0" parTransId="{1E1DC79D-5280-4DCF-BD91-A6D670468296}" sibTransId="{B9788A14-C25A-4EB7-A9EC-865B2F4895AD}"/>
    <dgm:cxn modelId="{30FFB900-7A05-4128-A910-1CEF3049BE9C}" type="presOf" srcId="{04FA9523-5C40-4071-95C0-ECE4C5C76160}" destId="{51C2DCEF-34E0-46A2-A936-CAF91755EACD}" srcOrd="0" destOrd="0" presId="urn:microsoft.com/office/officeart/2005/8/layout/cycle2"/>
    <dgm:cxn modelId="{56269D2C-421C-49E6-AD24-2FBBB8E09BFA}" srcId="{DD6480A9-62E9-4511-90DF-C45B33AAE99C}" destId="{BBE33F4C-A0E3-4F10-88AA-93093B9FBD93}" srcOrd="4" destOrd="0" parTransId="{2D131CE6-FD0D-4155-A6AF-4F15FCBF8E37}" sibTransId="{04FA9523-5C40-4071-95C0-ECE4C5C76160}"/>
    <dgm:cxn modelId="{E417F2F9-38CF-440A-9884-FD65D0BC1383}" srcId="{DD6480A9-62E9-4511-90DF-C45B33AAE99C}" destId="{5726AB7A-84DF-43A3-AAF5-9B7E0D528D0B}" srcOrd="2" destOrd="0" parTransId="{93FF4EB6-6686-4B1B-AF32-3C9DF37636C0}" sibTransId="{7A0D0022-6B59-4A44-8D39-F99022E15343}"/>
    <dgm:cxn modelId="{88C9C17B-7551-4C18-A98A-588CBC2440EA}" type="presOf" srcId="{BFC7B221-5003-4E49-B92D-807CFCDF0253}" destId="{2CF9A725-1089-4AD6-A3A0-4A1B8A7F8026}" srcOrd="0" destOrd="0" presId="urn:microsoft.com/office/officeart/2005/8/layout/cycle2"/>
    <dgm:cxn modelId="{89E2C756-4914-4CBF-80F7-F194D3F5F6B0}" type="presOf" srcId="{DD6480A9-62E9-4511-90DF-C45B33AAE99C}" destId="{C9727F33-F1AE-478A-827D-89723E12A764}" srcOrd="0" destOrd="0" presId="urn:microsoft.com/office/officeart/2005/8/layout/cycle2"/>
    <dgm:cxn modelId="{10E71856-3E91-4DA5-87B7-9CE26EB520A7}" type="presOf" srcId="{45CBD124-52FE-4BDB-BB27-85407C27CFC7}" destId="{58E3FE06-E25C-4AA5-8490-6389373ABD37}" srcOrd="0" destOrd="0" presId="urn:microsoft.com/office/officeart/2005/8/layout/cycle2"/>
    <dgm:cxn modelId="{4B420CD1-2AD6-4C30-B94E-A22C5C8DD738}" type="presOf" srcId="{35CF1032-B948-41FB-B8EF-7768802FDCFB}" destId="{05DFFEF6-74F1-45AA-9506-31692A30059E}" srcOrd="0" destOrd="0" presId="urn:microsoft.com/office/officeart/2005/8/layout/cycle2"/>
    <dgm:cxn modelId="{BE9A1ED3-8073-43A3-830E-0CB4E158D341}" type="presOf" srcId="{35CF1032-B948-41FB-B8EF-7768802FDCFB}" destId="{8496A74D-C466-469F-B235-BFB34B6C66D1}" srcOrd="1" destOrd="0" presId="urn:microsoft.com/office/officeart/2005/8/layout/cycle2"/>
    <dgm:cxn modelId="{EA13D88F-427C-420D-BC01-1FE0CCD9C1FC}" type="presOf" srcId="{B9788A14-C25A-4EB7-A9EC-865B2F4895AD}" destId="{5B24FB6A-92C3-46CC-A297-27C8A83B873C}" srcOrd="0" destOrd="0" presId="urn:microsoft.com/office/officeart/2005/8/layout/cycle2"/>
    <dgm:cxn modelId="{AC409BA2-F73F-4D4F-A562-60B68C22CCEC}" type="presOf" srcId="{BBE33F4C-A0E3-4F10-88AA-93093B9FBD93}" destId="{9BD6D4AB-2328-4B1A-97C3-72EE962A63C3}" srcOrd="0" destOrd="0" presId="urn:microsoft.com/office/officeart/2005/8/layout/cycle2"/>
    <dgm:cxn modelId="{DA8BD7DF-EBEE-4B96-AA67-6C32F5935954}" type="presOf" srcId="{04FA9523-5C40-4071-95C0-ECE4C5C76160}" destId="{74277499-D7D3-420A-80C9-DCCD78DA40D5}" srcOrd="1" destOrd="0" presId="urn:microsoft.com/office/officeart/2005/8/layout/cycle2"/>
    <dgm:cxn modelId="{97112B5D-023E-4BBE-9563-75C2E9F8A357}" type="presOf" srcId="{A625407D-8CE3-4DFC-A6CC-64508EB0D951}" destId="{7862E7BF-6306-4500-9C40-4D6F074FBE5F}" srcOrd="0" destOrd="0" presId="urn:microsoft.com/office/officeart/2005/8/layout/cycle2"/>
    <dgm:cxn modelId="{0FA43AD4-991B-4B45-8C9F-961E62F91958}" type="presOf" srcId="{7A0D0022-6B59-4A44-8D39-F99022E15343}" destId="{7246C81A-BF9C-4D94-BB78-7B46F1B76D3D}" srcOrd="0" destOrd="0" presId="urn:microsoft.com/office/officeart/2005/8/layout/cycle2"/>
    <dgm:cxn modelId="{60CF1F4B-9B0A-4567-ADA3-5B045367D9DB}" type="presOf" srcId="{C3FCBA1A-D648-4607-AC25-B5A44EAE9A62}" destId="{CE2973A4-5045-4DC6-9B91-B06E00330549}" srcOrd="0" destOrd="0" presId="urn:microsoft.com/office/officeart/2005/8/layout/cycle2"/>
    <dgm:cxn modelId="{FD186D46-F57B-4399-84FF-BFC55E1A3D8C}" type="presOf" srcId="{5726AB7A-84DF-43A3-AAF5-9B7E0D528D0B}" destId="{0146CA55-FF4D-42CA-A545-0C478C9AA6A7}" srcOrd="0" destOrd="0" presId="urn:microsoft.com/office/officeart/2005/8/layout/cycle2"/>
    <dgm:cxn modelId="{EC35A8F0-A33D-447F-8C17-D36A915F47F5}" type="presOf" srcId="{7A0D0022-6B59-4A44-8D39-F99022E15343}" destId="{88510CB6-779E-4B64-B7E9-84DD4E2EE69D}" srcOrd="1" destOrd="0" presId="urn:microsoft.com/office/officeart/2005/8/layout/cycle2"/>
    <dgm:cxn modelId="{710F327D-F496-4062-81E0-2DCC120EE884}" type="presOf" srcId="{C3FCBA1A-D648-4607-AC25-B5A44EAE9A62}" destId="{7C7D7BED-90C2-40D8-B6A9-82A42E9A3A51}" srcOrd="1" destOrd="0" presId="urn:microsoft.com/office/officeart/2005/8/layout/cycle2"/>
    <dgm:cxn modelId="{033C7F61-7B15-4FF7-9FC4-70B638E24F04}" type="presParOf" srcId="{C9727F33-F1AE-478A-827D-89723E12A764}" destId="{7862E7BF-6306-4500-9C40-4D6F074FBE5F}" srcOrd="0" destOrd="0" presId="urn:microsoft.com/office/officeart/2005/8/layout/cycle2"/>
    <dgm:cxn modelId="{EEFA1E14-24A0-4987-8917-7CFAF41C5577}" type="presParOf" srcId="{C9727F33-F1AE-478A-827D-89723E12A764}" destId="{5B24FB6A-92C3-46CC-A297-27C8A83B873C}" srcOrd="1" destOrd="0" presId="urn:microsoft.com/office/officeart/2005/8/layout/cycle2"/>
    <dgm:cxn modelId="{313AE65E-14E6-4B53-83C7-309E99CD7626}" type="presParOf" srcId="{5B24FB6A-92C3-46CC-A297-27C8A83B873C}" destId="{778D97F7-666A-4C39-BC48-1B02666A1A43}" srcOrd="0" destOrd="0" presId="urn:microsoft.com/office/officeart/2005/8/layout/cycle2"/>
    <dgm:cxn modelId="{D97E45A4-7DE0-4A71-A473-31366EB6CABA}" type="presParOf" srcId="{C9727F33-F1AE-478A-827D-89723E12A764}" destId="{58E3FE06-E25C-4AA5-8490-6389373ABD37}" srcOrd="2" destOrd="0" presId="urn:microsoft.com/office/officeart/2005/8/layout/cycle2"/>
    <dgm:cxn modelId="{427002DC-BEC2-4C23-BCFD-B5FA5A61545B}" type="presParOf" srcId="{C9727F33-F1AE-478A-827D-89723E12A764}" destId="{CE2973A4-5045-4DC6-9B91-B06E00330549}" srcOrd="3" destOrd="0" presId="urn:microsoft.com/office/officeart/2005/8/layout/cycle2"/>
    <dgm:cxn modelId="{87DC5CA5-C35D-4BB5-8CCA-26D8DAE895ED}" type="presParOf" srcId="{CE2973A4-5045-4DC6-9B91-B06E00330549}" destId="{7C7D7BED-90C2-40D8-B6A9-82A42E9A3A51}" srcOrd="0" destOrd="0" presId="urn:microsoft.com/office/officeart/2005/8/layout/cycle2"/>
    <dgm:cxn modelId="{D07E65EB-D62E-47A6-8610-B69D187EE7ED}" type="presParOf" srcId="{C9727F33-F1AE-478A-827D-89723E12A764}" destId="{0146CA55-FF4D-42CA-A545-0C478C9AA6A7}" srcOrd="4" destOrd="0" presId="urn:microsoft.com/office/officeart/2005/8/layout/cycle2"/>
    <dgm:cxn modelId="{7FB982B0-19AE-4BB3-BA71-54365323F81E}" type="presParOf" srcId="{C9727F33-F1AE-478A-827D-89723E12A764}" destId="{7246C81A-BF9C-4D94-BB78-7B46F1B76D3D}" srcOrd="5" destOrd="0" presId="urn:microsoft.com/office/officeart/2005/8/layout/cycle2"/>
    <dgm:cxn modelId="{6A35E6B2-61E6-4697-B5AF-5BAECCDD5E77}" type="presParOf" srcId="{7246C81A-BF9C-4D94-BB78-7B46F1B76D3D}" destId="{88510CB6-779E-4B64-B7E9-84DD4E2EE69D}" srcOrd="0" destOrd="0" presId="urn:microsoft.com/office/officeart/2005/8/layout/cycle2"/>
    <dgm:cxn modelId="{DE218529-B533-4AA8-AED8-B37BC9C352C5}" type="presParOf" srcId="{C9727F33-F1AE-478A-827D-89723E12A764}" destId="{2CF9A725-1089-4AD6-A3A0-4A1B8A7F8026}" srcOrd="6" destOrd="0" presId="urn:microsoft.com/office/officeart/2005/8/layout/cycle2"/>
    <dgm:cxn modelId="{29BF98EA-D7C7-4701-A278-7BDF07641ABF}" type="presParOf" srcId="{C9727F33-F1AE-478A-827D-89723E12A764}" destId="{05DFFEF6-74F1-45AA-9506-31692A30059E}" srcOrd="7" destOrd="0" presId="urn:microsoft.com/office/officeart/2005/8/layout/cycle2"/>
    <dgm:cxn modelId="{611B1246-61DE-433C-9162-0D08949DAF0D}" type="presParOf" srcId="{05DFFEF6-74F1-45AA-9506-31692A30059E}" destId="{8496A74D-C466-469F-B235-BFB34B6C66D1}" srcOrd="0" destOrd="0" presId="urn:microsoft.com/office/officeart/2005/8/layout/cycle2"/>
    <dgm:cxn modelId="{6FCE423E-2996-4CA0-A5B2-1643678071E8}" type="presParOf" srcId="{C9727F33-F1AE-478A-827D-89723E12A764}" destId="{9BD6D4AB-2328-4B1A-97C3-72EE962A63C3}" srcOrd="8" destOrd="0" presId="urn:microsoft.com/office/officeart/2005/8/layout/cycle2"/>
    <dgm:cxn modelId="{08A891F9-EE8E-4534-9716-C4DD70B872E8}" type="presParOf" srcId="{C9727F33-F1AE-478A-827D-89723E12A764}" destId="{51C2DCEF-34E0-46A2-A936-CAF91755EACD}" srcOrd="9" destOrd="0" presId="urn:microsoft.com/office/officeart/2005/8/layout/cycle2"/>
    <dgm:cxn modelId="{1C82D5DF-2050-4DA2-BB8A-98C6FB1E4572}" type="presParOf" srcId="{51C2DCEF-34E0-46A2-A936-CAF91755EACD}" destId="{74277499-D7D3-420A-80C9-DCCD78DA40D5}"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F8F21D-DA34-4F70-B4C5-F3E33EDF95E9}" type="doc">
      <dgm:prSet loTypeId="urn:microsoft.com/office/officeart/2005/8/layout/target3" loCatId="relationship" qsTypeId="urn:microsoft.com/office/officeart/2005/8/quickstyle/simple1" qsCatId="simple" csTypeId="urn:microsoft.com/office/officeart/2005/8/colors/accent1_4" csCatId="accent1" phldr="1"/>
      <dgm:spPr/>
      <dgm:t>
        <a:bodyPr/>
        <a:lstStyle/>
        <a:p>
          <a:endParaRPr lang="es-AR"/>
        </a:p>
      </dgm:t>
    </dgm:pt>
    <dgm:pt modelId="{E07123A6-826C-43FA-9A76-2657E3467069}">
      <dgm:prSet phldrT="[Texto]"/>
      <dgm:spPr/>
      <dgm:t>
        <a:bodyPr/>
        <a:lstStyle/>
        <a:p>
          <a:r>
            <a:rPr lang="es-AR" dirty="0" smtClean="0"/>
            <a:t>Inversiones</a:t>
          </a:r>
          <a:endParaRPr lang="es-AR" dirty="0"/>
        </a:p>
      </dgm:t>
    </dgm:pt>
    <dgm:pt modelId="{5B44B1B6-1EC3-4BEC-BF8D-1B82B496FA87}" type="parTrans" cxnId="{D97C768D-B139-4745-B620-D2D513F26161}">
      <dgm:prSet/>
      <dgm:spPr/>
      <dgm:t>
        <a:bodyPr/>
        <a:lstStyle/>
        <a:p>
          <a:endParaRPr lang="es-AR"/>
        </a:p>
      </dgm:t>
    </dgm:pt>
    <dgm:pt modelId="{BBF1D25C-B087-437D-B0C8-F1FFA7B98775}" type="sibTrans" cxnId="{D97C768D-B139-4745-B620-D2D513F26161}">
      <dgm:prSet/>
      <dgm:spPr/>
      <dgm:t>
        <a:bodyPr/>
        <a:lstStyle/>
        <a:p>
          <a:endParaRPr lang="es-AR"/>
        </a:p>
      </dgm:t>
    </dgm:pt>
    <dgm:pt modelId="{D62AFEDC-9985-49CD-ACD5-66DE828701FC}">
      <dgm:prSet phldrT="[Texto]"/>
      <dgm:spPr/>
      <dgm:t>
        <a:bodyPr/>
        <a:lstStyle/>
        <a:p>
          <a:r>
            <a:rPr lang="es-AR" dirty="0" smtClean="0"/>
            <a:t>Nº de locales, mobiliario, equipamiento, letreros.</a:t>
          </a:r>
          <a:endParaRPr lang="es-AR" dirty="0"/>
        </a:p>
      </dgm:t>
    </dgm:pt>
    <dgm:pt modelId="{EEECFC88-F125-4F00-98B6-D3C25F7C97C4}" type="parTrans" cxnId="{DCDC5260-4728-4A3C-9B4F-83A24CE65A43}">
      <dgm:prSet/>
      <dgm:spPr/>
      <dgm:t>
        <a:bodyPr/>
        <a:lstStyle/>
        <a:p>
          <a:endParaRPr lang="es-AR"/>
        </a:p>
      </dgm:t>
    </dgm:pt>
    <dgm:pt modelId="{807E1DEA-CA54-4CA5-A8F1-44EFECD7EE98}" type="sibTrans" cxnId="{DCDC5260-4728-4A3C-9B4F-83A24CE65A43}">
      <dgm:prSet/>
      <dgm:spPr/>
      <dgm:t>
        <a:bodyPr/>
        <a:lstStyle/>
        <a:p>
          <a:endParaRPr lang="es-AR"/>
        </a:p>
      </dgm:t>
    </dgm:pt>
    <dgm:pt modelId="{951D9F3D-C6CC-4C33-8B9D-D29EAED5A229}">
      <dgm:prSet phldrT="[Texto]"/>
      <dgm:spPr/>
      <dgm:t>
        <a:bodyPr/>
        <a:lstStyle/>
        <a:p>
          <a:r>
            <a:rPr lang="es-AR" dirty="0" smtClean="0"/>
            <a:t>Insumos, materias primas, mercaderías.</a:t>
          </a:r>
          <a:endParaRPr lang="es-AR" dirty="0"/>
        </a:p>
      </dgm:t>
    </dgm:pt>
    <dgm:pt modelId="{A7D48E8D-7BB8-4B14-8A60-9BD10A1CF94E}" type="parTrans" cxnId="{568EDBFA-ABBA-4B81-9DD8-9B043B80965F}">
      <dgm:prSet/>
      <dgm:spPr/>
      <dgm:t>
        <a:bodyPr/>
        <a:lstStyle/>
        <a:p>
          <a:endParaRPr lang="es-AR"/>
        </a:p>
      </dgm:t>
    </dgm:pt>
    <dgm:pt modelId="{890400B9-3F92-4572-8DEB-7543DEA69D52}" type="sibTrans" cxnId="{568EDBFA-ABBA-4B81-9DD8-9B043B80965F}">
      <dgm:prSet/>
      <dgm:spPr/>
      <dgm:t>
        <a:bodyPr/>
        <a:lstStyle/>
        <a:p>
          <a:endParaRPr lang="es-AR"/>
        </a:p>
      </dgm:t>
    </dgm:pt>
    <dgm:pt modelId="{592CDB19-0308-40E2-8C26-3B3005AE2335}">
      <dgm:prSet phldrT="[Texto]"/>
      <dgm:spPr/>
      <dgm:t>
        <a:bodyPr/>
        <a:lstStyle/>
        <a:p>
          <a:r>
            <a:rPr lang="es-AR" dirty="0" smtClean="0"/>
            <a:t>Flujo de caja</a:t>
          </a:r>
          <a:endParaRPr lang="es-AR" dirty="0"/>
        </a:p>
      </dgm:t>
    </dgm:pt>
    <dgm:pt modelId="{D73C8F6A-0DF3-47CD-A7B3-EE4196F93175}" type="parTrans" cxnId="{85B6A7D4-5BEA-4B74-924F-3CAF5917E715}">
      <dgm:prSet/>
      <dgm:spPr/>
      <dgm:t>
        <a:bodyPr/>
        <a:lstStyle/>
        <a:p>
          <a:endParaRPr lang="es-AR"/>
        </a:p>
      </dgm:t>
    </dgm:pt>
    <dgm:pt modelId="{5AD62E4E-5C06-4BF4-9D0F-C9BABF749A56}" type="sibTrans" cxnId="{85B6A7D4-5BEA-4B74-924F-3CAF5917E715}">
      <dgm:prSet/>
      <dgm:spPr/>
      <dgm:t>
        <a:bodyPr/>
        <a:lstStyle/>
        <a:p>
          <a:endParaRPr lang="es-AR"/>
        </a:p>
      </dgm:t>
    </dgm:pt>
    <dgm:pt modelId="{5D5A4433-4D28-4D07-8FD6-49E65966B57E}">
      <dgm:prSet phldrT="[Texto]"/>
      <dgm:spPr/>
      <dgm:t>
        <a:bodyPr/>
        <a:lstStyle/>
        <a:p>
          <a:r>
            <a:rPr lang="es-AR" dirty="0" smtClean="0"/>
            <a:t>Cuantificación de costos operativos.</a:t>
          </a:r>
          <a:endParaRPr lang="es-AR" dirty="0"/>
        </a:p>
      </dgm:t>
    </dgm:pt>
    <dgm:pt modelId="{61A45141-518B-4720-A329-E431B1FEE10C}" type="parTrans" cxnId="{7433F401-A3C7-47FC-B683-41000CF5D53D}">
      <dgm:prSet/>
      <dgm:spPr/>
      <dgm:t>
        <a:bodyPr/>
        <a:lstStyle/>
        <a:p>
          <a:endParaRPr lang="es-AR"/>
        </a:p>
      </dgm:t>
    </dgm:pt>
    <dgm:pt modelId="{904AC563-0825-43A3-A0D3-23C2FAB9B6D0}" type="sibTrans" cxnId="{7433F401-A3C7-47FC-B683-41000CF5D53D}">
      <dgm:prSet/>
      <dgm:spPr/>
      <dgm:t>
        <a:bodyPr/>
        <a:lstStyle/>
        <a:p>
          <a:endParaRPr lang="es-AR"/>
        </a:p>
      </dgm:t>
    </dgm:pt>
    <dgm:pt modelId="{144036B0-9464-43AC-9788-5801D8EB9110}">
      <dgm:prSet phldrT="[Texto]"/>
      <dgm:spPr/>
      <dgm:t>
        <a:bodyPr/>
        <a:lstStyle/>
        <a:p>
          <a:r>
            <a:rPr lang="es-AR" dirty="0" smtClean="0"/>
            <a:t>Cuantificación de ingresos por ventas.</a:t>
          </a:r>
          <a:endParaRPr lang="es-AR" dirty="0"/>
        </a:p>
      </dgm:t>
    </dgm:pt>
    <dgm:pt modelId="{15B072B8-7998-446F-93F7-FD8A5D5247CF}" type="parTrans" cxnId="{407F6129-24E4-45BA-9172-B916135F3216}">
      <dgm:prSet/>
      <dgm:spPr/>
      <dgm:t>
        <a:bodyPr/>
        <a:lstStyle/>
        <a:p>
          <a:endParaRPr lang="es-AR"/>
        </a:p>
      </dgm:t>
    </dgm:pt>
    <dgm:pt modelId="{5C8BBC5A-451D-4143-8956-89F96EF2171C}" type="sibTrans" cxnId="{407F6129-24E4-45BA-9172-B916135F3216}">
      <dgm:prSet/>
      <dgm:spPr/>
      <dgm:t>
        <a:bodyPr/>
        <a:lstStyle/>
        <a:p>
          <a:endParaRPr lang="es-AR"/>
        </a:p>
      </dgm:t>
    </dgm:pt>
    <dgm:pt modelId="{8D375AAF-6350-402D-A30C-4AE25F7238EA}">
      <dgm:prSet phldrT="[Texto]"/>
      <dgm:spPr/>
      <dgm:t>
        <a:bodyPr/>
        <a:lstStyle/>
        <a:p>
          <a:r>
            <a:rPr lang="es-AR" dirty="0" smtClean="0"/>
            <a:t>Criterios de rentabilidad</a:t>
          </a:r>
          <a:endParaRPr lang="es-AR" dirty="0"/>
        </a:p>
      </dgm:t>
    </dgm:pt>
    <dgm:pt modelId="{3658B9BD-0803-4EE8-A734-CE274DAC6B58}" type="parTrans" cxnId="{7B6D9A07-7D84-4EC7-8A06-7474E20021F9}">
      <dgm:prSet/>
      <dgm:spPr/>
      <dgm:t>
        <a:bodyPr/>
        <a:lstStyle/>
        <a:p>
          <a:endParaRPr lang="es-AR"/>
        </a:p>
      </dgm:t>
    </dgm:pt>
    <dgm:pt modelId="{1E57EB0E-0421-4EE2-9A3F-183468A994CC}" type="sibTrans" cxnId="{7B6D9A07-7D84-4EC7-8A06-7474E20021F9}">
      <dgm:prSet/>
      <dgm:spPr/>
      <dgm:t>
        <a:bodyPr/>
        <a:lstStyle/>
        <a:p>
          <a:endParaRPr lang="es-AR"/>
        </a:p>
      </dgm:t>
    </dgm:pt>
    <dgm:pt modelId="{F49E1DE9-2BEA-4DC8-AD70-0AA1DA9C7ECF}">
      <dgm:prSet phldrT="[Texto]"/>
      <dgm:spPr/>
      <dgm:t>
        <a:bodyPr/>
        <a:lstStyle/>
        <a:p>
          <a:r>
            <a:rPr lang="es-AR" dirty="0" smtClean="0"/>
            <a:t>Cálculo de beneficios por diferentes criterios:</a:t>
          </a:r>
          <a:endParaRPr lang="es-AR" dirty="0"/>
        </a:p>
      </dgm:t>
    </dgm:pt>
    <dgm:pt modelId="{4D4B856B-2AD0-4C70-9A91-E868E9F6FECA}" type="parTrans" cxnId="{1D8D6798-B3DE-462F-8CF5-FF20EDBDCE40}">
      <dgm:prSet/>
      <dgm:spPr/>
      <dgm:t>
        <a:bodyPr/>
        <a:lstStyle/>
        <a:p>
          <a:endParaRPr lang="es-AR"/>
        </a:p>
      </dgm:t>
    </dgm:pt>
    <dgm:pt modelId="{60B37756-17D1-46DE-A4CF-6991F18EBEDF}" type="sibTrans" cxnId="{1D8D6798-B3DE-462F-8CF5-FF20EDBDCE40}">
      <dgm:prSet/>
      <dgm:spPr/>
      <dgm:t>
        <a:bodyPr/>
        <a:lstStyle/>
        <a:p>
          <a:endParaRPr lang="es-AR"/>
        </a:p>
      </dgm:t>
    </dgm:pt>
    <dgm:pt modelId="{9411B1EF-674F-4CA2-BB8D-0F82EBAE58E3}">
      <dgm:prSet phldrT="[Texto]"/>
      <dgm:spPr/>
      <dgm:t>
        <a:bodyPr/>
        <a:lstStyle/>
        <a:p>
          <a:r>
            <a:rPr lang="es-AR" dirty="0" smtClean="0"/>
            <a:t>VAN, TIR; B/C</a:t>
          </a:r>
          <a:endParaRPr lang="es-AR" dirty="0"/>
        </a:p>
      </dgm:t>
    </dgm:pt>
    <dgm:pt modelId="{8E71CC18-A135-4BCE-9290-134535D4243F}" type="parTrans" cxnId="{60DABF4E-25F9-4BEF-947C-D51E146639AF}">
      <dgm:prSet/>
      <dgm:spPr/>
      <dgm:t>
        <a:bodyPr/>
        <a:lstStyle/>
        <a:p>
          <a:endParaRPr lang="es-AR"/>
        </a:p>
      </dgm:t>
    </dgm:pt>
    <dgm:pt modelId="{B26FC939-1122-43B9-9766-9347BA6A377C}" type="sibTrans" cxnId="{60DABF4E-25F9-4BEF-947C-D51E146639AF}">
      <dgm:prSet/>
      <dgm:spPr/>
      <dgm:t>
        <a:bodyPr/>
        <a:lstStyle/>
        <a:p>
          <a:endParaRPr lang="es-AR"/>
        </a:p>
      </dgm:t>
    </dgm:pt>
    <dgm:pt modelId="{ED2BB90D-5AFA-4010-A9E8-73BDD2792E4C}" type="pres">
      <dgm:prSet presAssocID="{5AF8F21D-DA34-4F70-B4C5-F3E33EDF95E9}" presName="Name0" presStyleCnt="0">
        <dgm:presLayoutVars>
          <dgm:chMax val="7"/>
          <dgm:dir/>
          <dgm:animLvl val="lvl"/>
          <dgm:resizeHandles val="exact"/>
        </dgm:presLayoutVars>
      </dgm:prSet>
      <dgm:spPr/>
      <dgm:t>
        <a:bodyPr/>
        <a:lstStyle/>
        <a:p>
          <a:endParaRPr lang="es-ES"/>
        </a:p>
      </dgm:t>
    </dgm:pt>
    <dgm:pt modelId="{3EEF8F30-30C5-4A3F-B703-D1D5D761F272}" type="pres">
      <dgm:prSet presAssocID="{E07123A6-826C-43FA-9A76-2657E3467069}" presName="circle1" presStyleLbl="node1" presStyleIdx="0" presStyleCnt="3"/>
      <dgm:spPr/>
    </dgm:pt>
    <dgm:pt modelId="{12A04991-7803-4848-9DA6-E0FD2CF0AC90}" type="pres">
      <dgm:prSet presAssocID="{E07123A6-826C-43FA-9A76-2657E3467069}" presName="space" presStyleCnt="0"/>
      <dgm:spPr/>
    </dgm:pt>
    <dgm:pt modelId="{07F227C8-384D-4DCA-B9E2-94197847ADE8}" type="pres">
      <dgm:prSet presAssocID="{E07123A6-826C-43FA-9A76-2657E3467069}" presName="rect1" presStyleLbl="alignAcc1" presStyleIdx="0" presStyleCnt="3"/>
      <dgm:spPr/>
      <dgm:t>
        <a:bodyPr/>
        <a:lstStyle/>
        <a:p>
          <a:endParaRPr lang="es-ES"/>
        </a:p>
      </dgm:t>
    </dgm:pt>
    <dgm:pt modelId="{AEEA6693-AC9F-4A40-A927-D35316283159}" type="pres">
      <dgm:prSet presAssocID="{592CDB19-0308-40E2-8C26-3B3005AE2335}" presName="vertSpace2" presStyleLbl="node1" presStyleIdx="0" presStyleCnt="3"/>
      <dgm:spPr/>
    </dgm:pt>
    <dgm:pt modelId="{3C547F25-AE2C-414E-9547-DAEA1E4FEF9A}" type="pres">
      <dgm:prSet presAssocID="{592CDB19-0308-40E2-8C26-3B3005AE2335}" presName="circle2" presStyleLbl="node1" presStyleIdx="1" presStyleCnt="3"/>
      <dgm:spPr/>
    </dgm:pt>
    <dgm:pt modelId="{148F552C-391A-4D98-9D55-81A877FAAA3A}" type="pres">
      <dgm:prSet presAssocID="{592CDB19-0308-40E2-8C26-3B3005AE2335}" presName="rect2" presStyleLbl="alignAcc1" presStyleIdx="1" presStyleCnt="3"/>
      <dgm:spPr/>
      <dgm:t>
        <a:bodyPr/>
        <a:lstStyle/>
        <a:p>
          <a:endParaRPr lang="es-ES"/>
        </a:p>
      </dgm:t>
    </dgm:pt>
    <dgm:pt modelId="{7ABFE04F-596B-41CA-B66B-EB4349CF00D2}" type="pres">
      <dgm:prSet presAssocID="{8D375AAF-6350-402D-A30C-4AE25F7238EA}" presName="vertSpace3" presStyleLbl="node1" presStyleIdx="1" presStyleCnt="3"/>
      <dgm:spPr/>
    </dgm:pt>
    <dgm:pt modelId="{4793E39E-6F9D-4664-BEF0-690B946B3127}" type="pres">
      <dgm:prSet presAssocID="{8D375AAF-6350-402D-A30C-4AE25F7238EA}" presName="circle3" presStyleLbl="node1" presStyleIdx="2" presStyleCnt="3"/>
      <dgm:spPr/>
    </dgm:pt>
    <dgm:pt modelId="{6FB7A75D-BCE4-4B0E-AA81-58748428FDF2}" type="pres">
      <dgm:prSet presAssocID="{8D375AAF-6350-402D-A30C-4AE25F7238EA}" presName="rect3" presStyleLbl="alignAcc1" presStyleIdx="2" presStyleCnt="3"/>
      <dgm:spPr/>
      <dgm:t>
        <a:bodyPr/>
        <a:lstStyle/>
        <a:p>
          <a:endParaRPr lang="es-AR"/>
        </a:p>
      </dgm:t>
    </dgm:pt>
    <dgm:pt modelId="{3C672E00-F3F2-4E64-B4B9-7B97DC924A29}" type="pres">
      <dgm:prSet presAssocID="{E07123A6-826C-43FA-9A76-2657E3467069}" presName="rect1ParTx" presStyleLbl="alignAcc1" presStyleIdx="2" presStyleCnt="3">
        <dgm:presLayoutVars>
          <dgm:chMax val="1"/>
          <dgm:bulletEnabled val="1"/>
        </dgm:presLayoutVars>
      </dgm:prSet>
      <dgm:spPr/>
      <dgm:t>
        <a:bodyPr/>
        <a:lstStyle/>
        <a:p>
          <a:endParaRPr lang="es-ES"/>
        </a:p>
      </dgm:t>
    </dgm:pt>
    <dgm:pt modelId="{F6D5387B-36F5-4885-A6EB-1C19B7C0754E}" type="pres">
      <dgm:prSet presAssocID="{E07123A6-826C-43FA-9A76-2657E3467069}" presName="rect1ChTx" presStyleLbl="alignAcc1" presStyleIdx="2" presStyleCnt="3">
        <dgm:presLayoutVars>
          <dgm:bulletEnabled val="1"/>
        </dgm:presLayoutVars>
      </dgm:prSet>
      <dgm:spPr/>
      <dgm:t>
        <a:bodyPr/>
        <a:lstStyle/>
        <a:p>
          <a:endParaRPr lang="es-AR"/>
        </a:p>
      </dgm:t>
    </dgm:pt>
    <dgm:pt modelId="{47E18099-C665-42AE-8F34-526792574E3B}" type="pres">
      <dgm:prSet presAssocID="{592CDB19-0308-40E2-8C26-3B3005AE2335}" presName="rect2ParTx" presStyleLbl="alignAcc1" presStyleIdx="2" presStyleCnt="3">
        <dgm:presLayoutVars>
          <dgm:chMax val="1"/>
          <dgm:bulletEnabled val="1"/>
        </dgm:presLayoutVars>
      </dgm:prSet>
      <dgm:spPr/>
      <dgm:t>
        <a:bodyPr/>
        <a:lstStyle/>
        <a:p>
          <a:endParaRPr lang="es-ES"/>
        </a:p>
      </dgm:t>
    </dgm:pt>
    <dgm:pt modelId="{4E03067E-DB21-4F37-A1BB-31AE894306BA}" type="pres">
      <dgm:prSet presAssocID="{592CDB19-0308-40E2-8C26-3B3005AE2335}" presName="rect2ChTx" presStyleLbl="alignAcc1" presStyleIdx="2" presStyleCnt="3">
        <dgm:presLayoutVars>
          <dgm:bulletEnabled val="1"/>
        </dgm:presLayoutVars>
      </dgm:prSet>
      <dgm:spPr/>
      <dgm:t>
        <a:bodyPr/>
        <a:lstStyle/>
        <a:p>
          <a:endParaRPr lang="es-ES"/>
        </a:p>
      </dgm:t>
    </dgm:pt>
    <dgm:pt modelId="{149626F9-C795-4A98-AFD9-EF23F2D18227}" type="pres">
      <dgm:prSet presAssocID="{8D375AAF-6350-402D-A30C-4AE25F7238EA}" presName="rect3ParTx" presStyleLbl="alignAcc1" presStyleIdx="2" presStyleCnt="3">
        <dgm:presLayoutVars>
          <dgm:chMax val="1"/>
          <dgm:bulletEnabled val="1"/>
        </dgm:presLayoutVars>
      </dgm:prSet>
      <dgm:spPr/>
      <dgm:t>
        <a:bodyPr/>
        <a:lstStyle/>
        <a:p>
          <a:endParaRPr lang="es-AR"/>
        </a:p>
      </dgm:t>
    </dgm:pt>
    <dgm:pt modelId="{31F51019-77B5-45A8-8E11-0394F9FC9E72}" type="pres">
      <dgm:prSet presAssocID="{8D375AAF-6350-402D-A30C-4AE25F7238EA}" presName="rect3ChTx" presStyleLbl="alignAcc1" presStyleIdx="2" presStyleCnt="3">
        <dgm:presLayoutVars>
          <dgm:bulletEnabled val="1"/>
        </dgm:presLayoutVars>
      </dgm:prSet>
      <dgm:spPr/>
      <dgm:t>
        <a:bodyPr/>
        <a:lstStyle/>
        <a:p>
          <a:endParaRPr lang="es-ES"/>
        </a:p>
      </dgm:t>
    </dgm:pt>
  </dgm:ptLst>
  <dgm:cxnLst>
    <dgm:cxn modelId="{C3809D57-9546-4725-A052-623645189E65}" type="presOf" srcId="{8D375AAF-6350-402D-A30C-4AE25F7238EA}" destId="{149626F9-C795-4A98-AFD9-EF23F2D18227}" srcOrd="1" destOrd="0" presId="urn:microsoft.com/office/officeart/2005/8/layout/target3"/>
    <dgm:cxn modelId="{DCDC5260-4728-4A3C-9B4F-83A24CE65A43}" srcId="{E07123A6-826C-43FA-9A76-2657E3467069}" destId="{D62AFEDC-9985-49CD-ACD5-66DE828701FC}" srcOrd="0" destOrd="0" parTransId="{EEECFC88-F125-4F00-98B6-D3C25F7C97C4}" sibTransId="{807E1DEA-CA54-4CA5-A8F1-44EFECD7EE98}"/>
    <dgm:cxn modelId="{03CADD59-3103-40CE-B994-929EC8EBFD4E}" type="presOf" srcId="{144036B0-9464-43AC-9788-5801D8EB9110}" destId="{4E03067E-DB21-4F37-A1BB-31AE894306BA}" srcOrd="0" destOrd="1" presId="urn:microsoft.com/office/officeart/2005/8/layout/target3"/>
    <dgm:cxn modelId="{662E4EB8-BCD0-4E42-82AE-3BE609DD8409}" type="presOf" srcId="{E07123A6-826C-43FA-9A76-2657E3467069}" destId="{3C672E00-F3F2-4E64-B4B9-7B97DC924A29}" srcOrd="1" destOrd="0" presId="urn:microsoft.com/office/officeart/2005/8/layout/target3"/>
    <dgm:cxn modelId="{1D8D6798-B3DE-462F-8CF5-FF20EDBDCE40}" srcId="{8D375AAF-6350-402D-A30C-4AE25F7238EA}" destId="{F49E1DE9-2BEA-4DC8-AD70-0AA1DA9C7ECF}" srcOrd="0" destOrd="0" parTransId="{4D4B856B-2AD0-4C70-9A91-E868E9F6FECA}" sibTransId="{60B37756-17D1-46DE-A4CF-6991F18EBEDF}"/>
    <dgm:cxn modelId="{1D2FC2D5-801C-4FF8-911A-71333CFAF804}" type="presOf" srcId="{592CDB19-0308-40E2-8C26-3B3005AE2335}" destId="{148F552C-391A-4D98-9D55-81A877FAAA3A}" srcOrd="0" destOrd="0" presId="urn:microsoft.com/office/officeart/2005/8/layout/target3"/>
    <dgm:cxn modelId="{B0448D0B-33A2-47FE-A0E0-0A8B3803CC72}" type="presOf" srcId="{D62AFEDC-9985-49CD-ACD5-66DE828701FC}" destId="{F6D5387B-36F5-4885-A6EB-1C19B7C0754E}" srcOrd="0" destOrd="0" presId="urn:microsoft.com/office/officeart/2005/8/layout/target3"/>
    <dgm:cxn modelId="{BDFD0F0B-4FF7-4AB9-8809-DDD466DC36C9}" type="presOf" srcId="{5AF8F21D-DA34-4F70-B4C5-F3E33EDF95E9}" destId="{ED2BB90D-5AFA-4010-A9E8-73BDD2792E4C}" srcOrd="0" destOrd="0" presId="urn:microsoft.com/office/officeart/2005/8/layout/target3"/>
    <dgm:cxn modelId="{568EDBFA-ABBA-4B81-9DD8-9B043B80965F}" srcId="{E07123A6-826C-43FA-9A76-2657E3467069}" destId="{951D9F3D-C6CC-4C33-8B9D-D29EAED5A229}" srcOrd="1" destOrd="0" parTransId="{A7D48E8D-7BB8-4B14-8A60-9BD10A1CF94E}" sibTransId="{890400B9-3F92-4572-8DEB-7543DEA69D52}"/>
    <dgm:cxn modelId="{60DABF4E-25F9-4BEF-947C-D51E146639AF}" srcId="{8D375AAF-6350-402D-A30C-4AE25F7238EA}" destId="{9411B1EF-674F-4CA2-BB8D-0F82EBAE58E3}" srcOrd="1" destOrd="0" parTransId="{8E71CC18-A135-4BCE-9290-134535D4243F}" sibTransId="{B26FC939-1122-43B9-9766-9347BA6A377C}"/>
    <dgm:cxn modelId="{FA90DE75-34B6-4CE3-80D0-2A27BF6BC156}" type="presOf" srcId="{9411B1EF-674F-4CA2-BB8D-0F82EBAE58E3}" destId="{31F51019-77B5-45A8-8E11-0394F9FC9E72}" srcOrd="0" destOrd="1" presId="urn:microsoft.com/office/officeart/2005/8/layout/target3"/>
    <dgm:cxn modelId="{7B6D9A07-7D84-4EC7-8A06-7474E20021F9}" srcId="{5AF8F21D-DA34-4F70-B4C5-F3E33EDF95E9}" destId="{8D375AAF-6350-402D-A30C-4AE25F7238EA}" srcOrd="2" destOrd="0" parTransId="{3658B9BD-0803-4EE8-A734-CE274DAC6B58}" sibTransId="{1E57EB0E-0421-4EE2-9A3F-183468A994CC}"/>
    <dgm:cxn modelId="{85B6A7D4-5BEA-4B74-924F-3CAF5917E715}" srcId="{5AF8F21D-DA34-4F70-B4C5-F3E33EDF95E9}" destId="{592CDB19-0308-40E2-8C26-3B3005AE2335}" srcOrd="1" destOrd="0" parTransId="{D73C8F6A-0DF3-47CD-A7B3-EE4196F93175}" sibTransId="{5AD62E4E-5C06-4BF4-9D0F-C9BABF749A56}"/>
    <dgm:cxn modelId="{3E9D6C38-C1F5-4F29-BA83-567D426CB480}" type="presOf" srcId="{5D5A4433-4D28-4D07-8FD6-49E65966B57E}" destId="{4E03067E-DB21-4F37-A1BB-31AE894306BA}" srcOrd="0" destOrd="0" presId="urn:microsoft.com/office/officeart/2005/8/layout/target3"/>
    <dgm:cxn modelId="{B2725EED-514F-48CC-A5A8-759216E5C0BC}" type="presOf" srcId="{F49E1DE9-2BEA-4DC8-AD70-0AA1DA9C7ECF}" destId="{31F51019-77B5-45A8-8E11-0394F9FC9E72}" srcOrd="0" destOrd="0" presId="urn:microsoft.com/office/officeart/2005/8/layout/target3"/>
    <dgm:cxn modelId="{F8C2EC39-6383-4D2A-B7DC-A4758AA5743A}" type="presOf" srcId="{E07123A6-826C-43FA-9A76-2657E3467069}" destId="{07F227C8-384D-4DCA-B9E2-94197847ADE8}" srcOrd="0" destOrd="0" presId="urn:microsoft.com/office/officeart/2005/8/layout/target3"/>
    <dgm:cxn modelId="{7F6ABA82-9785-4EF4-8525-14EFB902E5B2}" type="presOf" srcId="{8D375AAF-6350-402D-A30C-4AE25F7238EA}" destId="{6FB7A75D-BCE4-4B0E-AA81-58748428FDF2}" srcOrd="0" destOrd="0" presId="urn:microsoft.com/office/officeart/2005/8/layout/target3"/>
    <dgm:cxn modelId="{7433F401-A3C7-47FC-B683-41000CF5D53D}" srcId="{592CDB19-0308-40E2-8C26-3B3005AE2335}" destId="{5D5A4433-4D28-4D07-8FD6-49E65966B57E}" srcOrd="0" destOrd="0" parTransId="{61A45141-518B-4720-A329-E431B1FEE10C}" sibTransId="{904AC563-0825-43A3-A0D3-23C2FAB9B6D0}"/>
    <dgm:cxn modelId="{7FD18FB7-9746-4242-9A1E-6FFFD94D98CC}" type="presOf" srcId="{592CDB19-0308-40E2-8C26-3B3005AE2335}" destId="{47E18099-C665-42AE-8F34-526792574E3B}" srcOrd="1" destOrd="0" presId="urn:microsoft.com/office/officeart/2005/8/layout/target3"/>
    <dgm:cxn modelId="{086E7158-0E49-4A80-8DCF-54AF74BBB089}" type="presOf" srcId="{951D9F3D-C6CC-4C33-8B9D-D29EAED5A229}" destId="{F6D5387B-36F5-4885-A6EB-1C19B7C0754E}" srcOrd="0" destOrd="1" presId="urn:microsoft.com/office/officeart/2005/8/layout/target3"/>
    <dgm:cxn modelId="{D97C768D-B139-4745-B620-D2D513F26161}" srcId="{5AF8F21D-DA34-4F70-B4C5-F3E33EDF95E9}" destId="{E07123A6-826C-43FA-9A76-2657E3467069}" srcOrd="0" destOrd="0" parTransId="{5B44B1B6-1EC3-4BEC-BF8D-1B82B496FA87}" sibTransId="{BBF1D25C-B087-437D-B0C8-F1FFA7B98775}"/>
    <dgm:cxn modelId="{407F6129-24E4-45BA-9172-B916135F3216}" srcId="{592CDB19-0308-40E2-8C26-3B3005AE2335}" destId="{144036B0-9464-43AC-9788-5801D8EB9110}" srcOrd="1" destOrd="0" parTransId="{15B072B8-7998-446F-93F7-FD8A5D5247CF}" sibTransId="{5C8BBC5A-451D-4143-8956-89F96EF2171C}"/>
    <dgm:cxn modelId="{B47B7558-7712-4F13-A19F-AFA33178777F}" type="presParOf" srcId="{ED2BB90D-5AFA-4010-A9E8-73BDD2792E4C}" destId="{3EEF8F30-30C5-4A3F-B703-D1D5D761F272}" srcOrd="0" destOrd="0" presId="urn:microsoft.com/office/officeart/2005/8/layout/target3"/>
    <dgm:cxn modelId="{54F9F8AF-C6B4-42D0-8E8A-1AE86282A044}" type="presParOf" srcId="{ED2BB90D-5AFA-4010-A9E8-73BDD2792E4C}" destId="{12A04991-7803-4848-9DA6-E0FD2CF0AC90}" srcOrd="1" destOrd="0" presId="urn:microsoft.com/office/officeart/2005/8/layout/target3"/>
    <dgm:cxn modelId="{28F8D14A-64BE-4A2A-819C-FAAD96548287}" type="presParOf" srcId="{ED2BB90D-5AFA-4010-A9E8-73BDD2792E4C}" destId="{07F227C8-384D-4DCA-B9E2-94197847ADE8}" srcOrd="2" destOrd="0" presId="urn:microsoft.com/office/officeart/2005/8/layout/target3"/>
    <dgm:cxn modelId="{8EB0BD31-D024-44E8-B6A9-C23177D3AE36}" type="presParOf" srcId="{ED2BB90D-5AFA-4010-A9E8-73BDD2792E4C}" destId="{AEEA6693-AC9F-4A40-A927-D35316283159}" srcOrd="3" destOrd="0" presId="urn:microsoft.com/office/officeart/2005/8/layout/target3"/>
    <dgm:cxn modelId="{F76FA202-13E7-4B17-AE5B-EA05DF3DF85B}" type="presParOf" srcId="{ED2BB90D-5AFA-4010-A9E8-73BDD2792E4C}" destId="{3C547F25-AE2C-414E-9547-DAEA1E4FEF9A}" srcOrd="4" destOrd="0" presId="urn:microsoft.com/office/officeart/2005/8/layout/target3"/>
    <dgm:cxn modelId="{C5306581-B553-4FDA-9229-3CF78B2F23B8}" type="presParOf" srcId="{ED2BB90D-5AFA-4010-A9E8-73BDD2792E4C}" destId="{148F552C-391A-4D98-9D55-81A877FAAA3A}" srcOrd="5" destOrd="0" presId="urn:microsoft.com/office/officeart/2005/8/layout/target3"/>
    <dgm:cxn modelId="{86FF30D8-7DCE-44B6-AEB3-141150119E9F}" type="presParOf" srcId="{ED2BB90D-5AFA-4010-A9E8-73BDD2792E4C}" destId="{7ABFE04F-596B-41CA-B66B-EB4349CF00D2}" srcOrd="6" destOrd="0" presId="urn:microsoft.com/office/officeart/2005/8/layout/target3"/>
    <dgm:cxn modelId="{B0D1D6E3-6692-49E2-9A74-AD5D9FB9F67B}" type="presParOf" srcId="{ED2BB90D-5AFA-4010-A9E8-73BDD2792E4C}" destId="{4793E39E-6F9D-4664-BEF0-690B946B3127}" srcOrd="7" destOrd="0" presId="urn:microsoft.com/office/officeart/2005/8/layout/target3"/>
    <dgm:cxn modelId="{C21E32F0-497B-492B-AECC-9790B8509B74}" type="presParOf" srcId="{ED2BB90D-5AFA-4010-A9E8-73BDD2792E4C}" destId="{6FB7A75D-BCE4-4B0E-AA81-58748428FDF2}" srcOrd="8" destOrd="0" presId="urn:microsoft.com/office/officeart/2005/8/layout/target3"/>
    <dgm:cxn modelId="{4EDDD6FF-7D56-44D0-80F5-A4B710517FDA}" type="presParOf" srcId="{ED2BB90D-5AFA-4010-A9E8-73BDD2792E4C}" destId="{3C672E00-F3F2-4E64-B4B9-7B97DC924A29}" srcOrd="9" destOrd="0" presId="urn:microsoft.com/office/officeart/2005/8/layout/target3"/>
    <dgm:cxn modelId="{9FEE0CCC-4D72-47CC-AEDC-3A1847EDE339}" type="presParOf" srcId="{ED2BB90D-5AFA-4010-A9E8-73BDD2792E4C}" destId="{F6D5387B-36F5-4885-A6EB-1C19B7C0754E}" srcOrd="10" destOrd="0" presId="urn:microsoft.com/office/officeart/2005/8/layout/target3"/>
    <dgm:cxn modelId="{64B71F0F-4307-4ABE-9B42-8150E7F8B3E7}" type="presParOf" srcId="{ED2BB90D-5AFA-4010-A9E8-73BDD2792E4C}" destId="{47E18099-C665-42AE-8F34-526792574E3B}" srcOrd="11" destOrd="0" presId="urn:microsoft.com/office/officeart/2005/8/layout/target3"/>
    <dgm:cxn modelId="{2C0F4593-FEE9-4D5B-BA2E-CD06A1628F55}" type="presParOf" srcId="{ED2BB90D-5AFA-4010-A9E8-73BDD2792E4C}" destId="{4E03067E-DB21-4F37-A1BB-31AE894306BA}" srcOrd="12" destOrd="0" presId="urn:microsoft.com/office/officeart/2005/8/layout/target3"/>
    <dgm:cxn modelId="{91E3CDAB-D2F1-447C-873A-F72FE2F41678}" type="presParOf" srcId="{ED2BB90D-5AFA-4010-A9E8-73BDD2792E4C}" destId="{149626F9-C795-4A98-AFD9-EF23F2D18227}" srcOrd="13" destOrd="0" presId="urn:microsoft.com/office/officeart/2005/8/layout/target3"/>
    <dgm:cxn modelId="{69661E91-1432-46BC-BA6D-2968573B055E}" type="presParOf" srcId="{ED2BB90D-5AFA-4010-A9E8-73BDD2792E4C}" destId="{31F51019-77B5-45A8-8E11-0394F9FC9E72}"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8E7C9FD-6B11-4605-89AD-081DDED2280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AR"/>
        </a:p>
      </dgm:t>
    </dgm:pt>
    <dgm:pt modelId="{5E473D7D-E8C6-4FCE-9532-08D69A65F17B}">
      <dgm:prSet phldrT="[Texto]"/>
      <dgm:spPr>
        <a:solidFill>
          <a:srgbClr val="7030A0"/>
        </a:solidFill>
      </dgm:spPr>
      <dgm:t>
        <a:bodyPr/>
        <a:lstStyle/>
        <a:p>
          <a:r>
            <a:rPr lang="es-AR" dirty="0" smtClean="0"/>
            <a:t>Análisis histórico del mercado:</a:t>
          </a:r>
          <a:endParaRPr lang="es-AR" dirty="0"/>
        </a:p>
      </dgm:t>
    </dgm:pt>
    <dgm:pt modelId="{8B6F5ADC-0610-40EF-82E9-C5741802CC6D}" type="parTrans" cxnId="{6795D13D-C300-4B4D-8766-0AA3C59D7BC0}">
      <dgm:prSet/>
      <dgm:spPr/>
      <dgm:t>
        <a:bodyPr/>
        <a:lstStyle/>
        <a:p>
          <a:endParaRPr lang="es-AR"/>
        </a:p>
      </dgm:t>
    </dgm:pt>
    <dgm:pt modelId="{7358BC58-39B6-446A-9E29-0152E9CA9DC2}" type="sibTrans" cxnId="{6795D13D-C300-4B4D-8766-0AA3C59D7BC0}">
      <dgm:prSet/>
      <dgm:spPr/>
      <dgm:t>
        <a:bodyPr/>
        <a:lstStyle/>
        <a:p>
          <a:endParaRPr lang="es-AR"/>
        </a:p>
      </dgm:t>
    </dgm:pt>
    <dgm:pt modelId="{975D97C3-0B0B-48C7-84A7-8757562212AC}">
      <dgm:prSet phldrT="[Texto]"/>
      <dgm:spPr/>
      <dgm:t>
        <a:bodyPr/>
        <a:lstStyle/>
        <a:p>
          <a:r>
            <a:rPr lang="es-AR" dirty="0" smtClean="0"/>
            <a:t>Análisis de la situación vigente:</a:t>
          </a:r>
          <a:endParaRPr lang="es-AR" dirty="0"/>
        </a:p>
      </dgm:t>
    </dgm:pt>
    <dgm:pt modelId="{7B5D7531-F06C-4227-B28E-C1BE24CD22F4}" type="parTrans" cxnId="{AB38C091-C96C-4F86-BD3C-A981EE87469C}">
      <dgm:prSet/>
      <dgm:spPr/>
      <dgm:t>
        <a:bodyPr/>
        <a:lstStyle/>
        <a:p>
          <a:endParaRPr lang="es-AR"/>
        </a:p>
      </dgm:t>
    </dgm:pt>
    <dgm:pt modelId="{DAD8D4BB-A949-4585-A43A-32738EFC8830}" type="sibTrans" cxnId="{AB38C091-C96C-4F86-BD3C-A981EE87469C}">
      <dgm:prSet/>
      <dgm:spPr/>
      <dgm:t>
        <a:bodyPr/>
        <a:lstStyle/>
        <a:p>
          <a:endParaRPr lang="es-AR"/>
        </a:p>
      </dgm:t>
    </dgm:pt>
    <dgm:pt modelId="{278C25B9-CEC1-4776-A251-541B6DF4679E}">
      <dgm:prSet phldrT="[Texto]"/>
      <dgm:spPr>
        <a:solidFill>
          <a:srgbClr val="40C610"/>
        </a:solidFill>
      </dgm:spPr>
      <dgm:t>
        <a:bodyPr/>
        <a:lstStyle/>
        <a:p>
          <a:r>
            <a:rPr lang="es-AR" dirty="0" smtClean="0"/>
            <a:t>Análisis de la situación proyectada:</a:t>
          </a:r>
          <a:endParaRPr lang="es-AR" dirty="0"/>
        </a:p>
      </dgm:t>
    </dgm:pt>
    <dgm:pt modelId="{5373550A-8814-4CC9-BB1A-FBF85B17B63F}" type="parTrans" cxnId="{FDB00EB6-C7C6-4C51-9E84-F32C1F34E5AE}">
      <dgm:prSet/>
      <dgm:spPr/>
      <dgm:t>
        <a:bodyPr/>
        <a:lstStyle/>
        <a:p>
          <a:endParaRPr lang="es-AR"/>
        </a:p>
      </dgm:t>
    </dgm:pt>
    <dgm:pt modelId="{975AF7D4-2518-4017-9FF7-6F1ACB0EA1B5}" type="sibTrans" cxnId="{FDB00EB6-C7C6-4C51-9E84-F32C1F34E5AE}">
      <dgm:prSet/>
      <dgm:spPr/>
      <dgm:t>
        <a:bodyPr/>
        <a:lstStyle/>
        <a:p>
          <a:endParaRPr lang="es-AR"/>
        </a:p>
      </dgm:t>
    </dgm:pt>
    <dgm:pt modelId="{F9C2A02A-20B6-4B1C-B1A9-390F19A31AA9}" type="pres">
      <dgm:prSet presAssocID="{58E7C9FD-6B11-4605-89AD-081DDED22805}" presName="linear" presStyleCnt="0">
        <dgm:presLayoutVars>
          <dgm:dir/>
          <dgm:animLvl val="lvl"/>
          <dgm:resizeHandles val="exact"/>
        </dgm:presLayoutVars>
      </dgm:prSet>
      <dgm:spPr/>
      <dgm:t>
        <a:bodyPr/>
        <a:lstStyle/>
        <a:p>
          <a:endParaRPr lang="es-ES"/>
        </a:p>
      </dgm:t>
    </dgm:pt>
    <dgm:pt modelId="{D2EB9FCA-7A6C-473C-B76F-EEDCFDBE1F48}" type="pres">
      <dgm:prSet presAssocID="{5E473D7D-E8C6-4FCE-9532-08D69A65F17B}" presName="parentLin" presStyleCnt="0"/>
      <dgm:spPr/>
    </dgm:pt>
    <dgm:pt modelId="{B0C67ACD-C2B5-4518-9DE8-A88ED7A93AEE}" type="pres">
      <dgm:prSet presAssocID="{5E473D7D-E8C6-4FCE-9532-08D69A65F17B}" presName="parentLeftMargin" presStyleLbl="node1" presStyleIdx="0" presStyleCnt="3"/>
      <dgm:spPr/>
      <dgm:t>
        <a:bodyPr/>
        <a:lstStyle/>
        <a:p>
          <a:endParaRPr lang="es-ES"/>
        </a:p>
      </dgm:t>
    </dgm:pt>
    <dgm:pt modelId="{B9F95820-F342-4C7A-B391-800A7D9F5D80}" type="pres">
      <dgm:prSet presAssocID="{5E473D7D-E8C6-4FCE-9532-08D69A65F17B}" presName="parentText" presStyleLbl="node1" presStyleIdx="0" presStyleCnt="3">
        <dgm:presLayoutVars>
          <dgm:chMax val="0"/>
          <dgm:bulletEnabled val="1"/>
        </dgm:presLayoutVars>
      </dgm:prSet>
      <dgm:spPr/>
      <dgm:t>
        <a:bodyPr/>
        <a:lstStyle/>
        <a:p>
          <a:endParaRPr lang="es-ES"/>
        </a:p>
      </dgm:t>
    </dgm:pt>
    <dgm:pt modelId="{5A25C010-9E6D-4159-905A-3BB0D6259AF9}" type="pres">
      <dgm:prSet presAssocID="{5E473D7D-E8C6-4FCE-9532-08D69A65F17B}" presName="negativeSpace" presStyleCnt="0"/>
      <dgm:spPr/>
    </dgm:pt>
    <dgm:pt modelId="{2172CABD-6967-431A-9BCE-B271A9565625}" type="pres">
      <dgm:prSet presAssocID="{5E473D7D-E8C6-4FCE-9532-08D69A65F17B}" presName="childText" presStyleLbl="conFgAcc1" presStyleIdx="0" presStyleCnt="3">
        <dgm:presLayoutVars>
          <dgm:bulletEnabled val="1"/>
        </dgm:presLayoutVars>
      </dgm:prSet>
      <dgm:spPr/>
    </dgm:pt>
    <dgm:pt modelId="{F86E9078-A68D-49BD-892D-F26FADF02530}" type="pres">
      <dgm:prSet presAssocID="{7358BC58-39B6-446A-9E29-0152E9CA9DC2}" presName="spaceBetweenRectangles" presStyleCnt="0"/>
      <dgm:spPr/>
    </dgm:pt>
    <dgm:pt modelId="{51E3D030-380E-49D2-A97D-8F2834D8626A}" type="pres">
      <dgm:prSet presAssocID="{975D97C3-0B0B-48C7-84A7-8757562212AC}" presName="parentLin" presStyleCnt="0"/>
      <dgm:spPr/>
    </dgm:pt>
    <dgm:pt modelId="{EFCA41AA-667D-47DB-9245-9A85A5DA2D10}" type="pres">
      <dgm:prSet presAssocID="{975D97C3-0B0B-48C7-84A7-8757562212AC}" presName="parentLeftMargin" presStyleLbl="node1" presStyleIdx="0" presStyleCnt="3"/>
      <dgm:spPr/>
      <dgm:t>
        <a:bodyPr/>
        <a:lstStyle/>
        <a:p>
          <a:endParaRPr lang="es-ES"/>
        </a:p>
      </dgm:t>
    </dgm:pt>
    <dgm:pt modelId="{45F9EA63-8A79-43DC-8384-19BB5209BD85}" type="pres">
      <dgm:prSet presAssocID="{975D97C3-0B0B-48C7-84A7-8757562212AC}" presName="parentText" presStyleLbl="node1" presStyleIdx="1" presStyleCnt="3">
        <dgm:presLayoutVars>
          <dgm:chMax val="0"/>
          <dgm:bulletEnabled val="1"/>
        </dgm:presLayoutVars>
      </dgm:prSet>
      <dgm:spPr/>
      <dgm:t>
        <a:bodyPr/>
        <a:lstStyle/>
        <a:p>
          <a:endParaRPr lang="es-AR"/>
        </a:p>
      </dgm:t>
    </dgm:pt>
    <dgm:pt modelId="{156181ED-3CDC-46D0-AF4C-1C5E64E172A7}" type="pres">
      <dgm:prSet presAssocID="{975D97C3-0B0B-48C7-84A7-8757562212AC}" presName="negativeSpace" presStyleCnt="0"/>
      <dgm:spPr/>
    </dgm:pt>
    <dgm:pt modelId="{FA3F1794-9362-49B4-8B63-9245131E0F04}" type="pres">
      <dgm:prSet presAssocID="{975D97C3-0B0B-48C7-84A7-8757562212AC}" presName="childText" presStyleLbl="conFgAcc1" presStyleIdx="1" presStyleCnt="3">
        <dgm:presLayoutVars>
          <dgm:bulletEnabled val="1"/>
        </dgm:presLayoutVars>
      </dgm:prSet>
      <dgm:spPr/>
    </dgm:pt>
    <dgm:pt modelId="{CE7D758B-D8CB-41AA-B61F-1DB19A63933E}" type="pres">
      <dgm:prSet presAssocID="{DAD8D4BB-A949-4585-A43A-32738EFC8830}" presName="spaceBetweenRectangles" presStyleCnt="0"/>
      <dgm:spPr/>
    </dgm:pt>
    <dgm:pt modelId="{53397A97-DEC8-4A91-92B7-F8145E1D43F9}" type="pres">
      <dgm:prSet presAssocID="{278C25B9-CEC1-4776-A251-541B6DF4679E}" presName="parentLin" presStyleCnt="0"/>
      <dgm:spPr/>
    </dgm:pt>
    <dgm:pt modelId="{94CB6358-D841-4D6E-88E6-98E4C78CF3A4}" type="pres">
      <dgm:prSet presAssocID="{278C25B9-CEC1-4776-A251-541B6DF4679E}" presName="parentLeftMargin" presStyleLbl="node1" presStyleIdx="1" presStyleCnt="3"/>
      <dgm:spPr/>
      <dgm:t>
        <a:bodyPr/>
        <a:lstStyle/>
        <a:p>
          <a:endParaRPr lang="es-ES"/>
        </a:p>
      </dgm:t>
    </dgm:pt>
    <dgm:pt modelId="{22277800-5462-4E3F-A007-4EF7B414B41A}" type="pres">
      <dgm:prSet presAssocID="{278C25B9-CEC1-4776-A251-541B6DF4679E}" presName="parentText" presStyleLbl="node1" presStyleIdx="2" presStyleCnt="3">
        <dgm:presLayoutVars>
          <dgm:chMax val="0"/>
          <dgm:bulletEnabled val="1"/>
        </dgm:presLayoutVars>
      </dgm:prSet>
      <dgm:spPr/>
      <dgm:t>
        <a:bodyPr/>
        <a:lstStyle/>
        <a:p>
          <a:endParaRPr lang="es-ES"/>
        </a:p>
      </dgm:t>
    </dgm:pt>
    <dgm:pt modelId="{65DC720A-F8C3-42BD-8459-7B9101428590}" type="pres">
      <dgm:prSet presAssocID="{278C25B9-CEC1-4776-A251-541B6DF4679E}" presName="negativeSpace" presStyleCnt="0"/>
      <dgm:spPr/>
    </dgm:pt>
    <dgm:pt modelId="{39088B22-26D5-4B81-8393-6A363A087EB8}" type="pres">
      <dgm:prSet presAssocID="{278C25B9-CEC1-4776-A251-541B6DF4679E}" presName="childText" presStyleLbl="conFgAcc1" presStyleIdx="2" presStyleCnt="3">
        <dgm:presLayoutVars>
          <dgm:bulletEnabled val="1"/>
        </dgm:presLayoutVars>
      </dgm:prSet>
      <dgm:spPr/>
    </dgm:pt>
  </dgm:ptLst>
  <dgm:cxnLst>
    <dgm:cxn modelId="{33ACA159-C53F-42CA-BEFA-F073AF374774}" type="presOf" srcId="{58E7C9FD-6B11-4605-89AD-081DDED22805}" destId="{F9C2A02A-20B6-4B1C-B1A9-390F19A31AA9}" srcOrd="0" destOrd="0" presId="urn:microsoft.com/office/officeart/2005/8/layout/list1"/>
    <dgm:cxn modelId="{2D3F8A88-A1EF-4397-ACBB-C99B6140A3C5}" type="presOf" srcId="{5E473D7D-E8C6-4FCE-9532-08D69A65F17B}" destId="{B9F95820-F342-4C7A-B391-800A7D9F5D80}" srcOrd="1" destOrd="0" presId="urn:microsoft.com/office/officeart/2005/8/layout/list1"/>
    <dgm:cxn modelId="{4414015C-E0F6-46E2-B987-4E68D5228B57}" type="presOf" srcId="{5E473D7D-E8C6-4FCE-9532-08D69A65F17B}" destId="{B0C67ACD-C2B5-4518-9DE8-A88ED7A93AEE}" srcOrd="0" destOrd="0" presId="urn:microsoft.com/office/officeart/2005/8/layout/list1"/>
    <dgm:cxn modelId="{6795D13D-C300-4B4D-8766-0AA3C59D7BC0}" srcId="{58E7C9FD-6B11-4605-89AD-081DDED22805}" destId="{5E473D7D-E8C6-4FCE-9532-08D69A65F17B}" srcOrd="0" destOrd="0" parTransId="{8B6F5ADC-0610-40EF-82E9-C5741802CC6D}" sibTransId="{7358BC58-39B6-446A-9E29-0152E9CA9DC2}"/>
    <dgm:cxn modelId="{4F7550D9-01CB-4B62-B1BE-F5EB457EC3E7}" type="presOf" srcId="{278C25B9-CEC1-4776-A251-541B6DF4679E}" destId="{22277800-5462-4E3F-A007-4EF7B414B41A}" srcOrd="1" destOrd="0" presId="urn:microsoft.com/office/officeart/2005/8/layout/list1"/>
    <dgm:cxn modelId="{CBDFA002-0A85-4D6B-8259-7F5C6FD257CD}" type="presOf" srcId="{975D97C3-0B0B-48C7-84A7-8757562212AC}" destId="{EFCA41AA-667D-47DB-9245-9A85A5DA2D10}" srcOrd="0" destOrd="0" presId="urn:microsoft.com/office/officeart/2005/8/layout/list1"/>
    <dgm:cxn modelId="{183DC94F-2A5C-43DD-AD9D-CA579CC709D6}" type="presOf" srcId="{278C25B9-CEC1-4776-A251-541B6DF4679E}" destId="{94CB6358-D841-4D6E-88E6-98E4C78CF3A4}" srcOrd="0" destOrd="0" presId="urn:microsoft.com/office/officeart/2005/8/layout/list1"/>
    <dgm:cxn modelId="{A587055B-952B-4A34-9677-5792019C2F2D}" type="presOf" srcId="{975D97C3-0B0B-48C7-84A7-8757562212AC}" destId="{45F9EA63-8A79-43DC-8384-19BB5209BD85}" srcOrd="1" destOrd="0" presId="urn:microsoft.com/office/officeart/2005/8/layout/list1"/>
    <dgm:cxn modelId="{AB38C091-C96C-4F86-BD3C-A981EE87469C}" srcId="{58E7C9FD-6B11-4605-89AD-081DDED22805}" destId="{975D97C3-0B0B-48C7-84A7-8757562212AC}" srcOrd="1" destOrd="0" parTransId="{7B5D7531-F06C-4227-B28E-C1BE24CD22F4}" sibTransId="{DAD8D4BB-A949-4585-A43A-32738EFC8830}"/>
    <dgm:cxn modelId="{FDB00EB6-C7C6-4C51-9E84-F32C1F34E5AE}" srcId="{58E7C9FD-6B11-4605-89AD-081DDED22805}" destId="{278C25B9-CEC1-4776-A251-541B6DF4679E}" srcOrd="2" destOrd="0" parTransId="{5373550A-8814-4CC9-BB1A-FBF85B17B63F}" sibTransId="{975AF7D4-2518-4017-9FF7-6F1ACB0EA1B5}"/>
    <dgm:cxn modelId="{82CA23DD-E4D3-4FC6-A040-24DCA1AC212A}" type="presParOf" srcId="{F9C2A02A-20B6-4B1C-B1A9-390F19A31AA9}" destId="{D2EB9FCA-7A6C-473C-B76F-EEDCFDBE1F48}" srcOrd="0" destOrd="0" presId="urn:microsoft.com/office/officeart/2005/8/layout/list1"/>
    <dgm:cxn modelId="{71655699-AE2A-419D-A15E-AD8F40675E8A}" type="presParOf" srcId="{D2EB9FCA-7A6C-473C-B76F-EEDCFDBE1F48}" destId="{B0C67ACD-C2B5-4518-9DE8-A88ED7A93AEE}" srcOrd="0" destOrd="0" presId="urn:microsoft.com/office/officeart/2005/8/layout/list1"/>
    <dgm:cxn modelId="{CB2BEA82-9E75-405F-96BE-2120C76D3D2C}" type="presParOf" srcId="{D2EB9FCA-7A6C-473C-B76F-EEDCFDBE1F48}" destId="{B9F95820-F342-4C7A-B391-800A7D9F5D80}" srcOrd="1" destOrd="0" presId="urn:microsoft.com/office/officeart/2005/8/layout/list1"/>
    <dgm:cxn modelId="{D48A224D-D4BD-4253-A3BD-F73E0A272CD2}" type="presParOf" srcId="{F9C2A02A-20B6-4B1C-B1A9-390F19A31AA9}" destId="{5A25C010-9E6D-4159-905A-3BB0D6259AF9}" srcOrd="1" destOrd="0" presId="urn:microsoft.com/office/officeart/2005/8/layout/list1"/>
    <dgm:cxn modelId="{DEAAA926-9B1B-4C3B-A826-BF5344490C7A}" type="presParOf" srcId="{F9C2A02A-20B6-4B1C-B1A9-390F19A31AA9}" destId="{2172CABD-6967-431A-9BCE-B271A9565625}" srcOrd="2" destOrd="0" presId="urn:microsoft.com/office/officeart/2005/8/layout/list1"/>
    <dgm:cxn modelId="{49761AD8-AF4C-407D-B4FD-F47EDAC6BCCC}" type="presParOf" srcId="{F9C2A02A-20B6-4B1C-B1A9-390F19A31AA9}" destId="{F86E9078-A68D-49BD-892D-F26FADF02530}" srcOrd="3" destOrd="0" presId="urn:microsoft.com/office/officeart/2005/8/layout/list1"/>
    <dgm:cxn modelId="{86555482-0D98-4DCD-B4EA-D9CD23C8FF58}" type="presParOf" srcId="{F9C2A02A-20B6-4B1C-B1A9-390F19A31AA9}" destId="{51E3D030-380E-49D2-A97D-8F2834D8626A}" srcOrd="4" destOrd="0" presId="urn:microsoft.com/office/officeart/2005/8/layout/list1"/>
    <dgm:cxn modelId="{09D99C88-B50A-420F-8B75-4D0A1C728574}" type="presParOf" srcId="{51E3D030-380E-49D2-A97D-8F2834D8626A}" destId="{EFCA41AA-667D-47DB-9245-9A85A5DA2D10}" srcOrd="0" destOrd="0" presId="urn:microsoft.com/office/officeart/2005/8/layout/list1"/>
    <dgm:cxn modelId="{2CE157A0-B58E-4610-8C4D-283C278983BB}" type="presParOf" srcId="{51E3D030-380E-49D2-A97D-8F2834D8626A}" destId="{45F9EA63-8A79-43DC-8384-19BB5209BD85}" srcOrd="1" destOrd="0" presId="urn:microsoft.com/office/officeart/2005/8/layout/list1"/>
    <dgm:cxn modelId="{A7DD9397-5EC5-4685-84BA-151E404B2976}" type="presParOf" srcId="{F9C2A02A-20B6-4B1C-B1A9-390F19A31AA9}" destId="{156181ED-3CDC-46D0-AF4C-1C5E64E172A7}" srcOrd="5" destOrd="0" presId="urn:microsoft.com/office/officeart/2005/8/layout/list1"/>
    <dgm:cxn modelId="{8059B9A1-04AD-40AA-AA80-E85F046C32EF}" type="presParOf" srcId="{F9C2A02A-20B6-4B1C-B1A9-390F19A31AA9}" destId="{FA3F1794-9362-49B4-8B63-9245131E0F04}" srcOrd="6" destOrd="0" presId="urn:microsoft.com/office/officeart/2005/8/layout/list1"/>
    <dgm:cxn modelId="{7242D83F-D8E6-458E-AD0C-8005F9448B28}" type="presParOf" srcId="{F9C2A02A-20B6-4B1C-B1A9-390F19A31AA9}" destId="{CE7D758B-D8CB-41AA-B61F-1DB19A63933E}" srcOrd="7" destOrd="0" presId="urn:microsoft.com/office/officeart/2005/8/layout/list1"/>
    <dgm:cxn modelId="{F84E7EE7-B436-43FD-BDED-74DDA2DE2D4C}" type="presParOf" srcId="{F9C2A02A-20B6-4B1C-B1A9-390F19A31AA9}" destId="{53397A97-DEC8-4A91-92B7-F8145E1D43F9}" srcOrd="8" destOrd="0" presId="urn:microsoft.com/office/officeart/2005/8/layout/list1"/>
    <dgm:cxn modelId="{000C7C1F-6D2F-4894-86C4-043D466F8F55}" type="presParOf" srcId="{53397A97-DEC8-4A91-92B7-F8145E1D43F9}" destId="{94CB6358-D841-4D6E-88E6-98E4C78CF3A4}" srcOrd="0" destOrd="0" presId="urn:microsoft.com/office/officeart/2005/8/layout/list1"/>
    <dgm:cxn modelId="{CD861662-3D46-41ED-BEA4-A04BC54CEECE}" type="presParOf" srcId="{53397A97-DEC8-4A91-92B7-F8145E1D43F9}" destId="{22277800-5462-4E3F-A007-4EF7B414B41A}" srcOrd="1" destOrd="0" presId="urn:microsoft.com/office/officeart/2005/8/layout/list1"/>
    <dgm:cxn modelId="{1BCAF7AD-7DAC-4D26-8251-65CE9D3964C4}" type="presParOf" srcId="{F9C2A02A-20B6-4B1C-B1A9-390F19A31AA9}" destId="{65DC720A-F8C3-42BD-8459-7B9101428590}" srcOrd="9" destOrd="0" presId="urn:microsoft.com/office/officeart/2005/8/layout/list1"/>
    <dgm:cxn modelId="{EB8F8BBC-5655-4EC8-9B01-0FF308B7281C}" type="presParOf" srcId="{F9C2A02A-20B6-4B1C-B1A9-390F19A31AA9}" destId="{39088B22-26D5-4B81-8393-6A363A087EB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64F275E-2D4D-42F6-ACF0-2E5D4AF9541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AR"/>
        </a:p>
      </dgm:t>
    </dgm:pt>
    <dgm:pt modelId="{12BB9577-14BA-4B3E-9A43-FE3666B7DB19}">
      <dgm:prSet phldrT="[Texto]"/>
      <dgm:spPr/>
      <dgm:t>
        <a:bodyPr/>
        <a:lstStyle/>
        <a:p>
          <a:r>
            <a:rPr lang="es-AR" dirty="0" smtClean="0"/>
            <a:t>Atomización de Mercado</a:t>
          </a:r>
          <a:endParaRPr lang="es-AR" dirty="0"/>
        </a:p>
      </dgm:t>
    </dgm:pt>
    <dgm:pt modelId="{E7493A10-6F81-465A-823D-84E9DE2FED1F}" type="parTrans" cxnId="{BDA70F21-CEF1-4855-B2E7-ACFA5512D489}">
      <dgm:prSet/>
      <dgm:spPr/>
      <dgm:t>
        <a:bodyPr/>
        <a:lstStyle/>
        <a:p>
          <a:endParaRPr lang="es-AR"/>
        </a:p>
      </dgm:t>
    </dgm:pt>
    <dgm:pt modelId="{397789DD-970B-49D5-9D12-96A2624A29CB}" type="sibTrans" cxnId="{BDA70F21-CEF1-4855-B2E7-ACFA5512D489}">
      <dgm:prSet/>
      <dgm:spPr/>
      <dgm:t>
        <a:bodyPr/>
        <a:lstStyle/>
        <a:p>
          <a:endParaRPr lang="es-AR"/>
        </a:p>
      </dgm:t>
    </dgm:pt>
    <dgm:pt modelId="{2D06C840-EF86-44BC-965E-275F9D15FF52}">
      <dgm:prSet phldrT="[Texto]"/>
      <dgm:spPr/>
      <dgm:t>
        <a:bodyPr/>
        <a:lstStyle/>
        <a:p>
          <a:r>
            <a:rPr lang="es-AR" dirty="0" smtClean="0"/>
            <a:t>Homogeneidad del Producto</a:t>
          </a:r>
          <a:endParaRPr lang="es-AR" dirty="0"/>
        </a:p>
      </dgm:t>
    </dgm:pt>
    <dgm:pt modelId="{52C2EC72-AC9D-4CD6-8312-57781AB1CBE4}" type="parTrans" cxnId="{81F43E91-6149-44BA-96E2-3982F28AEACA}">
      <dgm:prSet/>
      <dgm:spPr/>
      <dgm:t>
        <a:bodyPr/>
        <a:lstStyle/>
        <a:p>
          <a:endParaRPr lang="es-AR"/>
        </a:p>
      </dgm:t>
    </dgm:pt>
    <dgm:pt modelId="{4B3085A1-8CE8-486B-A307-5B6286A67928}" type="sibTrans" cxnId="{81F43E91-6149-44BA-96E2-3982F28AEACA}">
      <dgm:prSet/>
      <dgm:spPr/>
      <dgm:t>
        <a:bodyPr/>
        <a:lstStyle/>
        <a:p>
          <a:endParaRPr lang="es-AR"/>
        </a:p>
      </dgm:t>
    </dgm:pt>
    <dgm:pt modelId="{B613D9A1-7BE6-4E02-BC67-7E4529DC5342}">
      <dgm:prSet phldrT="[Texto]"/>
      <dgm:spPr/>
      <dgm:t>
        <a:bodyPr/>
        <a:lstStyle/>
        <a:p>
          <a:r>
            <a:rPr lang="es-AR" dirty="0" smtClean="0"/>
            <a:t>Libre acceso al mercado.</a:t>
          </a:r>
          <a:endParaRPr lang="es-AR" dirty="0"/>
        </a:p>
      </dgm:t>
    </dgm:pt>
    <dgm:pt modelId="{0B1DEC03-5D53-4654-A0E1-3F5A01112361}" type="parTrans" cxnId="{620424A3-28A4-4E8B-9BAE-006A02B7EB52}">
      <dgm:prSet/>
      <dgm:spPr/>
      <dgm:t>
        <a:bodyPr/>
        <a:lstStyle/>
        <a:p>
          <a:endParaRPr lang="es-AR"/>
        </a:p>
      </dgm:t>
    </dgm:pt>
    <dgm:pt modelId="{2232C5F9-AB32-4709-9559-351809794F75}" type="sibTrans" cxnId="{620424A3-28A4-4E8B-9BAE-006A02B7EB52}">
      <dgm:prSet/>
      <dgm:spPr/>
      <dgm:t>
        <a:bodyPr/>
        <a:lstStyle/>
        <a:p>
          <a:endParaRPr lang="es-AR"/>
        </a:p>
      </dgm:t>
    </dgm:pt>
    <dgm:pt modelId="{BEA13D9C-2A59-4E04-AC3B-5239BA6BF401}">
      <dgm:prSet phldrT="[Texto]"/>
      <dgm:spPr/>
      <dgm:t>
        <a:bodyPr/>
        <a:lstStyle/>
        <a:p>
          <a:r>
            <a:rPr lang="es-AR" dirty="0" smtClean="0"/>
            <a:t>Transparencia: Información perfecta.</a:t>
          </a:r>
          <a:endParaRPr lang="es-AR" dirty="0"/>
        </a:p>
      </dgm:t>
    </dgm:pt>
    <dgm:pt modelId="{7A3B38A6-BE4C-447E-A829-9B6F95A90937}" type="parTrans" cxnId="{A6F4BE10-D9B8-44E5-A80B-3055A1953A85}">
      <dgm:prSet/>
      <dgm:spPr/>
      <dgm:t>
        <a:bodyPr/>
        <a:lstStyle/>
        <a:p>
          <a:endParaRPr lang="es-AR"/>
        </a:p>
      </dgm:t>
    </dgm:pt>
    <dgm:pt modelId="{852EBAF8-3B4B-43F0-987C-B43FBFA5FDB4}" type="sibTrans" cxnId="{A6F4BE10-D9B8-44E5-A80B-3055A1953A85}">
      <dgm:prSet/>
      <dgm:spPr/>
      <dgm:t>
        <a:bodyPr/>
        <a:lstStyle/>
        <a:p>
          <a:endParaRPr lang="es-AR"/>
        </a:p>
      </dgm:t>
    </dgm:pt>
    <dgm:pt modelId="{EFB8AB11-2F1E-48E8-95B8-8C74F4522950}">
      <dgm:prSet phldrT="[Texto]"/>
      <dgm:spPr/>
      <dgm:t>
        <a:bodyPr/>
        <a:lstStyle/>
        <a:p>
          <a:r>
            <a:rPr lang="es-AR" dirty="0" smtClean="0"/>
            <a:t>Movilidad de recursos sin </a:t>
          </a:r>
          <a:r>
            <a:rPr lang="es-AR" dirty="0" err="1" smtClean="0"/>
            <a:t>restrcciones</a:t>
          </a:r>
          <a:r>
            <a:rPr lang="es-AR" dirty="0" smtClean="0"/>
            <a:t>.</a:t>
          </a:r>
          <a:endParaRPr lang="es-AR" dirty="0"/>
        </a:p>
      </dgm:t>
    </dgm:pt>
    <dgm:pt modelId="{AAE515F6-987E-4879-AC4C-DFFEFF004B35}" type="parTrans" cxnId="{80ADB3C8-F3CC-458F-81ED-DE78FF9206DC}">
      <dgm:prSet/>
      <dgm:spPr/>
      <dgm:t>
        <a:bodyPr/>
        <a:lstStyle/>
        <a:p>
          <a:endParaRPr lang="es-AR"/>
        </a:p>
      </dgm:t>
    </dgm:pt>
    <dgm:pt modelId="{2A0D5635-E38A-45B1-B303-885175B64F25}" type="sibTrans" cxnId="{80ADB3C8-F3CC-458F-81ED-DE78FF9206DC}">
      <dgm:prSet/>
      <dgm:spPr/>
      <dgm:t>
        <a:bodyPr/>
        <a:lstStyle/>
        <a:p>
          <a:endParaRPr lang="es-AR"/>
        </a:p>
      </dgm:t>
    </dgm:pt>
    <dgm:pt modelId="{E80CA8A2-D54D-4A99-A2BE-B8ABB6326A8C}" type="pres">
      <dgm:prSet presAssocID="{464F275E-2D4D-42F6-ACF0-2E5D4AF9541B}" presName="diagram" presStyleCnt="0">
        <dgm:presLayoutVars>
          <dgm:dir/>
          <dgm:resizeHandles val="exact"/>
        </dgm:presLayoutVars>
      </dgm:prSet>
      <dgm:spPr/>
      <dgm:t>
        <a:bodyPr/>
        <a:lstStyle/>
        <a:p>
          <a:endParaRPr lang="es-AR"/>
        </a:p>
      </dgm:t>
    </dgm:pt>
    <dgm:pt modelId="{FE8D2054-D9BC-4A75-8F2A-8BA7B4100BF9}" type="pres">
      <dgm:prSet presAssocID="{12BB9577-14BA-4B3E-9A43-FE3666B7DB19}" presName="node" presStyleLbl="node1" presStyleIdx="0" presStyleCnt="5">
        <dgm:presLayoutVars>
          <dgm:bulletEnabled val="1"/>
        </dgm:presLayoutVars>
      </dgm:prSet>
      <dgm:spPr/>
      <dgm:t>
        <a:bodyPr/>
        <a:lstStyle/>
        <a:p>
          <a:endParaRPr lang="es-AR"/>
        </a:p>
      </dgm:t>
    </dgm:pt>
    <dgm:pt modelId="{FC4B63A7-792C-493B-A7E8-6D4879FC2EA7}" type="pres">
      <dgm:prSet presAssocID="{397789DD-970B-49D5-9D12-96A2624A29CB}" presName="sibTrans" presStyleCnt="0"/>
      <dgm:spPr/>
    </dgm:pt>
    <dgm:pt modelId="{535C7318-BF75-44DE-B47A-2BAAA90A88BD}" type="pres">
      <dgm:prSet presAssocID="{2D06C840-EF86-44BC-965E-275F9D15FF52}" presName="node" presStyleLbl="node1" presStyleIdx="1" presStyleCnt="5">
        <dgm:presLayoutVars>
          <dgm:bulletEnabled val="1"/>
        </dgm:presLayoutVars>
      </dgm:prSet>
      <dgm:spPr/>
      <dgm:t>
        <a:bodyPr/>
        <a:lstStyle/>
        <a:p>
          <a:endParaRPr lang="es-AR"/>
        </a:p>
      </dgm:t>
    </dgm:pt>
    <dgm:pt modelId="{BE79EF8D-45F0-40ED-AB41-553B7B628635}" type="pres">
      <dgm:prSet presAssocID="{4B3085A1-8CE8-486B-A307-5B6286A67928}" presName="sibTrans" presStyleCnt="0"/>
      <dgm:spPr/>
    </dgm:pt>
    <dgm:pt modelId="{6E90FB09-DC51-46A5-BF2C-B79DC36DC7A8}" type="pres">
      <dgm:prSet presAssocID="{B613D9A1-7BE6-4E02-BC67-7E4529DC5342}" presName="node" presStyleLbl="node1" presStyleIdx="2" presStyleCnt="5">
        <dgm:presLayoutVars>
          <dgm:bulletEnabled val="1"/>
        </dgm:presLayoutVars>
      </dgm:prSet>
      <dgm:spPr/>
      <dgm:t>
        <a:bodyPr/>
        <a:lstStyle/>
        <a:p>
          <a:endParaRPr lang="es-AR"/>
        </a:p>
      </dgm:t>
    </dgm:pt>
    <dgm:pt modelId="{33089481-352D-46DB-999D-1080047357A4}" type="pres">
      <dgm:prSet presAssocID="{2232C5F9-AB32-4709-9559-351809794F75}" presName="sibTrans" presStyleCnt="0"/>
      <dgm:spPr/>
    </dgm:pt>
    <dgm:pt modelId="{E11C8FD8-884B-464D-BCA0-FBBB034C60DD}" type="pres">
      <dgm:prSet presAssocID="{BEA13D9C-2A59-4E04-AC3B-5239BA6BF401}" presName="node" presStyleLbl="node1" presStyleIdx="3" presStyleCnt="5">
        <dgm:presLayoutVars>
          <dgm:bulletEnabled val="1"/>
        </dgm:presLayoutVars>
      </dgm:prSet>
      <dgm:spPr/>
      <dgm:t>
        <a:bodyPr/>
        <a:lstStyle/>
        <a:p>
          <a:endParaRPr lang="es-AR"/>
        </a:p>
      </dgm:t>
    </dgm:pt>
    <dgm:pt modelId="{6048C047-77EE-4149-8551-88718A689BC8}" type="pres">
      <dgm:prSet presAssocID="{852EBAF8-3B4B-43F0-987C-B43FBFA5FDB4}" presName="sibTrans" presStyleCnt="0"/>
      <dgm:spPr/>
    </dgm:pt>
    <dgm:pt modelId="{A39800EF-8C87-4671-BA6F-EEC40B624346}" type="pres">
      <dgm:prSet presAssocID="{EFB8AB11-2F1E-48E8-95B8-8C74F4522950}" presName="node" presStyleLbl="node1" presStyleIdx="4" presStyleCnt="5">
        <dgm:presLayoutVars>
          <dgm:bulletEnabled val="1"/>
        </dgm:presLayoutVars>
      </dgm:prSet>
      <dgm:spPr/>
      <dgm:t>
        <a:bodyPr/>
        <a:lstStyle/>
        <a:p>
          <a:endParaRPr lang="es-AR"/>
        </a:p>
      </dgm:t>
    </dgm:pt>
  </dgm:ptLst>
  <dgm:cxnLst>
    <dgm:cxn modelId="{9E58AE65-848C-4A23-A62A-F2506F2AAD6F}" type="presOf" srcId="{12BB9577-14BA-4B3E-9A43-FE3666B7DB19}" destId="{FE8D2054-D9BC-4A75-8F2A-8BA7B4100BF9}" srcOrd="0" destOrd="0" presId="urn:microsoft.com/office/officeart/2005/8/layout/default"/>
    <dgm:cxn modelId="{81F43E91-6149-44BA-96E2-3982F28AEACA}" srcId="{464F275E-2D4D-42F6-ACF0-2E5D4AF9541B}" destId="{2D06C840-EF86-44BC-965E-275F9D15FF52}" srcOrd="1" destOrd="0" parTransId="{52C2EC72-AC9D-4CD6-8312-57781AB1CBE4}" sibTransId="{4B3085A1-8CE8-486B-A307-5B6286A67928}"/>
    <dgm:cxn modelId="{679189E2-E963-42E0-9865-D1BDA9290EC7}" type="presOf" srcId="{464F275E-2D4D-42F6-ACF0-2E5D4AF9541B}" destId="{E80CA8A2-D54D-4A99-A2BE-B8ABB6326A8C}" srcOrd="0" destOrd="0" presId="urn:microsoft.com/office/officeart/2005/8/layout/default"/>
    <dgm:cxn modelId="{EB06E630-8C5B-4B98-8F34-BDC3169BC36E}" type="presOf" srcId="{BEA13D9C-2A59-4E04-AC3B-5239BA6BF401}" destId="{E11C8FD8-884B-464D-BCA0-FBBB034C60DD}" srcOrd="0" destOrd="0" presId="urn:microsoft.com/office/officeart/2005/8/layout/default"/>
    <dgm:cxn modelId="{620424A3-28A4-4E8B-9BAE-006A02B7EB52}" srcId="{464F275E-2D4D-42F6-ACF0-2E5D4AF9541B}" destId="{B613D9A1-7BE6-4E02-BC67-7E4529DC5342}" srcOrd="2" destOrd="0" parTransId="{0B1DEC03-5D53-4654-A0E1-3F5A01112361}" sibTransId="{2232C5F9-AB32-4709-9559-351809794F75}"/>
    <dgm:cxn modelId="{BA9FAA58-7DE5-462E-87B4-121F8E882B0A}" type="presOf" srcId="{EFB8AB11-2F1E-48E8-95B8-8C74F4522950}" destId="{A39800EF-8C87-4671-BA6F-EEC40B624346}" srcOrd="0" destOrd="0" presId="urn:microsoft.com/office/officeart/2005/8/layout/default"/>
    <dgm:cxn modelId="{A6F4BE10-D9B8-44E5-A80B-3055A1953A85}" srcId="{464F275E-2D4D-42F6-ACF0-2E5D4AF9541B}" destId="{BEA13D9C-2A59-4E04-AC3B-5239BA6BF401}" srcOrd="3" destOrd="0" parTransId="{7A3B38A6-BE4C-447E-A829-9B6F95A90937}" sibTransId="{852EBAF8-3B4B-43F0-987C-B43FBFA5FDB4}"/>
    <dgm:cxn modelId="{BDA70F21-CEF1-4855-B2E7-ACFA5512D489}" srcId="{464F275E-2D4D-42F6-ACF0-2E5D4AF9541B}" destId="{12BB9577-14BA-4B3E-9A43-FE3666B7DB19}" srcOrd="0" destOrd="0" parTransId="{E7493A10-6F81-465A-823D-84E9DE2FED1F}" sibTransId="{397789DD-970B-49D5-9D12-96A2624A29CB}"/>
    <dgm:cxn modelId="{D8705564-BDA3-44B3-B955-DEA4A2380679}" type="presOf" srcId="{B613D9A1-7BE6-4E02-BC67-7E4529DC5342}" destId="{6E90FB09-DC51-46A5-BF2C-B79DC36DC7A8}" srcOrd="0" destOrd="0" presId="urn:microsoft.com/office/officeart/2005/8/layout/default"/>
    <dgm:cxn modelId="{80ADB3C8-F3CC-458F-81ED-DE78FF9206DC}" srcId="{464F275E-2D4D-42F6-ACF0-2E5D4AF9541B}" destId="{EFB8AB11-2F1E-48E8-95B8-8C74F4522950}" srcOrd="4" destOrd="0" parTransId="{AAE515F6-987E-4879-AC4C-DFFEFF004B35}" sibTransId="{2A0D5635-E38A-45B1-B303-885175B64F25}"/>
    <dgm:cxn modelId="{A53756B8-9740-4FB8-A69D-8151C116D486}" type="presOf" srcId="{2D06C840-EF86-44BC-965E-275F9D15FF52}" destId="{535C7318-BF75-44DE-B47A-2BAAA90A88BD}" srcOrd="0" destOrd="0" presId="urn:microsoft.com/office/officeart/2005/8/layout/default"/>
    <dgm:cxn modelId="{85FC22FE-6DF6-4069-8A38-60B47B1B24C6}" type="presParOf" srcId="{E80CA8A2-D54D-4A99-A2BE-B8ABB6326A8C}" destId="{FE8D2054-D9BC-4A75-8F2A-8BA7B4100BF9}" srcOrd="0" destOrd="0" presId="urn:microsoft.com/office/officeart/2005/8/layout/default"/>
    <dgm:cxn modelId="{F2298685-F07F-437D-B6E4-AA98B406E6DA}" type="presParOf" srcId="{E80CA8A2-D54D-4A99-A2BE-B8ABB6326A8C}" destId="{FC4B63A7-792C-493B-A7E8-6D4879FC2EA7}" srcOrd="1" destOrd="0" presId="urn:microsoft.com/office/officeart/2005/8/layout/default"/>
    <dgm:cxn modelId="{BE40F36A-B80B-4045-BC8C-E410F7371B25}" type="presParOf" srcId="{E80CA8A2-D54D-4A99-A2BE-B8ABB6326A8C}" destId="{535C7318-BF75-44DE-B47A-2BAAA90A88BD}" srcOrd="2" destOrd="0" presId="urn:microsoft.com/office/officeart/2005/8/layout/default"/>
    <dgm:cxn modelId="{73063E35-2DB0-451A-A700-3EB5FE327D86}" type="presParOf" srcId="{E80CA8A2-D54D-4A99-A2BE-B8ABB6326A8C}" destId="{BE79EF8D-45F0-40ED-AB41-553B7B628635}" srcOrd="3" destOrd="0" presId="urn:microsoft.com/office/officeart/2005/8/layout/default"/>
    <dgm:cxn modelId="{32495B7E-161E-445E-B785-97A44C434998}" type="presParOf" srcId="{E80CA8A2-D54D-4A99-A2BE-B8ABB6326A8C}" destId="{6E90FB09-DC51-46A5-BF2C-B79DC36DC7A8}" srcOrd="4" destOrd="0" presId="urn:microsoft.com/office/officeart/2005/8/layout/default"/>
    <dgm:cxn modelId="{AFFF2545-33B8-410C-A584-2EFAD3DE1BE9}" type="presParOf" srcId="{E80CA8A2-D54D-4A99-A2BE-B8ABB6326A8C}" destId="{33089481-352D-46DB-999D-1080047357A4}" srcOrd="5" destOrd="0" presId="urn:microsoft.com/office/officeart/2005/8/layout/default"/>
    <dgm:cxn modelId="{A60A72FF-C84B-4A6E-8B43-193E7484332E}" type="presParOf" srcId="{E80CA8A2-D54D-4A99-A2BE-B8ABB6326A8C}" destId="{E11C8FD8-884B-464D-BCA0-FBBB034C60DD}" srcOrd="6" destOrd="0" presId="urn:microsoft.com/office/officeart/2005/8/layout/default"/>
    <dgm:cxn modelId="{146F810E-2B5F-45B4-A355-2E3F5433DBD3}" type="presParOf" srcId="{E80CA8A2-D54D-4A99-A2BE-B8ABB6326A8C}" destId="{6048C047-77EE-4149-8551-88718A689BC8}" srcOrd="7" destOrd="0" presId="urn:microsoft.com/office/officeart/2005/8/layout/default"/>
    <dgm:cxn modelId="{350CB60F-6E04-41C3-9551-BE0737FBAA6D}" type="presParOf" srcId="{E80CA8A2-D54D-4A99-A2BE-B8ABB6326A8C}" destId="{A39800EF-8C87-4671-BA6F-EEC40B624346}"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B9365A-8C8F-409A-B6AC-A83762A15EC5}">
      <dsp:nvSpPr>
        <dsp:cNvPr id="0" name=""/>
        <dsp:cNvSpPr/>
      </dsp:nvSpPr>
      <dsp:spPr>
        <a:xfrm>
          <a:off x="3413596" y="947"/>
          <a:ext cx="1402407" cy="1402407"/>
        </a:xfrm>
        <a:prstGeom prst="ellipse">
          <a:avLst/>
        </a:prstGeom>
        <a:solidFill>
          <a:srgbClr val="00B0F0"/>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Necesidad Humana</a:t>
          </a:r>
          <a:endParaRPr lang="es-AR" sz="1400" kern="1200" dirty="0"/>
        </a:p>
      </dsp:txBody>
      <dsp:txXfrm>
        <a:off x="3618974" y="206325"/>
        <a:ext cx="991651" cy="991651"/>
      </dsp:txXfrm>
    </dsp:sp>
    <dsp:sp modelId="{FBDF4867-F007-420F-A360-6995386D0CBF}">
      <dsp:nvSpPr>
        <dsp:cNvPr id="0" name=""/>
        <dsp:cNvSpPr/>
      </dsp:nvSpPr>
      <dsp:spPr>
        <a:xfrm rot="2160000">
          <a:off x="4771569" y="1077926"/>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4782236" y="1139760"/>
        <a:ext cx="260639" cy="283988"/>
      </dsp:txXfrm>
    </dsp:sp>
    <dsp:sp modelId="{EA0DB310-18EF-4EF4-A79D-38ECF4523D91}">
      <dsp:nvSpPr>
        <dsp:cNvPr id="0" name=""/>
        <dsp:cNvSpPr/>
      </dsp:nvSpPr>
      <dsp:spPr>
        <a:xfrm>
          <a:off x="5116527" y="1238199"/>
          <a:ext cx="1402407" cy="1402407"/>
        </a:xfrm>
        <a:prstGeom prst="ellips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Deseo humano</a:t>
          </a:r>
          <a:endParaRPr lang="es-AR" sz="1400" kern="1200" dirty="0"/>
        </a:p>
      </dsp:txBody>
      <dsp:txXfrm>
        <a:off x="5321905" y="1443577"/>
        <a:ext cx="991651" cy="991651"/>
      </dsp:txXfrm>
    </dsp:sp>
    <dsp:sp modelId="{41A89100-2A06-4399-8419-AB24DB797541}">
      <dsp:nvSpPr>
        <dsp:cNvPr id="0" name=""/>
        <dsp:cNvSpPr/>
      </dsp:nvSpPr>
      <dsp:spPr>
        <a:xfrm rot="6480000">
          <a:off x="5309585" y="2693682"/>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5382695" y="2735227"/>
        <a:ext cx="260639" cy="283988"/>
      </dsp:txXfrm>
    </dsp:sp>
    <dsp:sp modelId="{AB2BD0D7-4FB4-4A59-9712-B06F8A8BB22D}">
      <dsp:nvSpPr>
        <dsp:cNvPr id="0" name=""/>
        <dsp:cNvSpPr/>
      </dsp:nvSpPr>
      <dsp:spPr>
        <a:xfrm>
          <a:off x="4466065" y="3240115"/>
          <a:ext cx="1402407" cy="1402407"/>
        </a:xfrm>
        <a:prstGeom prst="ellipse">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Demandas</a:t>
          </a:r>
          <a:endParaRPr lang="es-AR" sz="1400" kern="1200" dirty="0"/>
        </a:p>
      </dsp:txBody>
      <dsp:txXfrm>
        <a:off x="4671443" y="3445493"/>
        <a:ext cx="991651" cy="991651"/>
      </dsp:txXfrm>
    </dsp:sp>
    <dsp:sp modelId="{FBAB90F6-5585-481E-A4F1-7B8F6E6D85A0}">
      <dsp:nvSpPr>
        <dsp:cNvPr id="0" name=""/>
        <dsp:cNvSpPr/>
      </dsp:nvSpPr>
      <dsp:spPr>
        <a:xfrm rot="10800000">
          <a:off x="3939167" y="3704662"/>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4050869" y="3799324"/>
        <a:ext cx="260639" cy="283988"/>
      </dsp:txXfrm>
    </dsp:sp>
    <dsp:sp modelId="{D37F51AD-A1C4-4DF8-A325-09B19F5E53A9}">
      <dsp:nvSpPr>
        <dsp:cNvPr id="0" name=""/>
        <dsp:cNvSpPr/>
      </dsp:nvSpPr>
      <dsp:spPr>
        <a:xfrm>
          <a:off x="2361126" y="3240115"/>
          <a:ext cx="1402407" cy="140240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Producto</a:t>
          </a:r>
          <a:endParaRPr lang="es-AR" sz="1400" kern="1200" dirty="0"/>
        </a:p>
      </dsp:txBody>
      <dsp:txXfrm>
        <a:off x="2566504" y="3445493"/>
        <a:ext cx="991651" cy="991651"/>
      </dsp:txXfrm>
    </dsp:sp>
    <dsp:sp modelId="{B9740F72-AAF8-4C12-B2BB-E5285A4AD8B9}">
      <dsp:nvSpPr>
        <dsp:cNvPr id="0" name=""/>
        <dsp:cNvSpPr/>
      </dsp:nvSpPr>
      <dsp:spPr>
        <a:xfrm rot="15120000">
          <a:off x="2554185" y="2713726"/>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2627295" y="2861505"/>
        <a:ext cx="260639" cy="283988"/>
      </dsp:txXfrm>
    </dsp:sp>
    <dsp:sp modelId="{6CF666FE-2169-4D94-A2BA-1111022BA568}">
      <dsp:nvSpPr>
        <dsp:cNvPr id="0" name=""/>
        <dsp:cNvSpPr/>
      </dsp:nvSpPr>
      <dsp:spPr>
        <a:xfrm>
          <a:off x="1710664" y="1238199"/>
          <a:ext cx="1402407" cy="1402407"/>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kern="1200" dirty="0" smtClean="0"/>
            <a:t>Intercambio</a:t>
          </a:r>
          <a:endParaRPr lang="es-AR" sz="1400" kern="1200" dirty="0"/>
        </a:p>
      </dsp:txBody>
      <dsp:txXfrm>
        <a:off x="1916042" y="1443577"/>
        <a:ext cx="991651" cy="991651"/>
      </dsp:txXfrm>
    </dsp:sp>
    <dsp:sp modelId="{8FAE403F-9735-4DCE-8DC2-68C9F99AC0C5}">
      <dsp:nvSpPr>
        <dsp:cNvPr id="0" name=""/>
        <dsp:cNvSpPr/>
      </dsp:nvSpPr>
      <dsp:spPr>
        <a:xfrm rot="19440000">
          <a:off x="3068638" y="1090314"/>
          <a:ext cx="372341" cy="4733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3079305" y="1217804"/>
        <a:ext cx="260639" cy="2839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8DE774-9D27-4B1E-9D98-928E9461B48B}">
      <dsp:nvSpPr>
        <dsp:cNvPr id="0" name=""/>
        <dsp:cNvSpPr/>
      </dsp:nvSpPr>
      <dsp:spPr>
        <a:xfrm>
          <a:off x="1590873" y="0"/>
          <a:ext cx="4389437" cy="4389437"/>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0815DC-E32F-4966-9673-F0A839967925}">
      <dsp:nvSpPr>
        <dsp:cNvPr id="0" name=""/>
        <dsp:cNvSpPr/>
      </dsp:nvSpPr>
      <dsp:spPr>
        <a:xfrm>
          <a:off x="3785592" y="441301"/>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Mercado: Conjunto de compradores reales o potenciales.</a:t>
          </a:r>
          <a:endParaRPr lang="es-AR" sz="1700" kern="1200" dirty="0"/>
        </a:p>
      </dsp:txBody>
      <dsp:txXfrm>
        <a:off x="3836315" y="492024"/>
        <a:ext cx="2751688" cy="937616"/>
      </dsp:txXfrm>
    </dsp:sp>
    <dsp:sp modelId="{10CE90FE-87FF-4BDE-A868-8D6941C47E86}">
      <dsp:nvSpPr>
        <dsp:cNvPr id="0" name=""/>
        <dsp:cNvSpPr/>
      </dsp:nvSpPr>
      <dsp:spPr>
        <a:xfrm>
          <a:off x="3785592" y="1610246"/>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Marketing: trabaja con mercados para que se lleven a cabo intercambios.</a:t>
          </a:r>
          <a:endParaRPr lang="es-AR" sz="1700" kern="1200" dirty="0"/>
        </a:p>
      </dsp:txBody>
      <dsp:txXfrm>
        <a:off x="3836315" y="1660969"/>
        <a:ext cx="2751688" cy="937616"/>
      </dsp:txXfrm>
    </dsp:sp>
    <dsp:sp modelId="{06D2CC01-073A-4DDE-AACA-03E686A7F5B7}">
      <dsp:nvSpPr>
        <dsp:cNvPr id="0" name=""/>
        <dsp:cNvSpPr/>
      </dsp:nvSpPr>
      <dsp:spPr>
        <a:xfrm>
          <a:off x="3785592" y="2779190"/>
          <a:ext cx="2853134" cy="1039062"/>
        </a:xfrm>
        <a:prstGeom prst="round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s-AR" sz="1700" kern="1200" dirty="0" smtClean="0"/>
            <a:t>Finalidad: satisfacer deseos y  necesidades.</a:t>
          </a:r>
          <a:endParaRPr lang="es-AR" sz="1700" kern="1200" dirty="0"/>
        </a:p>
      </dsp:txBody>
      <dsp:txXfrm>
        <a:off x="3836315" y="2829913"/>
        <a:ext cx="2751688" cy="9376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D116F3-9B0F-489A-8849-D8A4449E2CE2}">
      <dsp:nvSpPr>
        <dsp:cNvPr id="0" name=""/>
        <dsp:cNvSpPr/>
      </dsp:nvSpPr>
      <dsp:spPr>
        <a:xfrm>
          <a:off x="0" y="1209983"/>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3C768F-91FB-42BC-B219-16E450E6E48D}">
      <dsp:nvSpPr>
        <dsp:cNvPr id="0" name=""/>
        <dsp:cNvSpPr/>
      </dsp:nvSpPr>
      <dsp:spPr>
        <a:xfrm>
          <a:off x="1185820" y="257163"/>
          <a:ext cx="5755094" cy="1343126"/>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800100">
            <a:lnSpc>
              <a:spcPct val="90000"/>
            </a:lnSpc>
            <a:spcBef>
              <a:spcPct val="0"/>
            </a:spcBef>
            <a:spcAft>
              <a:spcPct val="35000"/>
            </a:spcAft>
          </a:pPr>
          <a:r>
            <a:rPr lang="es-AR" sz="1800" kern="1200" dirty="0" smtClean="0"/>
            <a:t>Agrupamiento de consumidores en función de comportamientos  similares.</a:t>
          </a:r>
          <a:endParaRPr lang="es-AR" sz="1800" kern="1200" dirty="0"/>
        </a:p>
      </dsp:txBody>
      <dsp:txXfrm>
        <a:off x="1251386" y="322729"/>
        <a:ext cx="5623962" cy="1211994"/>
      </dsp:txXfrm>
    </dsp:sp>
    <dsp:sp modelId="{44D089FC-4BE5-4BAB-AB8C-C63D57BC8738}">
      <dsp:nvSpPr>
        <dsp:cNvPr id="0" name=""/>
        <dsp:cNvSpPr/>
      </dsp:nvSpPr>
      <dsp:spPr>
        <a:xfrm>
          <a:off x="0" y="2896031"/>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34B4C-CC3F-4FC6-B767-7C474E064C53}">
      <dsp:nvSpPr>
        <dsp:cNvPr id="0" name=""/>
        <dsp:cNvSpPr/>
      </dsp:nvSpPr>
      <dsp:spPr>
        <a:xfrm>
          <a:off x="1113306" y="1873260"/>
          <a:ext cx="5755094" cy="1432607"/>
        </a:xfrm>
        <a:prstGeom prst="roundRect">
          <a:avLst/>
        </a:prstGeom>
        <a:solidFill>
          <a:srgbClr val="FFFF00"/>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s-AR" sz="1600" kern="1200" dirty="0" smtClean="0">
              <a:solidFill>
                <a:schemeClr val="tx1"/>
              </a:solidFill>
            </a:rPr>
            <a:t>Factores de segmentación: necesidades, recursos, ubicaciones, actitudes de compra, etc.</a:t>
          </a:r>
          <a:endParaRPr lang="es-AR" sz="1600" kern="1200" dirty="0">
            <a:solidFill>
              <a:schemeClr val="tx1"/>
            </a:solidFill>
          </a:endParaRPr>
        </a:p>
      </dsp:txBody>
      <dsp:txXfrm>
        <a:off x="1183240" y="1943194"/>
        <a:ext cx="5615226" cy="1292739"/>
      </dsp:txXfrm>
    </dsp:sp>
    <dsp:sp modelId="{B0BC7C1C-D894-441F-B898-3164BBE3B0C1}">
      <dsp:nvSpPr>
        <dsp:cNvPr id="0" name=""/>
        <dsp:cNvSpPr/>
      </dsp:nvSpPr>
      <dsp:spPr>
        <a:xfrm>
          <a:off x="0" y="4394417"/>
          <a:ext cx="8229600" cy="403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B5AFD-4C8A-475A-88A2-C78DE2AD6626}">
      <dsp:nvSpPr>
        <dsp:cNvPr id="0" name=""/>
        <dsp:cNvSpPr/>
      </dsp:nvSpPr>
      <dsp:spPr>
        <a:xfrm>
          <a:off x="1257299" y="3655688"/>
          <a:ext cx="5755094" cy="1244945"/>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711200">
            <a:lnSpc>
              <a:spcPct val="90000"/>
            </a:lnSpc>
            <a:spcBef>
              <a:spcPct val="0"/>
            </a:spcBef>
            <a:spcAft>
              <a:spcPct val="35000"/>
            </a:spcAft>
          </a:pPr>
          <a:r>
            <a:rPr lang="es-AR" sz="1600" kern="1200" dirty="0" smtClean="0"/>
            <a:t>Permite conocer al consumidor utilizando menos recursos.</a:t>
          </a:r>
          <a:endParaRPr lang="es-AR" sz="1600" kern="1200" dirty="0"/>
        </a:p>
      </dsp:txBody>
      <dsp:txXfrm>
        <a:off x="1318072" y="3716461"/>
        <a:ext cx="5633548" cy="11233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BD9014-52D9-4184-B8CB-2BF4E919E3F3}">
      <dsp:nvSpPr>
        <dsp:cNvPr id="0" name=""/>
        <dsp:cNvSpPr/>
      </dsp:nvSpPr>
      <dsp:spPr>
        <a:xfrm>
          <a:off x="570607" y="694"/>
          <a:ext cx="3375421" cy="2025253"/>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geográfica</a:t>
          </a:r>
          <a:endParaRPr lang="es-AR" sz="3900" kern="1200" dirty="0"/>
        </a:p>
      </dsp:txBody>
      <dsp:txXfrm>
        <a:off x="570607" y="694"/>
        <a:ext cx="3375421" cy="2025253"/>
      </dsp:txXfrm>
    </dsp:sp>
    <dsp:sp modelId="{C59AB63F-5216-42DD-B70E-DCCC146F8389}">
      <dsp:nvSpPr>
        <dsp:cNvPr id="0" name=""/>
        <dsp:cNvSpPr/>
      </dsp:nvSpPr>
      <dsp:spPr>
        <a:xfrm>
          <a:off x="4283571" y="694"/>
          <a:ext cx="3375421" cy="2025253"/>
        </a:xfrm>
        <a:prstGeom prst="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demográfica</a:t>
          </a:r>
          <a:endParaRPr lang="es-AR" sz="3900" kern="1200" dirty="0"/>
        </a:p>
      </dsp:txBody>
      <dsp:txXfrm>
        <a:off x="4283571" y="694"/>
        <a:ext cx="3375421" cy="2025253"/>
      </dsp:txXfrm>
    </dsp:sp>
    <dsp:sp modelId="{9F529250-1E03-49DF-836A-5898BBC70316}">
      <dsp:nvSpPr>
        <dsp:cNvPr id="0" name=""/>
        <dsp:cNvSpPr/>
      </dsp:nvSpPr>
      <dsp:spPr>
        <a:xfrm>
          <a:off x="570607" y="2363489"/>
          <a:ext cx="3375421" cy="2025253"/>
        </a:xfrm>
        <a:prstGeom prst="rect">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a:t>
          </a:r>
          <a:r>
            <a:rPr lang="es-AR" sz="3900" kern="1200" dirty="0" err="1" smtClean="0"/>
            <a:t>psicográfica</a:t>
          </a:r>
          <a:endParaRPr lang="es-AR" sz="3900" kern="1200" dirty="0"/>
        </a:p>
      </dsp:txBody>
      <dsp:txXfrm>
        <a:off x="570607" y="2363489"/>
        <a:ext cx="3375421" cy="2025253"/>
      </dsp:txXfrm>
    </dsp:sp>
    <dsp:sp modelId="{F02CE32F-EBFA-4384-A93D-6CC6E1888014}">
      <dsp:nvSpPr>
        <dsp:cNvPr id="0" name=""/>
        <dsp:cNvSpPr/>
      </dsp:nvSpPr>
      <dsp:spPr>
        <a:xfrm>
          <a:off x="4283571" y="2363489"/>
          <a:ext cx="3375421" cy="202525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s-AR" sz="3900" kern="1200" dirty="0" smtClean="0"/>
            <a:t>Segmentación por conducta.</a:t>
          </a:r>
          <a:endParaRPr lang="es-AR" sz="3900" kern="1200" dirty="0"/>
        </a:p>
      </dsp:txBody>
      <dsp:txXfrm>
        <a:off x="4283571" y="2363489"/>
        <a:ext cx="3375421" cy="20252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2E7BF-6306-4500-9C40-4D6F074FBE5F}">
      <dsp:nvSpPr>
        <dsp:cNvPr id="0" name=""/>
        <dsp:cNvSpPr/>
      </dsp:nvSpPr>
      <dsp:spPr>
        <a:xfrm>
          <a:off x="3451770" y="386"/>
          <a:ext cx="1326058" cy="1326058"/>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b="1" kern="1200" dirty="0" smtClean="0">
              <a:solidFill>
                <a:schemeClr val="tx1"/>
              </a:solidFill>
            </a:rPr>
            <a:t>Mercado proveedor</a:t>
          </a:r>
          <a:endParaRPr lang="es-AR" sz="1300" b="1" kern="1200" dirty="0">
            <a:solidFill>
              <a:schemeClr val="tx1"/>
            </a:solidFill>
          </a:endParaRPr>
        </a:p>
      </dsp:txBody>
      <dsp:txXfrm>
        <a:off x="3645967" y="194583"/>
        <a:ext cx="937664" cy="937664"/>
      </dsp:txXfrm>
    </dsp:sp>
    <dsp:sp modelId="{5B24FB6A-92C3-46CC-A297-27C8A83B873C}">
      <dsp:nvSpPr>
        <dsp:cNvPr id="0" name=""/>
        <dsp:cNvSpPr/>
      </dsp:nvSpPr>
      <dsp:spPr>
        <a:xfrm rot="2160000">
          <a:off x="4735796" y="1018693"/>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4745880" y="1077168"/>
        <a:ext cx="246397" cy="268526"/>
      </dsp:txXfrm>
    </dsp:sp>
    <dsp:sp modelId="{58E3FE06-E25C-4AA5-8490-6389373ABD37}">
      <dsp:nvSpPr>
        <dsp:cNvPr id="0" name=""/>
        <dsp:cNvSpPr/>
      </dsp:nvSpPr>
      <dsp:spPr>
        <a:xfrm>
          <a:off x="5061877" y="1170197"/>
          <a:ext cx="1326058" cy="1326058"/>
        </a:xfrm>
        <a:prstGeom prst="ellipse">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competidor</a:t>
          </a:r>
          <a:endParaRPr lang="es-AR" sz="1300" kern="1200" dirty="0">
            <a:solidFill>
              <a:schemeClr val="tx1"/>
            </a:solidFill>
          </a:endParaRPr>
        </a:p>
      </dsp:txBody>
      <dsp:txXfrm>
        <a:off x="5256074" y="1364394"/>
        <a:ext cx="937664" cy="937664"/>
      </dsp:txXfrm>
    </dsp:sp>
    <dsp:sp modelId="{CE2973A4-5045-4DC6-9B91-B06E00330549}">
      <dsp:nvSpPr>
        <dsp:cNvPr id="0" name=""/>
        <dsp:cNvSpPr/>
      </dsp:nvSpPr>
      <dsp:spPr>
        <a:xfrm rot="6480000">
          <a:off x="5244484" y="2546377"/>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5313599" y="2585671"/>
        <a:ext cx="246397" cy="268526"/>
      </dsp:txXfrm>
    </dsp:sp>
    <dsp:sp modelId="{0146CA55-FF4D-42CA-A545-0C478C9AA6A7}">
      <dsp:nvSpPr>
        <dsp:cNvPr id="0" name=""/>
        <dsp:cNvSpPr/>
      </dsp:nvSpPr>
      <dsp:spPr>
        <a:xfrm>
          <a:off x="4446871" y="3062991"/>
          <a:ext cx="1326058" cy="1326058"/>
        </a:xfrm>
        <a:prstGeom prst="ellipse">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distribuidor</a:t>
          </a:r>
          <a:endParaRPr lang="es-AR" sz="1300" kern="1200" dirty="0">
            <a:solidFill>
              <a:schemeClr val="tx1"/>
            </a:solidFill>
          </a:endParaRPr>
        </a:p>
      </dsp:txBody>
      <dsp:txXfrm>
        <a:off x="4641068" y="3257188"/>
        <a:ext cx="937664" cy="937664"/>
      </dsp:txXfrm>
    </dsp:sp>
    <dsp:sp modelId="{7246C81A-BF9C-4D94-BB78-7B46F1B76D3D}">
      <dsp:nvSpPr>
        <dsp:cNvPr id="0" name=""/>
        <dsp:cNvSpPr/>
      </dsp:nvSpPr>
      <dsp:spPr>
        <a:xfrm rot="10800000">
          <a:off x="3948764" y="3502248"/>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4054362" y="3591757"/>
        <a:ext cx="246397" cy="268526"/>
      </dsp:txXfrm>
    </dsp:sp>
    <dsp:sp modelId="{2CF9A725-1089-4AD6-A3A0-4A1B8A7F8026}">
      <dsp:nvSpPr>
        <dsp:cNvPr id="0" name=""/>
        <dsp:cNvSpPr/>
      </dsp:nvSpPr>
      <dsp:spPr>
        <a:xfrm>
          <a:off x="2456669" y="3062991"/>
          <a:ext cx="1326058" cy="1326058"/>
        </a:xfrm>
        <a:prstGeom prst="ellipse">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Consumidor</a:t>
          </a:r>
          <a:endParaRPr lang="es-AR" sz="1300" kern="1200" dirty="0">
            <a:solidFill>
              <a:schemeClr val="tx1"/>
            </a:solidFill>
          </a:endParaRPr>
        </a:p>
      </dsp:txBody>
      <dsp:txXfrm>
        <a:off x="2650866" y="3257188"/>
        <a:ext cx="937664" cy="937664"/>
      </dsp:txXfrm>
    </dsp:sp>
    <dsp:sp modelId="{05DFFEF6-74F1-45AA-9506-31692A30059E}">
      <dsp:nvSpPr>
        <dsp:cNvPr id="0" name=""/>
        <dsp:cNvSpPr/>
      </dsp:nvSpPr>
      <dsp:spPr>
        <a:xfrm rot="15120000">
          <a:off x="2639276" y="2565326"/>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rot="10800000">
        <a:off x="2708391" y="2705050"/>
        <a:ext cx="246397" cy="268526"/>
      </dsp:txXfrm>
    </dsp:sp>
    <dsp:sp modelId="{9BD6D4AB-2328-4B1A-97C3-72EE962A63C3}">
      <dsp:nvSpPr>
        <dsp:cNvPr id="0" name=""/>
        <dsp:cNvSpPr/>
      </dsp:nvSpPr>
      <dsp:spPr>
        <a:xfrm>
          <a:off x="1841663" y="1170197"/>
          <a:ext cx="1326058" cy="13260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s-AR" sz="1300" kern="1200" dirty="0" smtClean="0">
              <a:solidFill>
                <a:schemeClr val="tx1"/>
              </a:solidFill>
            </a:rPr>
            <a:t>Mercado Externo</a:t>
          </a:r>
          <a:endParaRPr lang="es-AR" sz="1300" kern="1200" dirty="0">
            <a:solidFill>
              <a:schemeClr val="tx1"/>
            </a:solidFill>
          </a:endParaRPr>
        </a:p>
      </dsp:txBody>
      <dsp:txXfrm>
        <a:off x="2035860" y="1364394"/>
        <a:ext cx="937664" cy="937664"/>
      </dsp:txXfrm>
    </dsp:sp>
    <dsp:sp modelId="{51C2DCEF-34E0-46A2-A936-CAF91755EACD}">
      <dsp:nvSpPr>
        <dsp:cNvPr id="0" name=""/>
        <dsp:cNvSpPr/>
      </dsp:nvSpPr>
      <dsp:spPr>
        <a:xfrm rot="19440000">
          <a:off x="3125689" y="1030404"/>
          <a:ext cx="351995" cy="44754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s-AR" sz="1100" kern="1200"/>
        </a:p>
      </dsp:txBody>
      <dsp:txXfrm>
        <a:off x="3135773" y="1150947"/>
        <a:ext cx="246397" cy="2685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F8F30-30C5-4A3F-B703-D1D5D761F272}">
      <dsp:nvSpPr>
        <dsp:cNvPr id="0" name=""/>
        <dsp:cNvSpPr/>
      </dsp:nvSpPr>
      <dsp:spPr>
        <a:xfrm>
          <a:off x="0" y="0"/>
          <a:ext cx="4389437" cy="4389437"/>
        </a:xfrm>
        <a:prstGeom prst="pie">
          <a:avLst>
            <a:gd name="adj1" fmla="val 5400000"/>
            <a:gd name="adj2" fmla="val 16200000"/>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F227C8-384D-4DCA-B9E2-94197847ADE8}">
      <dsp:nvSpPr>
        <dsp:cNvPr id="0" name=""/>
        <dsp:cNvSpPr/>
      </dsp:nvSpPr>
      <dsp:spPr>
        <a:xfrm>
          <a:off x="2194718" y="0"/>
          <a:ext cx="6034881" cy="4389437"/>
        </a:xfrm>
        <a:prstGeom prst="rect">
          <a:avLst/>
        </a:prstGeom>
        <a:solidFill>
          <a:schemeClr val="lt1">
            <a:alpha val="90000"/>
            <a:hueOff val="0"/>
            <a:satOff val="0"/>
            <a:lumOff val="0"/>
            <a:alphaOff val="0"/>
          </a:schemeClr>
        </a:solidFill>
        <a:ln w="25400"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Inversiones</a:t>
          </a:r>
          <a:endParaRPr lang="es-AR" sz="3700" kern="1200" dirty="0"/>
        </a:p>
      </dsp:txBody>
      <dsp:txXfrm>
        <a:off x="2194718" y="0"/>
        <a:ext cx="3017440" cy="1316833"/>
      </dsp:txXfrm>
    </dsp:sp>
    <dsp:sp modelId="{3C547F25-AE2C-414E-9547-DAEA1E4FEF9A}">
      <dsp:nvSpPr>
        <dsp:cNvPr id="0" name=""/>
        <dsp:cNvSpPr/>
      </dsp:nvSpPr>
      <dsp:spPr>
        <a:xfrm>
          <a:off x="768152" y="1316833"/>
          <a:ext cx="2853131" cy="2853131"/>
        </a:xfrm>
        <a:prstGeom prst="pie">
          <a:avLst>
            <a:gd name="adj1" fmla="val 5400000"/>
            <a:gd name="adj2" fmla="val 16200000"/>
          </a:avLst>
        </a:prstGeom>
        <a:solidFill>
          <a:schemeClr val="accent1">
            <a:shade val="50000"/>
            <a:hueOff val="520350"/>
            <a:satOff val="-30057"/>
            <a:lumOff val="330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8F552C-391A-4D98-9D55-81A877FAAA3A}">
      <dsp:nvSpPr>
        <dsp:cNvPr id="0" name=""/>
        <dsp:cNvSpPr/>
      </dsp:nvSpPr>
      <dsp:spPr>
        <a:xfrm>
          <a:off x="2194718" y="1316833"/>
          <a:ext cx="6034881" cy="2853131"/>
        </a:xfrm>
        <a:prstGeom prst="rect">
          <a:avLst/>
        </a:prstGeom>
        <a:solidFill>
          <a:schemeClr val="lt1">
            <a:alpha val="90000"/>
            <a:hueOff val="0"/>
            <a:satOff val="0"/>
            <a:lumOff val="0"/>
            <a:alphaOff val="0"/>
          </a:schemeClr>
        </a:solidFill>
        <a:ln w="25400" cap="flat" cmpd="sng" algn="ctr">
          <a:solidFill>
            <a:schemeClr val="accent1">
              <a:shade val="50000"/>
              <a:hueOff val="520350"/>
              <a:satOff val="-30057"/>
              <a:lumOff val="330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Flujo de caja</a:t>
          </a:r>
          <a:endParaRPr lang="es-AR" sz="3700" kern="1200" dirty="0"/>
        </a:p>
      </dsp:txBody>
      <dsp:txXfrm>
        <a:off x="2194718" y="1316833"/>
        <a:ext cx="3017440" cy="1316829"/>
      </dsp:txXfrm>
    </dsp:sp>
    <dsp:sp modelId="{4793E39E-6F9D-4664-BEF0-690B946B3127}">
      <dsp:nvSpPr>
        <dsp:cNvPr id="0" name=""/>
        <dsp:cNvSpPr/>
      </dsp:nvSpPr>
      <dsp:spPr>
        <a:xfrm>
          <a:off x="1536303" y="2633663"/>
          <a:ext cx="1316829" cy="1316829"/>
        </a:xfrm>
        <a:prstGeom prst="pie">
          <a:avLst>
            <a:gd name="adj1" fmla="val 5400000"/>
            <a:gd name="adj2" fmla="val 16200000"/>
          </a:avLst>
        </a:prstGeom>
        <a:solidFill>
          <a:schemeClr val="accent1">
            <a:shade val="50000"/>
            <a:hueOff val="520350"/>
            <a:satOff val="-30057"/>
            <a:lumOff val="330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B7A75D-BCE4-4B0E-AA81-58748428FDF2}">
      <dsp:nvSpPr>
        <dsp:cNvPr id="0" name=""/>
        <dsp:cNvSpPr/>
      </dsp:nvSpPr>
      <dsp:spPr>
        <a:xfrm>
          <a:off x="2194718" y="2633663"/>
          <a:ext cx="6034881" cy="1316829"/>
        </a:xfrm>
        <a:prstGeom prst="rect">
          <a:avLst/>
        </a:prstGeom>
        <a:solidFill>
          <a:schemeClr val="lt1">
            <a:alpha val="90000"/>
            <a:hueOff val="0"/>
            <a:satOff val="0"/>
            <a:lumOff val="0"/>
            <a:alphaOff val="0"/>
          </a:schemeClr>
        </a:solidFill>
        <a:ln w="25400" cap="flat" cmpd="sng" algn="ctr">
          <a:solidFill>
            <a:schemeClr val="accent1">
              <a:shade val="50000"/>
              <a:hueOff val="520350"/>
              <a:satOff val="-30057"/>
              <a:lumOff val="330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s-AR" sz="3700" kern="1200" dirty="0" smtClean="0"/>
            <a:t>Criterios de rentabilidad</a:t>
          </a:r>
          <a:endParaRPr lang="es-AR" sz="3700" kern="1200" dirty="0"/>
        </a:p>
      </dsp:txBody>
      <dsp:txXfrm>
        <a:off x="2194718" y="2633663"/>
        <a:ext cx="3017440" cy="1316829"/>
      </dsp:txXfrm>
    </dsp:sp>
    <dsp:sp modelId="{F6D5387B-36F5-4885-A6EB-1C19B7C0754E}">
      <dsp:nvSpPr>
        <dsp:cNvPr id="0" name=""/>
        <dsp:cNvSpPr/>
      </dsp:nvSpPr>
      <dsp:spPr>
        <a:xfrm>
          <a:off x="5212159" y="0"/>
          <a:ext cx="3017440" cy="1316833"/>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Nº de locales, mobiliario, equipamiento, letreros.</a:t>
          </a:r>
          <a:endParaRPr lang="es-AR" sz="1800" kern="1200" dirty="0"/>
        </a:p>
        <a:p>
          <a:pPr marL="171450" lvl="1" indent="-171450" algn="l" defTabSz="800100">
            <a:lnSpc>
              <a:spcPct val="90000"/>
            </a:lnSpc>
            <a:spcBef>
              <a:spcPct val="0"/>
            </a:spcBef>
            <a:spcAft>
              <a:spcPct val="15000"/>
            </a:spcAft>
            <a:buChar char="••"/>
          </a:pPr>
          <a:r>
            <a:rPr lang="es-AR" sz="1800" kern="1200" dirty="0" smtClean="0"/>
            <a:t>Insumos, materias primas, mercaderías.</a:t>
          </a:r>
          <a:endParaRPr lang="es-AR" sz="1800" kern="1200" dirty="0"/>
        </a:p>
      </dsp:txBody>
      <dsp:txXfrm>
        <a:off x="5212159" y="0"/>
        <a:ext cx="3017440" cy="1316833"/>
      </dsp:txXfrm>
    </dsp:sp>
    <dsp:sp modelId="{4E03067E-DB21-4F37-A1BB-31AE894306BA}">
      <dsp:nvSpPr>
        <dsp:cNvPr id="0" name=""/>
        <dsp:cNvSpPr/>
      </dsp:nvSpPr>
      <dsp:spPr>
        <a:xfrm>
          <a:off x="5212159" y="1316833"/>
          <a:ext cx="3017440" cy="131682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Cuantificación de costos operativos.</a:t>
          </a:r>
          <a:endParaRPr lang="es-AR" sz="1800" kern="1200" dirty="0"/>
        </a:p>
        <a:p>
          <a:pPr marL="171450" lvl="1" indent="-171450" algn="l" defTabSz="800100">
            <a:lnSpc>
              <a:spcPct val="90000"/>
            </a:lnSpc>
            <a:spcBef>
              <a:spcPct val="0"/>
            </a:spcBef>
            <a:spcAft>
              <a:spcPct val="15000"/>
            </a:spcAft>
            <a:buChar char="••"/>
          </a:pPr>
          <a:r>
            <a:rPr lang="es-AR" sz="1800" kern="1200" dirty="0" smtClean="0"/>
            <a:t>Cuantificación de ingresos por ventas.</a:t>
          </a:r>
          <a:endParaRPr lang="es-AR" sz="1800" kern="1200" dirty="0"/>
        </a:p>
      </dsp:txBody>
      <dsp:txXfrm>
        <a:off x="5212159" y="1316833"/>
        <a:ext cx="3017440" cy="1316829"/>
      </dsp:txXfrm>
    </dsp:sp>
    <dsp:sp modelId="{31F51019-77B5-45A8-8E11-0394F9FC9E72}">
      <dsp:nvSpPr>
        <dsp:cNvPr id="0" name=""/>
        <dsp:cNvSpPr/>
      </dsp:nvSpPr>
      <dsp:spPr>
        <a:xfrm>
          <a:off x="5212159" y="2633663"/>
          <a:ext cx="3017440" cy="1316829"/>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s-AR" sz="1800" kern="1200" dirty="0" smtClean="0"/>
            <a:t>Cálculo de beneficios por diferentes criterios:</a:t>
          </a:r>
          <a:endParaRPr lang="es-AR" sz="1800" kern="1200" dirty="0"/>
        </a:p>
        <a:p>
          <a:pPr marL="171450" lvl="1" indent="-171450" algn="l" defTabSz="800100">
            <a:lnSpc>
              <a:spcPct val="90000"/>
            </a:lnSpc>
            <a:spcBef>
              <a:spcPct val="0"/>
            </a:spcBef>
            <a:spcAft>
              <a:spcPct val="15000"/>
            </a:spcAft>
            <a:buChar char="••"/>
          </a:pPr>
          <a:r>
            <a:rPr lang="es-AR" sz="1800" kern="1200" dirty="0" smtClean="0"/>
            <a:t>VAN, TIR; B/C</a:t>
          </a:r>
          <a:endParaRPr lang="es-AR" sz="1800" kern="1200" dirty="0"/>
        </a:p>
      </dsp:txBody>
      <dsp:txXfrm>
        <a:off x="5212159" y="2633663"/>
        <a:ext cx="3017440" cy="13168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2CABD-6967-431A-9BCE-B271A9565625}">
      <dsp:nvSpPr>
        <dsp:cNvPr id="0" name=""/>
        <dsp:cNvSpPr/>
      </dsp:nvSpPr>
      <dsp:spPr>
        <a:xfrm>
          <a:off x="0" y="82905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F95820-F342-4C7A-B391-800A7D9F5D80}">
      <dsp:nvSpPr>
        <dsp:cNvPr id="0" name=""/>
        <dsp:cNvSpPr/>
      </dsp:nvSpPr>
      <dsp:spPr>
        <a:xfrm>
          <a:off x="411480" y="430538"/>
          <a:ext cx="5760720" cy="797040"/>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histórico del mercado:</a:t>
          </a:r>
          <a:endParaRPr lang="es-AR" sz="2700" kern="1200" dirty="0"/>
        </a:p>
      </dsp:txBody>
      <dsp:txXfrm>
        <a:off x="450388" y="469446"/>
        <a:ext cx="5682904" cy="719224"/>
      </dsp:txXfrm>
    </dsp:sp>
    <dsp:sp modelId="{FA3F1794-9362-49B4-8B63-9245131E0F04}">
      <dsp:nvSpPr>
        <dsp:cNvPr id="0" name=""/>
        <dsp:cNvSpPr/>
      </dsp:nvSpPr>
      <dsp:spPr>
        <a:xfrm>
          <a:off x="0" y="205377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F9EA63-8A79-43DC-8384-19BB5209BD85}">
      <dsp:nvSpPr>
        <dsp:cNvPr id="0" name=""/>
        <dsp:cNvSpPr/>
      </dsp:nvSpPr>
      <dsp:spPr>
        <a:xfrm>
          <a:off x="411480" y="1655258"/>
          <a:ext cx="5760720" cy="797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de la situación vigente:</a:t>
          </a:r>
          <a:endParaRPr lang="es-AR" sz="2700" kern="1200" dirty="0"/>
        </a:p>
      </dsp:txBody>
      <dsp:txXfrm>
        <a:off x="450388" y="1694166"/>
        <a:ext cx="5682904" cy="719224"/>
      </dsp:txXfrm>
    </dsp:sp>
    <dsp:sp modelId="{39088B22-26D5-4B81-8393-6A363A087EB8}">
      <dsp:nvSpPr>
        <dsp:cNvPr id="0" name=""/>
        <dsp:cNvSpPr/>
      </dsp:nvSpPr>
      <dsp:spPr>
        <a:xfrm>
          <a:off x="0" y="3278498"/>
          <a:ext cx="8229600" cy="680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2277800-5462-4E3F-A007-4EF7B414B41A}">
      <dsp:nvSpPr>
        <dsp:cNvPr id="0" name=""/>
        <dsp:cNvSpPr/>
      </dsp:nvSpPr>
      <dsp:spPr>
        <a:xfrm>
          <a:off x="411480" y="2879978"/>
          <a:ext cx="5760720" cy="797040"/>
        </a:xfrm>
        <a:prstGeom prst="roundRect">
          <a:avLst/>
        </a:prstGeom>
        <a:solidFill>
          <a:srgbClr val="40C61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lvl="0" algn="l" defTabSz="1200150">
            <a:lnSpc>
              <a:spcPct val="90000"/>
            </a:lnSpc>
            <a:spcBef>
              <a:spcPct val="0"/>
            </a:spcBef>
            <a:spcAft>
              <a:spcPct val="35000"/>
            </a:spcAft>
          </a:pPr>
          <a:r>
            <a:rPr lang="es-AR" sz="2700" kern="1200" dirty="0" smtClean="0"/>
            <a:t>Análisis de la situación proyectada:</a:t>
          </a:r>
          <a:endParaRPr lang="es-AR" sz="2700" kern="1200" dirty="0"/>
        </a:p>
      </dsp:txBody>
      <dsp:txXfrm>
        <a:off x="450388" y="2918886"/>
        <a:ext cx="5682904" cy="7192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D2054-D9BC-4A75-8F2A-8BA7B4100BF9}">
      <dsp:nvSpPr>
        <dsp:cNvPr id="0" name=""/>
        <dsp:cNvSpPr/>
      </dsp:nvSpPr>
      <dsp:spPr>
        <a:xfrm>
          <a:off x="0"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Atomización de Mercado</a:t>
          </a:r>
          <a:endParaRPr lang="es-AR" sz="2700" kern="1200" dirty="0"/>
        </a:p>
      </dsp:txBody>
      <dsp:txXfrm>
        <a:off x="0" y="523080"/>
        <a:ext cx="2571749" cy="1543050"/>
      </dsp:txXfrm>
    </dsp:sp>
    <dsp:sp modelId="{535C7318-BF75-44DE-B47A-2BAAA90A88BD}">
      <dsp:nvSpPr>
        <dsp:cNvPr id="0" name=""/>
        <dsp:cNvSpPr/>
      </dsp:nvSpPr>
      <dsp:spPr>
        <a:xfrm>
          <a:off x="2828925"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Homogeneidad del Producto</a:t>
          </a:r>
          <a:endParaRPr lang="es-AR" sz="2700" kern="1200" dirty="0"/>
        </a:p>
      </dsp:txBody>
      <dsp:txXfrm>
        <a:off x="2828925" y="523080"/>
        <a:ext cx="2571749" cy="1543050"/>
      </dsp:txXfrm>
    </dsp:sp>
    <dsp:sp modelId="{6E90FB09-DC51-46A5-BF2C-B79DC36DC7A8}">
      <dsp:nvSpPr>
        <dsp:cNvPr id="0" name=""/>
        <dsp:cNvSpPr/>
      </dsp:nvSpPr>
      <dsp:spPr>
        <a:xfrm>
          <a:off x="5657849" y="523080"/>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Libre acceso al mercado.</a:t>
          </a:r>
          <a:endParaRPr lang="es-AR" sz="2700" kern="1200" dirty="0"/>
        </a:p>
      </dsp:txBody>
      <dsp:txXfrm>
        <a:off x="5657849" y="523080"/>
        <a:ext cx="2571749" cy="1543050"/>
      </dsp:txXfrm>
    </dsp:sp>
    <dsp:sp modelId="{E11C8FD8-884B-464D-BCA0-FBBB034C60DD}">
      <dsp:nvSpPr>
        <dsp:cNvPr id="0" name=""/>
        <dsp:cNvSpPr/>
      </dsp:nvSpPr>
      <dsp:spPr>
        <a:xfrm>
          <a:off x="1414462" y="2323305"/>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Transparencia: Información perfecta.</a:t>
          </a:r>
          <a:endParaRPr lang="es-AR" sz="2700" kern="1200" dirty="0"/>
        </a:p>
      </dsp:txBody>
      <dsp:txXfrm>
        <a:off x="1414462" y="2323305"/>
        <a:ext cx="2571749" cy="1543050"/>
      </dsp:txXfrm>
    </dsp:sp>
    <dsp:sp modelId="{A39800EF-8C87-4671-BA6F-EEC40B624346}">
      <dsp:nvSpPr>
        <dsp:cNvPr id="0" name=""/>
        <dsp:cNvSpPr/>
      </dsp:nvSpPr>
      <dsp:spPr>
        <a:xfrm>
          <a:off x="4243387" y="2323305"/>
          <a:ext cx="2571749" cy="15430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AR" sz="2700" kern="1200" dirty="0" smtClean="0"/>
            <a:t>Movilidad de recursos sin </a:t>
          </a:r>
          <a:r>
            <a:rPr lang="es-AR" sz="2700" kern="1200" dirty="0" err="1" smtClean="0"/>
            <a:t>restrcciones</a:t>
          </a:r>
          <a:r>
            <a:rPr lang="es-AR" sz="2700" kern="1200" dirty="0" smtClean="0"/>
            <a:t>.</a:t>
          </a:r>
          <a:endParaRPr lang="es-AR" sz="2700" kern="1200" dirty="0"/>
        </a:p>
      </dsp:txBody>
      <dsp:txXfrm>
        <a:off x="4243387" y="2323305"/>
        <a:ext cx="2571749" cy="1543050"/>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2FA704-E9E2-498C-B7C4-8DDCF23C0425}" type="datetimeFigureOut">
              <a:rPr lang="es-AR" smtClean="0"/>
              <a:t>21/4/2025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E45A2E-8AF8-4543-989A-6C9E5DB8F01E}" type="slidenum">
              <a:rPr lang="es-AR" smtClean="0"/>
              <a:t>‹Nº›</a:t>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ACE45A2E-8AF8-4543-989A-6C9E5DB8F01E}" type="slidenum">
              <a:rPr lang="es-AR" smtClean="0"/>
              <a:t>25</a:t>
            </a:fld>
            <a:endParaRPr lang="es-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B8560DDD-4186-4BBE-8C97-8A32C87C0210}" type="slidenum">
              <a:rPr lang="es-AR" smtClean="0"/>
              <a:pPr/>
              <a:t>34</a:t>
            </a:fld>
            <a:endParaRPr lang="es-AR"/>
          </a:p>
        </p:txBody>
      </p:sp>
    </p:spTree>
    <p:extLst>
      <p:ext uri="{BB962C8B-B14F-4D97-AF65-F5344CB8AC3E}">
        <p14:creationId xmlns:p14="http://schemas.microsoft.com/office/powerpoint/2010/main" val="2445311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sp>
        <p:nvSpPr>
          <p:cNvPr id="9" name="8 Título"/>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17" name="16 Subtítulo"/>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29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19" name="18 Marcador de pie de página"/>
          <p:cNvSpPr>
            <a:spLocks noGrp="1"/>
          </p:cNvSpPr>
          <p:nvPr>
            <p:ph type="ftr" sz="quarter" idx="11"/>
          </p:nvPr>
        </p:nvSpPr>
        <p:spPr/>
        <p:txBody>
          <a:bodyPr/>
          <a:lstStyle/>
          <a:p>
            <a:endParaRPr lang="es-AR"/>
          </a:p>
        </p:txBody>
      </p:sp>
      <p:sp>
        <p:nvSpPr>
          <p:cNvPr id="27" name="2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229600" cy="1143000"/>
          </a:xfrm>
        </p:spPr>
        <p:txBody>
          <a:bodyPr tIns="45720" anchor="b"/>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8 Recortar y redondear rectángulo de esquina sencilla"/>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11 Triángulo rectángulo"/>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1 Título"/>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a:xfrm>
            <a:off x="8077200" y="6356350"/>
            <a:ext cx="609600" cy="365125"/>
          </a:xfrm>
        </p:spPr>
        <p:txBody>
          <a:bodyPr/>
          <a:lstStyle/>
          <a:p>
            <a:fld id="{3FA7A2AA-9983-4E87-BF59-93B61ED52C10}" type="slidenum">
              <a:rPr lang="es-AR" smtClean="0"/>
              <a:pPr/>
              <a:t>‹Nº›</a:t>
            </a:fld>
            <a:endParaRPr lang="es-AR"/>
          </a:p>
        </p:txBody>
      </p:sp>
      <p:sp>
        <p:nvSpPr>
          <p:cNvPr id="3" name="2 Marcador de posición de imagen"/>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s-ES" smtClean="0"/>
              <a:t>Haga clic en el icono para agregar una imagen</a:t>
            </a:r>
            <a:endParaRPr kumimoji="0" lang="en-US" dirty="0"/>
          </a:p>
        </p:txBody>
      </p:sp>
      <p:sp>
        <p:nvSpPr>
          <p:cNvPr id="10" name="9 Forma libre"/>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10 Forma libre"/>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914401"/>
            <a:ext cx="2057400" cy="5211763"/>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914401"/>
            <a:ext cx="6019800" cy="5211763"/>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886E7CE1-792A-401A-9212-F319CEBDA129}" type="datetimeFigureOut">
              <a:rPr lang="es-AR" smtClean="0"/>
              <a:pPr/>
              <a:t>21/4/2025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3FA7A2AA-9983-4E87-BF59-93B61ED52C10}" type="slidenum">
              <a:rPr lang="es-AR" smtClean="0"/>
              <a:pPr/>
              <a:t>‹Nº›</a:t>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6 Forma libre"/>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7 Forma libre"/>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8 Marcador de título"/>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s-ES" smtClean="0"/>
              <a:t>Haga clic para modificar el estilo de título del patrón</a:t>
            </a:r>
            <a:endParaRPr kumimoji="0" lang="en-US"/>
          </a:p>
        </p:txBody>
      </p:sp>
      <p:sp>
        <p:nvSpPr>
          <p:cNvPr id="30" name="29 Marcador de texto"/>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9 Marcador de fecha"/>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86E7CE1-792A-401A-9212-F319CEBDA129}" type="datetimeFigureOut">
              <a:rPr lang="es-AR" smtClean="0"/>
              <a:pPr/>
              <a:t>21/4/2025</a:t>
            </a:fld>
            <a:endParaRPr lang="es-AR"/>
          </a:p>
        </p:txBody>
      </p:sp>
      <p:sp>
        <p:nvSpPr>
          <p:cNvPr id="22" name="21 Marcador de pie de página"/>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s-AR"/>
          </a:p>
        </p:txBody>
      </p:sp>
      <p:sp>
        <p:nvSpPr>
          <p:cNvPr id="18" name="17 Marcador de número de diapositiva"/>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FA7A2AA-9983-4E87-BF59-93B61ED52C10}" type="slidenum">
              <a:rPr lang="es-AR" smtClean="0"/>
              <a:pPr/>
              <a:t>‹Nº›</a:t>
            </a:fld>
            <a:endParaRPr lang="es-AR"/>
          </a:p>
        </p:txBody>
      </p:sp>
      <p:grpSp>
        <p:nvGrpSpPr>
          <p:cNvPr id="2" name="1 Grupo"/>
          <p:cNvGrpSpPr/>
          <p:nvPr/>
        </p:nvGrpSpPr>
        <p:grpSpPr>
          <a:xfrm>
            <a:off x="-19017" y="202408"/>
            <a:ext cx="9180548" cy="649224"/>
            <a:chOff x="-19045" y="216550"/>
            <a:chExt cx="9180548" cy="649224"/>
          </a:xfrm>
        </p:grpSpPr>
        <p:sp>
          <p:nvSpPr>
            <p:cNvPr id="12" name="11 Forma libre"/>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Forma libre"/>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package" Target="../embeddings/Hoja_de_c_lculo_de_Microsoft_Excel.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Economía Aplicada: Módulo Marketing.</a:t>
            </a:r>
            <a:endParaRPr lang="es-AR" dirty="0"/>
          </a:p>
        </p:txBody>
      </p:sp>
      <p:sp>
        <p:nvSpPr>
          <p:cNvPr id="3" name="2 Subtítulo"/>
          <p:cNvSpPr>
            <a:spLocks noGrp="1"/>
          </p:cNvSpPr>
          <p:nvPr>
            <p:ph type="subTitle" idx="1"/>
          </p:nvPr>
        </p:nvSpPr>
        <p:spPr/>
        <p:txBody>
          <a:bodyPr>
            <a:normAutofit fontScale="92500" lnSpcReduction="20000"/>
          </a:bodyPr>
          <a:lstStyle/>
          <a:p>
            <a:r>
              <a:rPr lang="es-AR" dirty="0" smtClean="0"/>
              <a:t>Bibliografía:</a:t>
            </a:r>
          </a:p>
          <a:p>
            <a:r>
              <a:rPr lang="es-AR" i="1" dirty="0" err="1" smtClean="0"/>
              <a:t>Kotler</a:t>
            </a:r>
            <a:r>
              <a:rPr lang="es-AR" i="1" dirty="0" smtClean="0"/>
              <a:t> P, Armstrong G (1991) Fundamentos de Mercadotecnia. 2da </a:t>
            </a:r>
            <a:r>
              <a:rPr lang="es-AR" i="1" dirty="0" err="1" smtClean="0"/>
              <a:t>Edic</a:t>
            </a:r>
            <a:r>
              <a:rPr lang="es-AR" i="1" dirty="0" smtClean="0"/>
              <a:t>.</a:t>
            </a:r>
          </a:p>
          <a:p>
            <a:r>
              <a:rPr lang="es-AR" i="1" dirty="0" err="1" smtClean="0"/>
              <a:t>Sapag</a:t>
            </a:r>
            <a:r>
              <a:rPr lang="es-AR" i="1" dirty="0" smtClean="0"/>
              <a:t> </a:t>
            </a:r>
            <a:r>
              <a:rPr lang="es-AR" i="1" dirty="0" err="1" smtClean="0"/>
              <a:t>Chain</a:t>
            </a:r>
            <a:r>
              <a:rPr lang="es-AR" i="1" dirty="0" smtClean="0"/>
              <a:t> N (2013) Preparación y Evaluación de Proyectos. Mc </a:t>
            </a:r>
            <a:r>
              <a:rPr lang="es-AR" i="1" dirty="0" err="1" smtClean="0"/>
              <a:t>Graw</a:t>
            </a:r>
            <a:r>
              <a:rPr lang="es-AR" i="1" dirty="0" smtClean="0"/>
              <a:t> Hill 6ta </a:t>
            </a:r>
            <a:r>
              <a:rPr lang="es-AR" i="1" dirty="0" err="1" smtClean="0"/>
              <a:t>Edic</a:t>
            </a:r>
            <a:r>
              <a:rPr lang="es-AR" i="1" dirty="0" smtClean="0"/>
              <a:t>.</a:t>
            </a:r>
            <a:endParaRPr lang="es-AR" i="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7030A0"/>
          </a:solidFill>
        </p:spPr>
        <p:txBody>
          <a:bodyPr/>
          <a:lstStyle/>
          <a:p>
            <a:r>
              <a:rPr lang="es-AR" b="1" dirty="0" smtClean="0">
                <a:solidFill>
                  <a:schemeClr val="tx1"/>
                </a:solidFill>
              </a:rPr>
              <a:t>Concepto de Marketing:</a:t>
            </a:r>
            <a:endParaRPr lang="es-AR" b="1" dirty="0">
              <a:solidFill>
                <a:schemeClr val="tx1"/>
              </a:solidFill>
            </a:endParaRPr>
          </a:p>
        </p:txBody>
      </p:sp>
      <p:sp>
        <p:nvSpPr>
          <p:cNvPr id="3" name="2 Marcador de contenido"/>
          <p:cNvSpPr>
            <a:spLocks noGrp="1"/>
          </p:cNvSpPr>
          <p:nvPr>
            <p:ph idx="1"/>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pPr algn="just"/>
            <a:r>
              <a:rPr lang="es-AR" dirty="0" smtClean="0"/>
              <a:t>Es un proceso social y administrativo por medio del cual individuos y grupos obtienen lo que necesitan y desean al crear e intercambiar productos y valores por otros.</a:t>
            </a:r>
          </a:p>
          <a:p>
            <a:pPr algn="just"/>
            <a:r>
              <a:rPr lang="es-AR" dirty="0" smtClean="0"/>
              <a:t>Estudia el comportamiento de los mercados y consumidores.</a:t>
            </a:r>
          </a:p>
          <a:p>
            <a:pPr algn="just"/>
            <a:r>
              <a:rPr lang="es-AR" dirty="0" smtClean="0"/>
              <a:t>Objetivo del marketing: Conocer y comprender tan bien al cliente que el producto o servicio se le adecúe y se venda por sí solo.</a:t>
            </a:r>
            <a:endParaRPr lang="es-A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57166"/>
            <a:ext cx="8229600" cy="1489922"/>
          </a:xfrm>
        </p:spPr>
        <p:txBody>
          <a:bodyPr/>
          <a:lstStyle/>
          <a:p>
            <a:r>
              <a:rPr lang="es-AR" dirty="0" smtClean="0"/>
              <a:t>Conceptos básicos:</a:t>
            </a:r>
            <a:endParaRPr lang="es-AR" dirty="0"/>
          </a:p>
        </p:txBody>
      </p:sp>
      <p:graphicFrame>
        <p:nvGraphicFramePr>
          <p:cNvPr id="4" name="3 Marcador de contenido"/>
          <p:cNvGraphicFramePr>
            <a:graphicFrameLocks noGrp="1"/>
          </p:cNvGraphicFramePr>
          <p:nvPr>
            <p:ph idx="1"/>
          </p:nvPr>
        </p:nvGraphicFramePr>
        <p:xfrm>
          <a:off x="457200" y="1785926"/>
          <a:ext cx="8229600" cy="4643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500042"/>
            <a:ext cx="8229600" cy="5929354"/>
          </a:xfrm>
        </p:spPr>
        <p:txBody>
          <a:bodyPr>
            <a:normAutofit/>
          </a:bodyPr>
          <a:lstStyle/>
          <a:p>
            <a:pPr algn="just"/>
            <a:r>
              <a:rPr lang="es-AR" b="1" dirty="0" smtClean="0"/>
              <a:t>Necesidad:</a:t>
            </a:r>
            <a:r>
              <a:rPr lang="es-AR" dirty="0" smtClean="0"/>
              <a:t> Experiencia de un estado de carencia.</a:t>
            </a:r>
          </a:p>
          <a:p>
            <a:pPr algn="just"/>
            <a:endParaRPr lang="es-AR" dirty="0" smtClean="0"/>
          </a:p>
          <a:p>
            <a:pPr algn="just"/>
            <a:r>
              <a:rPr lang="es-AR" b="1" dirty="0" smtClean="0"/>
              <a:t>Deseo:</a:t>
            </a:r>
            <a:r>
              <a:rPr lang="es-AR" dirty="0" smtClean="0"/>
              <a:t> Forma que adopta una necesidad humana tal como la configura la cultura y la personalidad.</a:t>
            </a:r>
          </a:p>
          <a:p>
            <a:pPr algn="just"/>
            <a:endParaRPr lang="es-AR" dirty="0" smtClean="0"/>
          </a:p>
          <a:p>
            <a:pPr algn="just"/>
            <a:r>
              <a:rPr lang="es-AR" b="1" dirty="0" smtClean="0"/>
              <a:t>Demandas:</a:t>
            </a:r>
            <a:r>
              <a:rPr lang="es-AR" dirty="0" smtClean="0"/>
              <a:t> Deseos humanos respaldados con poder adquisitivo.</a:t>
            </a:r>
          </a:p>
          <a:p>
            <a:pPr algn="just"/>
            <a:r>
              <a:rPr lang="es-AR" b="1" dirty="0" smtClean="0"/>
              <a:t>Producto:</a:t>
            </a:r>
            <a:r>
              <a:rPr lang="es-AR" dirty="0" smtClean="0"/>
              <a:t> Cualquier objeto que puede ofrecerse a la atención de un mercado para su adquisición, utilización o consumo.</a:t>
            </a:r>
          </a:p>
          <a:p>
            <a:pPr algn="just"/>
            <a:endParaRPr lang="es-AR" dirty="0" smtClean="0"/>
          </a:p>
          <a:p>
            <a:pPr algn="just"/>
            <a:r>
              <a:rPr lang="es-AR" b="1" dirty="0" smtClean="0"/>
              <a:t>Intercambio:</a:t>
            </a:r>
            <a:r>
              <a:rPr lang="es-AR" dirty="0" smtClean="0"/>
              <a:t> Acto de obtener de alguien un objeto deseado ofreciéndole algo a cambio.</a:t>
            </a:r>
            <a:endParaRPr lang="es-A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7030A0"/>
          </a:solidFill>
        </p:spPr>
        <p:txBody>
          <a:bodyPr/>
          <a:lstStyle/>
          <a:p>
            <a:r>
              <a:rPr lang="es-AR" b="1" dirty="0" smtClean="0">
                <a:solidFill>
                  <a:schemeClr val="tx1"/>
                </a:solidFill>
              </a:rPr>
              <a:t>Mercado y Marketing:</a:t>
            </a:r>
            <a:endParaRPr lang="es-AR" b="1" dirty="0">
              <a:solidFill>
                <a:schemeClr val="tx1"/>
              </a:solidFill>
            </a:endParaRPr>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olidFill>
            <a:srgbClr val="0070C0"/>
          </a:solidFill>
        </p:spPr>
        <p:txBody>
          <a:bodyPr/>
          <a:lstStyle/>
          <a:p>
            <a:r>
              <a:rPr lang="es-AR" b="1" dirty="0" smtClean="0">
                <a:solidFill>
                  <a:schemeClr val="tx1"/>
                </a:solidFill>
              </a:rPr>
              <a:t>Segmentación del Mercado</a:t>
            </a:r>
            <a:r>
              <a:rPr lang="es-AR" dirty="0" smtClean="0"/>
              <a:t>:</a:t>
            </a:r>
            <a:endParaRPr lang="es-AR" dirty="0"/>
          </a:p>
        </p:txBody>
      </p:sp>
      <p:graphicFrame>
        <p:nvGraphicFramePr>
          <p:cNvPr id="4" name="3 Marcador de contenido"/>
          <p:cNvGraphicFramePr>
            <a:graphicFrameLocks noGrp="1"/>
          </p:cNvGraphicFramePr>
          <p:nvPr>
            <p:ph idx="1"/>
          </p:nvPr>
        </p:nvGraphicFramePr>
        <p:xfrm>
          <a:off x="457200" y="1600200"/>
          <a:ext cx="8229600" cy="4900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s-AR" b="1" dirty="0" smtClean="0">
                <a:solidFill>
                  <a:schemeClr val="tx1"/>
                </a:solidFill>
              </a:rPr>
              <a:t>Tipos de Segmentación de mercado:</a:t>
            </a:r>
            <a:endParaRPr lang="es-AR" b="1" dirty="0">
              <a:solidFill>
                <a:schemeClr val="tx1"/>
              </a:solidFill>
            </a:endParaRPr>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Ejemplos:</a:t>
            </a:r>
            <a:endParaRPr lang="es-AR" dirty="0"/>
          </a:p>
        </p:txBody>
      </p:sp>
      <p:pic>
        <p:nvPicPr>
          <p:cNvPr id="1027" name="Picture 3"/>
          <p:cNvPicPr>
            <a:picLocks noGrp="1" noChangeAspect="1" noChangeArrowheads="1"/>
          </p:cNvPicPr>
          <p:nvPr>
            <p:ph idx="1"/>
          </p:nvPr>
        </p:nvPicPr>
        <p:blipFill>
          <a:blip r:embed="rId2"/>
          <a:srcRect/>
          <a:stretch>
            <a:fillRect/>
          </a:stretch>
        </p:blipFill>
        <p:spPr bwMode="auto">
          <a:xfrm>
            <a:off x="0" y="1600200"/>
            <a:ext cx="8572527" cy="4900634"/>
          </a:xfrm>
          <a:prstGeom prst="rect">
            <a:avLst/>
          </a:prstGeom>
          <a:noFill/>
          <a:ln w="9525">
            <a:noFill/>
            <a:miter lim="800000"/>
            <a:headEnd/>
            <a:tailEnd/>
          </a:ln>
          <a:effectLst/>
        </p:spPr>
      </p:pic>
      <p:sp>
        <p:nvSpPr>
          <p:cNvPr id="1026" name="AutoShape 2" descr="Resultado de imagen para segmentacion conductual de coca cola"/>
          <p:cNvSpPr>
            <a:spLocks noChangeAspect="1" noChangeArrowheads="1"/>
          </p:cNvSpPr>
          <p:nvPr/>
        </p:nvSpPr>
        <p:spPr bwMode="auto">
          <a:xfrm>
            <a:off x="155575" y="-1638300"/>
            <a:ext cx="4552950" cy="3419475"/>
          </a:xfrm>
          <a:prstGeom prst="rect">
            <a:avLst/>
          </a:prstGeom>
          <a:noFill/>
        </p:spPr>
        <p:txBody>
          <a:bodyPr vert="horz" wrap="square" lIns="91440" tIns="45720" rIns="91440" bIns="45720" numCol="1" anchor="t" anchorCtr="0" compatLnSpc="1">
            <a:prstTxWarp prst="textNoShape">
              <a:avLst/>
            </a:prstTxWarp>
          </a:bodyPr>
          <a:lstStyle/>
          <a:p>
            <a:endParaRPr lang="es-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a:t>
            </a:r>
            <a:r>
              <a:rPr lang="es-AR" dirty="0" err="1" smtClean="0"/>
              <a:t>psicográfica</a:t>
            </a:r>
            <a:r>
              <a:rPr lang="es-AR" dirty="0" smtClean="0"/>
              <a:t>:</a:t>
            </a:r>
            <a:endParaRPr lang="es-AR" dirty="0"/>
          </a:p>
        </p:txBody>
      </p:sp>
      <p:sp>
        <p:nvSpPr>
          <p:cNvPr id="3" name="Marcador de contenido 2"/>
          <p:cNvSpPr>
            <a:spLocks noGrp="1"/>
          </p:cNvSpPr>
          <p:nvPr>
            <p:ph idx="1"/>
          </p:nvPr>
        </p:nvSpPr>
        <p:spPr/>
        <p:txBody>
          <a:bodyPr/>
          <a:lstStyle/>
          <a:p>
            <a:r>
              <a:rPr lang="es-MX" dirty="0" smtClean="0"/>
              <a:t>Divide a los consumidores en grupos basados en características psicológicas como estilo de vida, personalidad, valores, actitudes.</a:t>
            </a:r>
          </a:p>
          <a:p>
            <a:r>
              <a:rPr lang="es-MX" dirty="0" smtClean="0"/>
              <a:t>Por </a:t>
            </a:r>
            <a:r>
              <a:rPr lang="es-MX" dirty="0" err="1" smtClean="0"/>
              <a:t>ej</a:t>
            </a:r>
            <a:r>
              <a:rPr lang="es-MX" dirty="0" smtClean="0"/>
              <a:t>: Una empresa que vende ropa deportiva podría segmentar a sus clientes en fitness, alto rendimiento, sedentarios, entre otros.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Ejemplos de segmentación de mercado:</a:t>
            </a:r>
            <a:endParaRPr lang="es-AR" dirty="0"/>
          </a:p>
        </p:txBody>
      </p:sp>
      <p:pic>
        <p:nvPicPr>
          <p:cNvPr id="27650" name="Picture 2"/>
          <p:cNvPicPr>
            <a:picLocks noGrp="1" noChangeAspect="1" noChangeArrowheads="1"/>
          </p:cNvPicPr>
          <p:nvPr>
            <p:ph idx="1"/>
          </p:nvPr>
        </p:nvPicPr>
        <p:blipFill>
          <a:blip r:embed="rId2"/>
          <a:srcRect/>
          <a:stretch>
            <a:fillRect/>
          </a:stretch>
        </p:blipFill>
        <p:spPr bwMode="auto">
          <a:xfrm>
            <a:off x="500034" y="0"/>
            <a:ext cx="8072493" cy="635795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conductual:</a:t>
            </a:r>
            <a:endParaRPr lang="es-AR" dirty="0"/>
          </a:p>
        </p:txBody>
      </p:sp>
      <p:sp>
        <p:nvSpPr>
          <p:cNvPr id="3" name="Marcador de contenido 2"/>
          <p:cNvSpPr>
            <a:spLocks noGrp="1"/>
          </p:cNvSpPr>
          <p:nvPr>
            <p:ph idx="1"/>
          </p:nvPr>
        </p:nvSpPr>
        <p:spPr>
          <a:xfrm>
            <a:off x="457200" y="1847088"/>
            <a:ext cx="8435280" cy="4477512"/>
          </a:xfrm>
        </p:spPr>
        <p:txBody>
          <a:bodyPr>
            <a:normAutofit fontScale="70000" lnSpcReduction="20000"/>
          </a:bodyPr>
          <a:lstStyle/>
          <a:p>
            <a:r>
              <a:rPr lang="es-MX" dirty="0" smtClean="0"/>
              <a:t>Es un proceso que agrupa a los clientes en función de sus acciones y comportamientos como hábitos de compra, uso de productos o servicios, reacciones a las promociones.</a:t>
            </a:r>
          </a:p>
          <a:p>
            <a:pPr marL="0" lvl="0" indent="0" algn="just" eaLnBrk="0" fontAlgn="base" hangingPunct="0">
              <a:spcBef>
                <a:spcPct val="0"/>
              </a:spcBef>
              <a:spcAft>
                <a:spcPct val="0"/>
              </a:spcAft>
              <a:buClrTx/>
              <a:buSzTx/>
              <a:buNone/>
            </a:pPr>
            <a:r>
              <a:rPr lang="en-US" altLang="en-US" sz="3200" dirty="0" err="1">
                <a:solidFill>
                  <a:schemeClr val="tx2"/>
                </a:solidFill>
                <a:latin typeface="Google Sans"/>
              </a:rPr>
              <a:t>Beneficios</a:t>
            </a:r>
            <a:r>
              <a:rPr lang="en-US" altLang="en-US" sz="3200" dirty="0">
                <a:solidFill>
                  <a:schemeClr val="tx2"/>
                </a:solidFill>
                <a:latin typeface="Google Sans"/>
              </a:rPr>
              <a:t> de la </a:t>
            </a:r>
            <a:r>
              <a:rPr lang="en-US" altLang="en-US" sz="3200" dirty="0" err="1">
                <a:solidFill>
                  <a:schemeClr val="tx2"/>
                </a:solidFill>
                <a:latin typeface="Google Sans"/>
              </a:rPr>
              <a:t>segmentación</a:t>
            </a:r>
            <a:r>
              <a:rPr lang="en-US" altLang="en-US" sz="3200" dirty="0">
                <a:solidFill>
                  <a:schemeClr val="tx2"/>
                </a:solidFill>
                <a:latin typeface="Google Sans"/>
              </a:rPr>
              <a:t> </a:t>
            </a:r>
            <a:r>
              <a:rPr lang="en-US" altLang="en-US" sz="3200" dirty="0" err="1">
                <a:solidFill>
                  <a:schemeClr val="tx2"/>
                </a:solidFill>
                <a:latin typeface="Google Sans"/>
              </a:rPr>
              <a:t>conductual</a:t>
            </a:r>
            <a:r>
              <a:rPr lang="en-US" altLang="en-US" sz="3200" dirty="0">
                <a:solidFill>
                  <a:schemeClr val="tx2"/>
                </a:solidFill>
                <a:latin typeface="Google Sans"/>
              </a:rPr>
              <a:t>:</a:t>
            </a:r>
            <a:endParaRPr lang="en-US" altLang="en-US" sz="1400" dirty="0">
              <a:solidFill>
                <a:schemeClr val="tx2"/>
              </a:solidFill>
            </a:endParaRPr>
          </a:p>
          <a:p>
            <a:pPr marL="0" lvl="0" indent="0" algn="just" eaLnBrk="0" fontAlgn="base" hangingPunct="0">
              <a:spcBef>
                <a:spcPct val="0"/>
              </a:spcBef>
              <a:spcAft>
                <a:spcPct val="0"/>
              </a:spcAft>
              <a:buClrTx/>
              <a:buSzTx/>
              <a:buFontTx/>
              <a:buChar char="•"/>
            </a:pPr>
            <a:r>
              <a:rPr lang="en-US" altLang="en-US" sz="2800" b="1" dirty="0">
                <a:solidFill>
                  <a:schemeClr val="tx2"/>
                </a:solidFill>
                <a:latin typeface="Google Sans"/>
              </a:rPr>
              <a:t>Mayor </a:t>
            </a:r>
            <a:r>
              <a:rPr lang="en-US" altLang="en-US" sz="2800" b="1" dirty="0" err="1">
                <a:solidFill>
                  <a:schemeClr val="tx2"/>
                </a:solidFill>
                <a:latin typeface="Google Sans"/>
              </a:rPr>
              <a:t>personalización</a:t>
            </a:r>
            <a:r>
              <a:rPr lang="en-US" altLang="en-US" sz="2800" b="1" dirty="0">
                <a:solidFill>
                  <a:schemeClr val="tx2"/>
                </a:solidFill>
                <a:latin typeface="Google Sans"/>
              </a:rPr>
              <a:t>:</a:t>
            </a:r>
            <a:endParaRPr lang="en-US" altLang="en-US" sz="2800" dirty="0">
              <a:solidFill>
                <a:schemeClr val="tx2"/>
              </a:solidFill>
              <a:latin typeface="Google Sans"/>
            </a:endParaRPr>
          </a:p>
          <a:p>
            <a:pPr marL="0" lvl="0" indent="0" algn="just" eaLnBrk="0" fontAlgn="base" hangingPunct="0">
              <a:spcBef>
                <a:spcPct val="0"/>
              </a:spcBef>
              <a:spcAft>
                <a:spcPct val="0"/>
              </a:spcAft>
              <a:buClrTx/>
              <a:buSzTx/>
              <a:buNone/>
            </a:pPr>
            <a:r>
              <a:rPr lang="en-US" altLang="en-US" sz="2800" dirty="0">
                <a:solidFill>
                  <a:schemeClr val="tx2"/>
                </a:solidFill>
                <a:latin typeface="Google Sans"/>
              </a:rPr>
              <a:t>se </a:t>
            </a:r>
            <a:r>
              <a:rPr lang="en-US" altLang="en-US" sz="2800" dirty="0" err="1">
                <a:solidFill>
                  <a:schemeClr val="tx2"/>
                </a:solidFill>
                <a:latin typeface="Google Sans"/>
              </a:rPr>
              <a:t>pueden</a:t>
            </a:r>
            <a:r>
              <a:rPr lang="en-US" altLang="en-US" sz="2800" dirty="0">
                <a:solidFill>
                  <a:schemeClr val="tx2"/>
                </a:solidFill>
                <a:latin typeface="Google Sans"/>
              </a:rPr>
              <a:t> </a:t>
            </a:r>
            <a:r>
              <a:rPr lang="en-US" altLang="en-US" sz="2800" dirty="0" err="1">
                <a:solidFill>
                  <a:schemeClr val="tx2"/>
                </a:solidFill>
                <a:latin typeface="Google Sans"/>
              </a:rPr>
              <a:t>enviar</a:t>
            </a:r>
            <a:r>
              <a:rPr lang="en-US" altLang="en-US" sz="2800" dirty="0">
                <a:solidFill>
                  <a:schemeClr val="tx2"/>
                </a:solidFill>
                <a:latin typeface="Google Sans"/>
              </a:rPr>
              <a:t> </a:t>
            </a:r>
            <a:r>
              <a:rPr lang="en-US" altLang="en-US" sz="2800" dirty="0" err="1">
                <a:solidFill>
                  <a:schemeClr val="tx2"/>
                </a:solidFill>
                <a:latin typeface="Google Sans"/>
              </a:rPr>
              <a:t>mensajes</a:t>
            </a:r>
            <a:r>
              <a:rPr lang="en-US" altLang="en-US" sz="2800" dirty="0">
                <a:solidFill>
                  <a:schemeClr val="tx2"/>
                </a:solidFill>
                <a:latin typeface="Google Sans"/>
              </a:rPr>
              <a:t> y </a:t>
            </a:r>
            <a:r>
              <a:rPr lang="en-US" altLang="en-US" sz="2800" dirty="0" err="1">
                <a:solidFill>
                  <a:schemeClr val="tx2"/>
                </a:solidFill>
                <a:latin typeface="Google Sans"/>
              </a:rPr>
              <a:t>ofertas</a:t>
            </a:r>
            <a:r>
              <a:rPr lang="en-US" altLang="en-US" sz="2800" dirty="0">
                <a:solidFill>
                  <a:schemeClr val="tx2"/>
                </a:solidFill>
                <a:latin typeface="Google Sans"/>
              </a:rPr>
              <a:t> </a:t>
            </a:r>
            <a:r>
              <a:rPr lang="en-US" altLang="en-US" sz="2800" dirty="0" err="1">
                <a:solidFill>
                  <a:schemeClr val="tx2"/>
                </a:solidFill>
                <a:latin typeface="Google Sans"/>
              </a:rPr>
              <a:t>más</a:t>
            </a:r>
            <a:r>
              <a:rPr lang="en-US" altLang="en-US" sz="2800" dirty="0">
                <a:solidFill>
                  <a:schemeClr val="tx2"/>
                </a:solidFill>
                <a:latin typeface="Google Sans"/>
              </a:rPr>
              <a:t> </a:t>
            </a:r>
            <a:r>
              <a:rPr lang="en-US" altLang="en-US" sz="2800" dirty="0" err="1">
                <a:solidFill>
                  <a:schemeClr val="tx2"/>
                </a:solidFill>
                <a:latin typeface="Google Sans"/>
              </a:rPr>
              <a:t>relevantes</a:t>
            </a:r>
            <a:r>
              <a:rPr lang="en-US" altLang="en-US" sz="2800" dirty="0">
                <a:solidFill>
                  <a:schemeClr val="tx2"/>
                </a:solidFill>
                <a:latin typeface="Google Sans"/>
              </a:rPr>
              <a:t> a </a:t>
            </a:r>
            <a:r>
              <a:rPr lang="en-US" altLang="en-US" sz="2800" dirty="0" err="1">
                <a:solidFill>
                  <a:schemeClr val="tx2"/>
                </a:solidFill>
                <a:latin typeface="Google Sans"/>
              </a:rPr>
              <a:t>cada</a:t>
            </a:r>
            <a:r>
              <a:rPr lang="en-US" altLang="en-US" sz="2800" dirty="0">
                <a:solidFill>
                  <a:schemeClr val="tx2"/>
                </a:solidFill>
                <a:latin typeface="Google Sans"/>
              </a:rPr>
              <a:t> </a:t>
            </a:r>
            <a:r>
              <a:rPr lang="en-US" altLang="en-US" sz="2800" dirty="0" err="1">
                <a:solidFill>
                  <a:schemeClr val="tx2"/>
                </a:solidFill>
                <a:latin typeface="Google Sans"/>
              </a:rPr>
              <a:t>grupo</a:t>
            </a:r>
            <a:r>
              <a:rPr lang="en-US" altLang="en-US" sz="2800" dirty="0">
                <a:solidFill>
                  <a:schemeClr val="tx2"/>
                </a:solidFill>
                <a:latin typeface="Google Sans"/>
              </a:rPr>
              <a:t> de </a:t>
            </a:r>
            <a:r>
              <a:rPr lang="en-US" altLang="en-US" sz="2800" dirty="0" err="1">
                <a:solidFill>
                  <a:schemeClr val="tx2"/>
                </a:solidFill>
                <a:latin typeface="Google Sans"/>
              </a:rPr>
              <a:t>clientes</a:t>
            </a:r>
            <a:r>
              <a:rPr lang="en-US" altLang="en-US" sz="2800" dirty="0">
                <a:solidFill>
                  <a:schemeClr val="tx2"/>
                </a:solidFill>
                <a:latin typeface="Google Sans"/>
              </a:rPr>
              <a:t>. </a:t>
            </a:r>
          </a:p>
          <a:p>
            <a:pPr marL="0" lvl="0" indent="0" algn="just" eaLnBrk="0" fontAlgn="base" hangingPunct="0">
              <a:spcBef>
                <a:spcPct val="0"/>
              </a:spcBef>
              <a:spcAft>
                <a:spcPct val="0"/>
              </a:spcAft>
              <a:buClrTx/>
              <a:buSzTx/>
              <a:buFontTx/>
              <a:buChar char="•"/>
            </a:pPr>
            <a:r>
              <a:rPr lang="en-US" altLang="en-US" sz="2800" b="1" dirty="0">
                <a:solidFill>
                  <a:schemeClr val="tx2"/>
                </a:solidFill>
                <a:latin typeface="Google Sans"/>
              </a:rPr>
              <a:t>Mayor </a:t>
            </a:r>
            <a:r>
              <a:rPr lang="en-US" altLang="en-US" sz="2800" b="1" dirty="0" err="1">
                <a:solidFill>
                  <a:schemeClr val="tx2"/>
                </a:solidFill>
                <a:latin typeface="Google Sans"/>
              </a:rPr>
              <a:t>efectividad</a:t>
            </a:r>
            <a:r>
              <a:rPr lang="en-US" altLang="en-US" sz="2800" b="1" dirty="0">
                <a:solidFill>
                  <a:schemeClr val="tx2"/>
                </a:solidFill>
                <a:latin typeface="Google Sans"/>
              </a:rPr>
              <a:t>:</a:t>
            </a:r>
            <a:endParaRPr lang="en-US" altLang="en-US" sz="2800" dirty="0">
              <a:solidFill>
                <a:schemeClr val="tx2"/>
              </a:solidFill>
              <a:latin typeface="Google Sans"/>
            </a:endParaRPr>
          </a:p>
          <a:p>
            <a:pPr marL="0" lvl="0" indent="0" algn="just" eaLnBrk="0" fontAlgn="base" hangingPunct="0">
              <a:spcBef>
                <a:spcPct val="0"/>
              </a:spcBef>
              <a:spcAft>
                <a:spcPct val="0"/>
              </a:spcAft>
              <a:buClrTx/>
              <a:buSzTx/>
              <a:buNone/>
            </a:pPr>
            <a:r>
              <a:rPr lang="en-US" altLang="en-US" sz="2800" dirty="0">
                <a:solidFill>
                  <a:schemeClr val="tx2"/>
                </a:solidFill>
                <a:latin typeface="Google Sans"/>
              </a:rPr>
              <a:t>las </a:t>
            </a:r>
            <a:r>
              <a:rPr lang="en-US" altLang="en-US" sz="2800" dirty="0" err="1">
                <a:solidFill>
                  <a:schemeClr val="tx2"/>
                </a:solidFill>
                <a:latin typeface="Google Sans"/>
              </a:rPr>
              <a:t>campañas</a:t>
            </a:r>
            <a:r>
              <a:rPr lang="en-US" altLang="en-US" sz="2800" dirty="0">
                <a:solidFill>
                  <a:schemeClr val="tx2"/>
                </a:solidFill>
                <a:latin typeface="Google Sans"/>
              </a:rPr>
              <a:t> de marketing son </a:t>
            </a:r>
            <a:r>
              <a:rPr lang="en-US" altLang="en-US" sz="2800" dirty="0" err="1">
                <a:solidFill>
                  <a:schemeClr val="tx2"/>
                </a:solidFill>
                <a:latin typeface="Google Sans"/>
              </a:rPr>
              <a:t>más</a:t>
            </a:r>
            <a:r>
              <a:rPr lang="en-US" altLang="en-US" sz="2800" dirty="0">
                <a:solidFill>
                  <a:schemeClr val="tx2"/>
                </a:solidFill>
                <a:latin typeface="Google Sans"/>
              </a:rPr>
              <a:t> </a:t>
            </a:r>
            <a:r>
              <a:rPr lang="en-US" altLang="en-US" sz="2800" dirty="0" err="1">
                <a:solidFill>
                  <a:schemeClr val="tx2"/>
                </a:solidFill>
                <a:latin typeface="Google Sans"/>
              </a:rPr>
              <a:t>precisas</a:t>
            </a:r>
            <a:r>
              <a:rPr lang="en-US" altLang="en-US" sz="2800" dirty="0">
                <a:solidFill>
                  <a:schemeClr val="tx2"/>
                </a:solidFill>
                <a:latin typeface="Google Sans"/>
              </a:rPr>
              <a:t> y </a:t>
            </a:r>
            <a:r>
              <a:rPr lang="en-US" altLang="en-US" sz="2800" dirty="0" err="1">
                <a:solidFill>
                  <a:schemeClr val="tx2"/>
                </a:solidFill>
                <a:latin typeface="Google Sans"/>
              </a:rPr>
              <a:t>alcanzan</a:t>
            </a:r>
            <a:r>
              <a:rPr lang="en-US" altLang="en-US" sz="2800" dirty="0">
                <a:solidFill>
                  <a:schemeClr val="tx2"/>
                </a:solidFill>
                <a:latin typeface="Google Sans"/>
              </a:rPr>
              <a:t> a </a:t>
            </a:r>
            <a:r>
              <a:rPr lang="en-US" altLang="en-US" sz="2800" dirty="0" err="1">
                <a:solidFill>
                  <a:schemeClr val="tx2"/>
                </a:solidFill>
                <a:latin typeface="Google Sans"/>
              </a:rPr>
              <a:t>los</a:t>
            </a:r>
            <a:r>
              <a:rPr lang="en-US" altLang="en-US" sz="2800" dirty="0">
                <a:solidFill>
                  <a:schemeClr val="tx2"/>
                </a:solidFill>
                <a:latin typeface="Google Sans"/>
              </a:rPr>
              <a:t> </a:t>
            </a:r>
            <a:r>
              <a:rPr lang="en-US" altLang="en-US" sz="2800" dirty="0" err="1">
                <a:solidFill>
                  <a:schemeClr val="tx2"/>
                </a:solidFill>
                <a:latin typeface="Google Sans"/>
              </a:rPr>
              <a:t>clientes</a:t>
            </a:r>
            <a:r>
              <a:rPr lang="en-US" altLang="en-US" sz="2800" dirty="0">
                <a:solidFill>
                  <a:schemeClr val="tx2"/>
                </a:solidFill>
                <a:latin typeface="Google Sans"/>
              </a:rPr>
              <a:t> </a:t>
            </a:r>
            <a:r>
              <a:rPr lang="en-US" altLang="en-US" sz="2800" dirty="0" err="1">
                <a:solidFill>
                  <a:schemeClr val="tx2"/>
                </a:solidFill>
                <a:latin typeface="Google Sans"/>
              </a:rPr>
              <a:t>más</a:t>
            </a:r>
            <a:r>
              <a:rPr lang="en-US" altLang="en-US" sz="2800" dirty="0">
                <a:solidFill>
                  <a:schemeClr val="tx2"/>
                </a:solidFill>
                <a:latin typeface="Google Sans"/>
              </a:rPr>
              <a:t> </a:t>
            </a:r>
            <a:r>
              <a:rPr lang="en-US" altLang="en-US" sz="2800" dirty="0" err="1">
                <a:solidFill>
                  <a:schemeClr val="tx2"/>
                </a:solidFill>
                <a:latin typeface="Google Sans"/>
              </a:rPr>
              <a:t>propensos</a:t>
            </a:r>
            <a:r>
              <a:rPr lang="en-US" altLang="en-US" sz="2800" dirty="0">
                <a:solidFill>
                  <a:schemeClr val="tx2"/>
                </a:solidFill>
                <a:latin typeface="Google Sans"/>
              </a:rPr>
              <a:t> a la </a:t>
            </a:r>
            <a:r>
              <a:rPr lang="en-US" altLang="en-US" sz="2800" dirty="0" err="1">
                <a:solidFill>
                  <a:schemeClr val="tx2"/>
                </a:solidFill>
                <a:latin typeface="Google Sans"/>
              </a:rPr>
              <a:t>conversión</a:t>
            </a:r>
            <a:r>
              <a:rPr lang="en-US" altLang="en-US" sz="2800" dirty="0">
                <a:solidFill>
                  <a:schemeClr val="tx2"/>
                </a:solidFill>
                <a:latin typeface="Google Sans"/>
              </a:rPr>
              <a:t>. </a:t>
            </a:r>
          </a:p>
          <a:p>
            <a:pPr marL="0" lvl="0" indent="0" algn="just" eaLnBrk="0" fontAlgn="base" hangingPunct="0">
              <a:spcBef>
                <a:spcPct val="0"/>
              </a:spcBef>
              <a:spcAft>
                <a:spcPct val="0"/>
              </a:spcAft>
              <a:buClrTx/>
              <a:buSzTx/>
              <a:buFontTx/>
              <a:buChar char="•"/>
            </a:pPr>
            <a:r>
              <a:rPr lang="en-US" altLang="en-US" sz="2800" b="1" dirty="0" err="1">
                <a:solidFill>
                  <a:schemeClr val="tx2"/>
                </a:solidFill>
                <a:latin typeface="Google Sans"/>
              </a:rPr>
              <a:t>Mejor</a:t>
            </a:r>
            <a:r>
              <a:rPr lang="en-US" altLang="en-US" sz="2800" b="1" dirty="0">
                <a:solidFill>
                  <a:schemeClr val="tx2"/>
                </a:solidFill>
                <a:latin typeface="Google Sans"/>
              </a:rPr>
              <a:t> </a:t>
            </a:r>
            <a:r>
              <a:rPr lang="en-US" altLang="en-US" sz="2800" b="1" dirty="0" err="1">
                <a:solidFill>
                  <a:schemeClr val="tx2"/>
                </a:solidFill>
                <a:latin typeface="Google Sans"/>
              </a:rPr>
              <a:t>retención</a:t>
            </a:r>
            <a:r>
              <a:rPr lang="en-US" altLang="en-US" sz="2800" b="1" dirty="0">
                <a:solidFill>
                  <a:schemeClr val="tx2"/>
                </a:solidFill>
                <a:latin typeface="Google Sans"/>
              </a:rPr>
              <a:t> de </a:t>
            </a:r>
            <a:r>
              <a:rPr lang="en-US" altLang="en-US" sz="2800" b="1" dirty="0" err="1">
                <a:solidFill>
                  <a:schemeClr val="tx2"/>
                </a:solidFill>
                <a:latin typeface="Google Sans"/>
              </a:rPr>
              <a:t>clientes</a:t>
            </a:r>
            <a:r>
              <a:rPr lang="en-US" altLang="en-US" sz="2800" b="1" dirty="0">
                <a:solidFill>
                  <a:schemeClr val="tx2"/>
                </a:solidFill>
                <a:latin typeface="Google Sans"/>
              </a:rPr>
              <a:t>:</a:t>
            </a:r>
            <a:endParaRPr lang="en-US" altLang="en-US" sz="2800" dirty="0">
              <a:solidFill>
                <a:schemeClr val="tx2"/>
              </a:solidFill>
              <a:latin typeface="Google Sans"/>
            </a:endParaRPr>
          </a:p>
          <a:p>
            <a:pPr marL="0" lvl="0" indent="0" algn="just" eaLnBrk="0" fontAlgn="base" hangingPunct="0">
              <a:spcBef>
                <a:spcPct val="0"/>
              </a:spcBef>
              <a:spcAft>
                <a:spcPct val="0"/>
              </a:spcAft>
              <a:buClrTx/>
              <a:buSzTx/>
              <a:buNone/>
            </a:pPr>
            <a:r>
              <a:rPr lang="en-US" altLang="en-US" sz="2800" dirty="0">
                <a:solidFill>
                  <a:schemeClr val="tx2"/>
                </a:solidFill>
                <a:latin typeface="Google Sans"/>
              </a:rPr>
              <a:t>al </a:t>
            </a:r>
            <a:r>
              <a:rPr lang="en-US" altLang="en-US" sz="2800" dirty="0" err="1">
                <a:solidFill>
                  <a:schemeClr val="tx2"/>
                </a:solidFill>
                <a:latin typeface="Google Sans"/>
              </a:rPr>
              <a:t>comprender</a:t>
            </a:r>
            <a:r>
              <a:rPr lang="en-US" altLang="en-US" sz="2800" dirty="0">
                <a:solidFill>
                  <a:schemeClr val="tx2"/>
                </a:solidFill>
                <a:latin typeface="Google Sans"/>
              </a:rPr>
              <a:t> </a:t>
            </a:r>
            <a:r>
              <a:rPr lang="en-US" altLang="en-US" sz="2800" dirty="0" err="1">
                <a:solidFill>
                  <a:schemeClr val="tx2"/>
                </a:solidFill>
                <a:latin typeface="Google Sans"/>
              </a:rPr>
              <a:t>mejor</a:t>
            </a:r>
            <a:r>
              <a:rPr lang="en-US" altLang="en-US" sz="2800" dirty="0">
                <a:solidFill>
                  <a:schemeClr val="tx2"/>
                </a:solidFill>
                <a:latin typeface="Google Sans"/>
              </a:rPr>
              <a:t> las </a:t>
            </a:r>
            <a:r>
              <a:rPr lang="en-US" altLang="en-US" sz="2800" dirty="0" err="1">
                <a:solidFill>
                  <a:schemeClr val="tx2"/>
                </a:solidFill>
                <a:latin typeface="Google Sans"/>
              </a:rPr>
              <a:t>necesidades</a:t>
            </a:r>
            <a:r>
              <a:rPr lang="en-US" altLang="en-US" sz="2800" dirty="0">
                <a:solidFill>
                  <a:schemeClr val="tx2"/>
                </a:solidFill>
                <a:latin typeface="Google Sans"/>
              </a:rPr>
              <a:t> y </a:t>
            </a:r>
            <a:r>
              <a:rPr lang="en-US" altLang="en-US" sz="2800" dirty="0" err="1">
                <a:solidFill>
                  <a:schemeClr val="tx2"/>
                </a:solidFill>
                <a:latin typeface="Google Sans"/>
              </a:rPr>
              <a:t>preferencias</a:t>
            </a:r>
            <a:r>
              <a:rPr lang="en-US" altLang="en-US" sz="2800" dirty="0">
                <a:solidFill>
                  <a:schemeClr val="tx2"/>
                </a:solidFill>
                <a:latin typeface="Google Sans"/>
              </a:rPr>
              <a:t> de </a:t>
            </a:r>
            <a:r>
              <a:rPr lang="en-US" altLang="en-US" sz="2800" dirty="0" err="1">
                <a:solidFill>
                  <a:schemeClr val="tx2"/>
                </a:solidFill>
                <a:latin typeface="Google Sans"/>
              </a:rPr>
              <a:t>los</a:t>
            </a:r>
            <a:r>
              <a:rPr lang="en-US" altLang="en-US" sz="2800" dirty="0">
                <a:solidFill>
                  <a:schemeClr val="tx2"/>
                </a:solidFill>
                <a:latin typeface="Google Sans"/>
              </a:rPr>
              <a:t> </a:t>
            </a:r>
            <a:r>
              <a:rPr lang="en-US" altLang="en-US" sz="2800" dirty="0" err="1">
                <a:solidFill>
                  <a:schemeClr val="tx2"/>
                </a:solidFill>
                <a:latin typeface="Google Sans"/>
              </a:rPr>
              <a:t>clientes</a:t>
            </a:r>
            <a:r>
              <a:rPr lang="en-US" altLang="en-US" sz="2800" dirty="0">
                <a:solidFill>
                  <a:schemeClr val="tx2"/>
                </a:solidFill>
                <a:latin typeface="Google Sans"/>
              </a:rPr>
              <a:t>, se </a:t>
            </a:r>
            <a:r>
              <a:rPr lang="en-US" altLang="en-US" sz="2800" dirty="0" err="1">
                <a:solidFill>
                  <a:schemeClr val="tx2"/>
                </a:solidFill>
                <a:latin typeface="Google Sans"/>
              </a:rPr>
              <a:t>puede</a:t>
            </a:r>
            <a:r>
              <a:rPr lang="en-US" altLang="en-US" sz="2800" dirty="0">
                <a:solidFill>
                  <a:schemeClr val="tx2"/>
                </a:solidFill>
                <a:latin typeface="Google Sans"/>
              </a:rPr>
              <a:t> </a:t>
            </a:r>
            <a:r>
              <a:rPr lang="en-US" altLang="en-US" sz="2800" dirty="0" err="1">
                <a:solidFill>
                  <a:schemeClr val="tx2"/>
                </a:solidFill>
                <a:latin typeface="Google Sans"/>
              </a:rPr>
              <a:t>ofrecer</a:t>
            </a:r>
            <a:r>
              <a:rPr lang="en-US" altLang="en-US" sz="2800" dirty="0">
                <a:solidFill>
                  <a:schemeClr val="tx2"/>
                </a:solidFill>
                <a:latin typeface="Google Sans"/>
              </a:rPr>
              <a:t> </a:t>
            </a:r>
            <a:r>
              <a:rPr lang="en-US" altLang="en-US" sz="2800" dirty="0" err="1">
                <a:solidFill>
                  <a:schemeClr val="tx2"/>
                </a:solidFill>
                <a:latin typeface="Google Sans"/>
              </a:rPr>
              <a:t>una</a:t>
            </a:r>
            <a:r>
              <a:rPr lang="en-US" altLang="en-US" sz="2800" dirty="0">
                <a:solidFill>
                  <a:schemeClr val="tx2"/>
                </a:solidFill>
                <a:latin typeface="Google Sans"/>
              </a:rPr>
              <a:t> </a:t>
            </a:r>
            <a:r>
              <a:rPr lang="en-US" altLang="en-US" sz="2800" dirty="0" err="1">
                <a:solidFill>
                  <a:schemeClr val="tx2"/>
                </a:solidFill>
                <a:latin typeface="Google Sans"/>
              </a:rPr>
              <a:t>experiencia</a:t>
            </a:r>
            <a:r>
              <a:rPr lang="en-US" altLang="en-US" sz="2800" dirty="0">
                <a:solidFill>
                  <a:schemeClr val="tx2"/>
                </a:solidFill>
                <a:latin typeface="Google Sans"/>
              </a:rPr>
              <a:t> </a:t>
            </a:r>
            <a:r>
              <a:rPr lang="en-US" altLang="en-US" sz="2800" dirty="0" err="1">
                <a:solidFill>
                  <a:schemeClr val="tx2"/>
                </a:solidFill>
                <a:latin typeface="Google Sans"/>
              </a:rPr>
              <a:t>más</a:t>
            </a:r>
            <a:r>
              <a:rPr lang="en-US" altLang="en-US" sz="2800" dirty="0">
                <a:solidFill>
                  <a:schemeClr val="tx2"/>
                </a:solidFill>
                <a:latin typeface="Google Sans"/>
              </a:rPr>
              <a:t> </a:t>
            </a:r>
            <a:r>
              <a:rPr lang="en-US" altLang="en-US" sz="2800" dirty="0" err="1">
                <a:solidFill>
                  <a:schemeClr val="tx2"/>
                </a:solidFill>
                <a:latin typeface="Google Sans"/>
              </a:rPr>
              <a:t>personalizada</a:t>
            </a:r>
            <a:r>
              <a:rPr lang="en-US" altLang="en-US" sz="2800" dirty="0">
                <a:solidFill>
                  <a:schemeClr val="tx2"/>
                </a:solidFill>
                <a:latin typeface="Google Sans"/>
              </a:rPr>
              <a:t> y </a:t>
            </a:r>
            <a:r>
              <a:rPr lang="en-US" altLang="en-US" sz="2800" dirty="0" err="1">
                <a:solidFill>
                  <a:schemeClr val="tx2"/>
                </a:solidFill>
                <a:latin typeface="Google Sans"/>
              </a:rPr>
              <a:t>fomentar</a:t>
            </a:r>
            <a:r>
              <a:rPr lang="en-US" altLang="en-US" sz="2800" dirty="0">
                <a:solidFill>
                  <a:schemeClr val="tx2"/>
                </a:solidFill>
                <a:latin typeface="Google Sans"/>
              </a:rPr>
              <a:t> la </a:t>
            </a:r>
            <a:r>
              <a:rPr lang="en-US" altLang="en-US" sz="2800" dirty="0" err="1">
                <a:solidFill>
                  <a:schemeClr val="tx2"/>
                </a:solidFill>
                <a:latin typeface="Google Sans"/>
              </a:rPr>
              <a:t>lealtad</a:t>
            </a:r>
            <a:r>
              <a:rPr lang="en-US" altLang="en-US" sz="2800" dirty="0">
                <a:solidFill>
                  <a:schemeClr val="tx2"/>
                </a:solidFill>
                <a:latin typeface="Google Sans"/>
              </a:rPr>
              <a:t>. </a:t>
            </a:r>
          </a:p>
          <a:p>
            <a:pPr marL="0" lvl="0" indent="0" algn="just" eaLnBrk="0" fontAlgn="base" hangingPunct="0">
              <a:spcBef>
                <a:spcPct val="0"/>
              </a:spcBef>
              <a:spcAft>
                <a:spcPct val="0"/>
              </a:spcAft>
              <a:buClrTx/>
              <a:buSzTx/>
              <a:buFontTx/>
              <a:buChar char="•"/>
            </a:pPr>
            <a:r>
              <a:rPr lang="en-US" altLang="en-US" sz="2800" b="1" dirty="0" err="1">
                <a:solidFill>
                  <a:schemeClr val="tx2"/>
                </a:solidFill>
                <a:latin typeface="Google Sans"/>
              </a:rPr>
              <a:t>Identificación</a:t>
            </a:r>
            <a:r>
              <a:rPr lang="en-US" altLang="en-US" sz="2800" b="1" dirty="0">
                <a:solidFill>
                  <a:schemeClr val="tx2"/>
                </a:solidFill>
                <a:latin typeface="Google Sans"/>
              </a:rPr>
              <a:t> de </a:t>
            </a:r>
            <a:r>
              <a:rPr lang="en-US" altLang="en-US" sz="2800" b="1" dirty="0" err="1">
                <a:solidFill>
                  <a:schemeClr val="tx2"/>
                </a:solidFill>
                <a:latin typeface="Google Sans"/>
              </a:rPr>
              <a:t>oportunidades</a:t>
            </a:r>
            <a:r>
              <a:rPr lang="en-US" altLang="en-US" sz="2800" b="1" dirty="0">
                <a:solidFill>
                  <a:schemeClr val="tx2"/>
                </a:solidFill>
                <a:latin typeface="Google Sans"/>
              </a:rPr>
              <a:t>:</a:t>
            </a:r>
            <a:endParaRPr lang="en-US" altLang="en-US" sz="2800" dirty="0">
              <a:solidFill>
                <a:schemeClr val="tx2"/>
              </a:solidFill>
              <a:latin typeface="Google Sans"/>
            </a:endParaRPr>
          </a:p>
          <a:p>
            <a:pPr marL="0" lvl="0" indent="0" algn="just" eaLnBrk="0" fontAlgn="base" hangingPunct="0">
              <a:spcBef>
                <a:spcPct val="0"/>
              </a:spcBef>
              <a:spcAft>
                <a:spcPct val="0"/>
              </a:spcAft>
              <a:buClrTx/>
              <a:buSzTx/>
              <a:buNone/>
            </a:pPr>
            <a:r>
              <a:rPr lang="en-US" altLang="en-US" sz="2800" dirty="0" err="1">
                <a:solidFill>
                  <a:schemeClr val="tx2"/>
                </a:solidFill>
                <a:latin typeface="Google Sans"/>
              </a:rPr>
              <a:t>permite</a:t>
            </a:r>
            <a:r>
              <a:rPr lang="en-US" altLang="en-US" sz="2800" dirty="0">
                <a:solidFill>
                  <a:schemeClr val="tx2"/>
                </a:solidFill>
                <a:latin typeface="Google Sans"/>
              </a:rPr>
              <a:t> </a:t>
            </a:r>
            <a:r>
              <a:rPr lang="en-US" altLang="en-US" sz="2800" dirty="0" err="1">
                <a:solidFill>
                  <a:schemeClr val="tx2"/>
                </a:solidFill>
                <a:latin typeface="Google Sans"/>
              </a:rPr>
              <a:t>identificar</a:t>
            </a:r>
            <a:r>
              <a:rPr lang="en-US" altLang="en-US" sz="2800" dirty="0">
                <a:solidFill>
                  <a:schemeClr val="tx2"/>
                </a:solidFill>
                <a:latin typeface="Google Sans"/>
              </a:rPr>
              <a:t> </a:t>
            </a:r>
            <a:r>
              <a:rPr lang="en-US" altLang="en-US" sz="2800" dirty="0" err="1">
                <a:solidFill>
                  <a:schemeClr val="tx2"/>
                </a:solidFill>
                <a:latin typeface="Google Sans"/>
              </a:rPr>
              <a:t>grupos</a:t>
            </a:r>
            <a:r>
              <a:rPr lang="en-US" altLang="en-US" sz="2800" dirty="0">
                <a:solidFill>
                  <a:schemeClr val="tx2"/>
                </a:solidFill>
                <a:latin typeface="Google Sans"/>
              </a:rPr>
              <a:t> de </a:t>
            </a:r>
            <a:r>
              <a:rPr lang="en-US" altLang="en-US" sz="2800" dirty="0" err="1">
                <a:solidFill>
                  <a:schemeClr val="tx2"/>
                </a:solidFill>
                <a:latin typeface="Google Sans"/>
              </a:rPr>
              <a:t>clientes</a:t>
            </a:r>
            <a:r>
              <a:rPr lang="en-US" altLang="en-US" sz="2800" dirty="0">
                <a:solidFill>
                  <a:schemeClr val="tx2"/>
                </a:solidFill>
                <a:latin typeface="Google Sans"/>
              </a:rPr>
              <a:t> con alto </a:t>
            </a:r>
            <a:r>
              <a:rPr lang="en-US" altLang="en-US" sz="2800" dirty="0" err="1">
                <a:solidFill>
                  <a:schemeClr val="tx2"/>
                </a:solidFill>
                <a:latin typeface="Google Sans"/>
              </a:rPr>
              <a:t>potencial</a:t>
            </a:r>
            <a:r>
              <a:rPr lang="en-US" altLang="en-US" sz="2800" dirty="0">
                <a:solidFill>
                  <a:schemeClr val="tx2"/>
                </a:solidFill>
                <a:latin typeface="Google Sans"/>
              </a:rPr>
              <a:t> de </a:t>
            </a:r>
            <a:r>
              <a:rPr lang="en-US" altLang="en-US" sz="2800" dirty="0" err="1">
                <a:solidFill>
                  <a:schemeClr val="tx2"/>
                </a:solidFill>
                <a:latin typeface="Google Sans"/>
              </a:rPr>
              <a:t>crecimiento</a:t>
            </a:r>
            <a:r>
              <a:rPr lang="en-US" altLang="en-US" sz="2800" dirty="0">
                <a:solidFill>
                  <a:schemeClr val="tx2"/>
                </a:solidFill>
                <a:latin typeface="Google Sans"/>
              </a:rPr>
              <a:t> y </a:t>
            </a:r>
            <a:r>
              <a:rPr lang="en-US" altLang="en-US" sz="2800" dirty="0" err="1">
                <a:solidFill>
                  <a:schemeClr val="tx2"/>
                </a:solidFill>
                <a:latin typeface="Google Sans"/>
              </a:rPr>
              <a:t>oportunidades</a:t>
            </a:r>
            <a:r>
              <a:rPr lang="en-US" altLang="en-US" sz="2800" dirty="0">
                <a:solidFill>
                  <a:schemeClr val="tx2"/>
                </a:solidFill>
                <a:latin typeface="Google Sans"/>
              </a:rPr>
              <a:t> para </a:t>
            </a:r>
            <a:r>
              <a:rPr lang="en-US" altLang="en-US" sz="2800" dirty="0" err="1">
                <a:solidFill>
                  <a:schemeClr val="tx2"/>
                </a:solidFill>
                <a:latin typeface="Google Sans"/>
              </a:rPr>
              <a:t>mejorar</a:t>
            </a:r>
            <a:r>
              <a:rPr lang="en-US" altLang="en-US" sz="2800" dirty="0">
                <a:solidFill>
                  <a:schemeClr val="tx2"/>
                </a:solidFill>
                <a:latin typeface="Google Sans"/>
              </a:rPr>
              <a:t> la </a:t>
            </a:r>
            <a:r>
              <a:rPr lang="en-US" altLang="en-US" sz="2800" dirty="0" err="1">
                <a:solidFill>
                  <a:schemeClr val="tx2"/>
                </a:solidFill>
                <a:latin typeface="Google Sans"/>
              </a:rPr>
              <a:t>experiencia</a:t>
            </a:r>
            <a:r>
              <a:rPr lang="en-US" altLang="en-US" sz="2800" dirty="0">
                <a:solidFill>
                  <a:schemeClr val="tx2"/>
                </a:solidFill>
                <a:latin typeface="Google Sans"/>
              </a:rPr>
              <a:t> del </a:t>
            </a:r>
            <a:r>
              <a:rPr lang="en-US" altLang="en-US" sz="2800" dirty="0" err="1">
                <a:solidFill>
                  <a:schemeClr val="tx2"/>
                </a:solidFill>
                <a:latin typeface="Google Sans"/>
              </a:rPr>
              <a:t>cliente</a:t>
            </a:r>
            <a:r>
              <a:rPr lang="en-US" altLang="en-US" sz="2800" dirty="0">
                <a:solidFill>
                  <a:schemeClr val="tx2"/>
                </a:solidFill>
                <a:latin typeface="Google Sans"/>
              </a:rPr>
              <a:t>. </a:t>
            </a:r>
          </a:p>
          <a:p>
            <a:pPr algn="just"/>
            <a:endParaRPr lang="es-MX"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Características:</a:t>
            </a:r>
            <a:endParaRPr lang="en-US" dirty="0"/>
          </a:p>
        </p:txBody>
      </p:sp>
      <p:sp>
        <p:nvSpPr>
          <p:cNvPr id="4" name="Rectangle 1"/>
          <p:cNvSpPr>
            <a:spLocks noGrp="1" noChangeArrowheads="1"/>
          </p:cNvSpPr>
          <p:nvPr>
            <p:ph idx="1"/>
          </p:nvPr>
        </p:nvSpPr>
        <p:spPr bwMode="auto">
          <a:xfrm>
            <a:off x="457200" y="2186441"/>
            <a:ext cx="7787207" cy="38871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smtClean="0">
              <a:ln>
                <a:noFill/>
              </a:ln>
              <a:solidFill>
                <a:srgbClr val="001D35"/>
              </a:solidFill>
              <a:effectLst/>
              <a:latin typeface="Google Sans"/>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Comportamiento</a:t>
            </a:r>
            <a:r>
              <a:rPr kumimoji="0" lang="en-US" altLang="en-US" sz="2000" b="1" i="0" u="none" strike="noStrike" cap="none" normalizeH="0" baseline="0" dirty="0" smtClean="0">
                <a:ln>
                  <a:noFill/>
                </a:ln>
                <a:solidFill>
                  <a:schemeClr val="tx2"/>
                </a:solidFill>
                <a:effectLst/>
                <a:latin typeface="Google Sans"/>
              </a:rPr>
              <a:t> de </a:t>
            </a:r>
            <a:r>
              <a:rPr kumimoji="0" lang="en-US" altLang="en-US" sz="2000" b="1" i="0" u="none" strike="noStrike" cap="none" normalizeH="0" baseline="0" dirty="0" err="1" smtClean="0">
                <a:ln>
                  <a:noFill/>
                </a:ln>
                <a:solidFill>
                  <a:schemeClr val="tx2"/>
                </a:solidFill>
                <a:effectLst/>
                <a:latin typeface="Google Sans"/>
              </a:rPr>
              <a:t>compra</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frecuencia</a:t>
            </a:r>
            <a:r>
              <a:rPr kumimoji="0" lang="en-US" altLang="en-US" sz="2000" b="0" i="0" u="none" strike="noStrike" cap="none" normalizeH="0" baseline="0" dirty="0" smtClean="0">
                <a:ln>
                  <a:noFill/>
                </a:ln>
                <a:solidFill>
                  <a:schemeClr val="tx2"/>
                </a:solidFill>
                <a:effectLst/>
                <a:latin typeface="Google Sans"/>
              </a:rPr>
              <a:t>, valor de </a:t>
            </a:r>
            <a:r>
              <a:rPr kumimoji="0" lang="en-US" altLang="en-US" sz="2000" b="0" i="0" u="none" strike="noStrike" cap="none" normalizeH="0" baseline="0" dirty="0" err="1" smtClean="0">
                <a:ln>
                  <a:noFill/>
                </a:ln>
                <a:solidFill>
                  <a:schemeClr val="tx2"/>
                </a:solidFill>
                <a:effectLst/>
                <a:latin typeface="Google Sans"/>
              </a:rPr>
              <a:t>compra</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productos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más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comprados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Uso</a:t>
            </a:r>
            <a:r>
              <a:rPr kumimoji="0" lang="en-US" altLang="en-US" sz="2000" b="1" i="0" u="none" strike="noStrike" cap="none" normalizeH="0" baseline="0" dirty="0" smtClean="0">
                <a:ln>
                  <a:noFill/>
                </a:ln>
                <a:solidFill>
                  <a:schemeClr val="tx2"/>
                </a:solidFill>
                <a:effectLst/>
                <a:latin typeface="Google Sans"/>
              </a:rPr>
              <a:t> de </a:t>
            </a:r>
            <a:r>
              <a:rPr kumimoji="0" lang="en-US" altLang="en-US" sz="2000" b="1" i="0" u="none" strike="noStrike" cap="none" normalizeH="0" baseline="0" dirty="0" err="1" smtClean="0">
                <a:ln>
                  <a:noFill/>
                </a:ln>
                <a:solidFill>
                  <a:schemeClr val="tx2"/>
                </a:solidFill>
                <a:effectLst/>
                <a:latin typeface="Google Sans"/>
              </a:rPr>
              <a:t>productos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1" i="0" u="none" strike="noStrike" cap="none" normalizeH="0" baseline="0" dirty="0" err="1" smtClean="0">
                <a:ln>
                  <a:noFill/>
                </a:ln>
                <a:solidFill>
                  <a:schemeClr val="tx2"/>
                </a:solidFill>
                <a:effectLst/>
                <a:latin typeface="Google Sans"/>
              </a:rPr>
              <a:t>servicios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cómo</a:t>
            </a:r>
            <a:r>
              <a:rPr kumimoji="0" lang="en-US" altLang="en-US" sz="2000" b="0" i="0" u="none" strike="noStrike" cap="none" normalizeH="0" baseline="0" dirty="0" smtClean="0">
                <a:ln>
                  <a:noFill/>
                </a:ln>
                <a:solidFill>
                  <a:schemeClr val="tx2"/>
                </a:solidFill>
                <a:effectLst/>
                <a:latin typeface="Google Sans"/>
              </a:rPr>
              <a:t> y con </a:t>
            </a:r>
            <a:r>
              <a:rPr kumimoji="0" lang="en-US" altLang="en-US" sz="2000" b="0" i="0" u="none" strike="noStrike" cap="none" normalizeH="0" baseline="0" dirty="0" err="1" smtClean="0">
                <a:ln>
                  <a:noFill/>
                </a:ln>
                <a:solidFill>
                  <a:schemeClr val="tx2"/>
                </a:solidFill>
                <a:effectLst/>
                <a:latin typeface="Google Sans"/>
              </a:rPr>
              <a:t>qué</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frecuencia</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usan</a:t>
            </a:r>
            <a:r>
              <a:rPr kumimoji="0" lang="en-US" altLang="en-US" sz="2000" b="0" i="0" u="none" strike="noStrike" cap="none" normalizeH="0" baseline="0" dirty="0" smtClean="0">
                <a:ln>
                  <a:noFill/>
                </a:ln>
                <a:solidFill>
                  <a:schemeClr val="tx2"/>
                </a:solidFill>
                <a:effectLst/>
                <a:latin typeface="Google Sans"/>
              </a:rPr>
              <a:t> el </a:t>
            </a:r>
            <a:r>
              <a:rPr kumimoji="0" lang="en-US" altLang="en-US" sz="2000" b="0" i="0" u="none" strike="noStrike" cap="none" normalizeH="0" baseline="0" dirty="0" err="1" smtClean="0">
                <a:ln>
                  <a:noFill/>
                </a:ln>
                <a:solidFill>
                  <a:schemeClr val="tx2"/>
                </a:solidFill>
                <a:effectLst/>
                <a:latin typeface="Google Sans"/>
              </a:rPr>
              <a:t>producto</a:t>
            </a:r>
            <a:r>
              <a:rPr kumimoji="0" lang="en-US" altLang="en-US" sz="2000" b="0" i="0" u="none" strike="noStrike" cap="none" normalizeH="0" baseline="0" dirty="0" smtClean="0">
                <a:ln>
                  <a:noFill/>
                </a:ln>
                <a:solidFill>
                  <a:schemeClr val="tx2"/>
                </a:solidFill>
                <a:effectLst/>
                <a:latin typeface="Google Sans"/>
              </a:rPr>
              <a:t>, las </a:t>
            </a:r>
            <a:r>
              <a:rPr kumimoji="0" lang="en-US" altLang="en-US" sz="2000" b="0" i="0" u="none" strike="noStrike" cap="none" normalizeH="0" baseline="0" dirty="0" err="1" smtClean="0">
                <a:ln>
                  <a:noFill/>
                </a:ln>
                <a:solidFill>
                  <a:schemeClr val="tx2"/>
                </a:solidFill>
                <a:effectLst/>
                <a:latin typeface="Google Sans"/>
              </a:rPr>
              <a:t>funciones</a:t>
            </a:r>
            <a:r>
              <a:rPr kumimoji="0" lang="en-US" altLang="en-US" sz="2000" b="0" i="0" u="none" strike="noStrike" cap="none" normalizeH="0" baseline="0" dirty="0" smtClean="0">
                <a:ln>
                  <a:noFill/>
                </a:ln>
                <a:solidFill>
                  <a:schemeClr val="tx2"/>
                </a:solidFill>
                <a:effectLst/>
                <a:latin typeface="Google Sans"/>
              </a:rPr>
              <a:t> que </a:t>
            </a:r>
            <a:r>
              <a:rPr kumimoji="0" lang="en-US" altLang="en-US" sz="2000" b="0" i="0" u="none" strike="noStrike" cap="none" normalizeH="0" baseline="0" dirty="0" err="1" smtClean="0">
                <a:ln>
                  <a:noFill/>
                </a:ln>
                <a:solidFill>
                  <a:schemeClr val="tx2"/>
                </a:solidFill>
                <a:effectLst/>
                <a:latin typeface="Google Sans"/>
              </a:rPr>
              <a:t>más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utilizan</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Interacción</a:t>
            </a:r>
            <a:r>
              <a:rPr kumimoji="0" lang="en-US" altLang="en-US" sz="2000" b="1" i="0" u="none" strike="noStrike" cap="none" normalizeH="0" baseline="0" dirty="0" smtClean="0">
                <a:ln>
                  <a:noFill/>
                </a:ln>
                <a:solidFill>
                  <a:schemeClr val="tx2"/>
                </a:solidFill>
                <a:effectLst/>
                <a:latin typeface="Google Sans"/>
              </a:rPr>
              <a:t> online:</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visitas</a:t>
            </a:r>
            <a:r>
              <a:rPr kumimoji="0" lang="en-US" altLang="en-US" sz="2000" b="0" i="0" u="none" strike="noStrike" cap="none" normalizeH="0" baseline="0" dirty="0" smtClean="0">
                <a:ln>
                  <a:noFill/>
                </a:ln>
                <a:solidFill>
                  <a:schemeClr val="tx2"/>
                </a:solidFill>
                <a:effectLst/>
                <a:latin typeface="Google Sans"/>
              </a:rPr>
              <a:t> a </a:t>
            </a:r>
            <a:r>
              <a:rPr kumimoji="0" lang="en-US" altLang="en-US" sz="2000" b="0" i="0" u="none" strike="noStrike" cap="none" normalizeH="0" baseline="0" dirty="0" err="1" smtClean="0">
                <a:ln>
                  <a:noFill/>
                </a:ln>
                <a:solidFill>
                  <a:schemeClr val="tx2"/>
                </a:solidFill>
                <a:effectLst/>
                <a:latin typeface="Google Sans"/>
              </a:rPr>
              <a:t>páginas</a:t>
            </a:r>
            <a:r>
              <a:rPr kumimoji="0" lang="en-US" altLang="en-US" sz="2000" b="0" i="0" u="none" strike="noStrike" cap="none" normalizeH="0" baseline="0" dirty="0" smtClean="0">
                <a:ln>
                  <a:noFill/>
                </a:ln>
                <a:solidFill>
                  <a:schemeClr val="tx2"/>
                </a:solidFill>
                <a:effectLst/>
                <a:latin typeface="Google Sans"/>
              </a:rPr>
              <a:t> web, </a:t>
            </a:r>
            <a:r>
              <a:rPr kumimoji="0" lang="en-US" altLang="en-US" sz="2000" b="0" i="0" u="none" strike="noStrike" cap="none" normalizeH="0" baseline="0" dirty="0" err="1" smtClean="0">
                <a:ln>
                  <a:noFill/>
                </a:ln>
                <a:solidFill>
                  <a:schemeClr val="tx2"/>
                </a:solidFill>
                <a:effectLst/>
                <a:latin typeface="Google Sans"/>
              </a:rPr>
              <a:t>suscripciones</a:t>
            </a:r>
            <a:r>
              <a:rPr kumimoji="0" lang="en-US" altLang="en-US" sz="2000" b="0" i="0" u="none" strike="noStrike" cap="none" normalizeH="0" baseline="0" dirty="0" smtClean="0">
                <a:ln>
                  <a:noFill/>
                </a:ln>
                <a:solidFill>
                  <a:schemeClr val="tx2"/>
                </a:solidFill>
                <a:effectLst/>
                <a:latin typeface="Google Sans"/>
              </a:rPr>
              <a:t> a newsletters, </a:t>
            </a:r>
            <a:r>
              <a:rPr kumimoji="0" lang="en-US" altLang="en-US" sz="2000" b="0" i="0" u="none" strike="noStrike" cap="none" normalizeH="0" baseline="0" dirty="0" err="1" smtClean="0">
                <a:ln>
                  <a:noFill/>
                </a:ln>
                <a:solidFill>
                  <a:schemeClr val="tx2"/>
                </a:solidFill>
                <a:effectLst/>
                <a:latin typeface="Google Sans"/>
              </a:rPr>
              <a:t>participación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redes</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sociales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Respuesta</a:t>
            </a:r>
            <a:r>
              <a:rPr kumimoji="0" lang="en-US" altLang="en-US" sz="2000" b="1" i="0" u="none" strike="noStrike" cap="none" normalizeH="0" baseline="0" dirty="0" smtClean="0">
                <a:ln>
                  <a:noFill/>
                </a:ln>
                <a:solidFill>
                  <a:schemeClr val="tx2"/>
                </a:solidFill>
                <a:effectLst/>
                <a:latin typeface="Google Sans"/>
              </a:rPr>
              <a:t> a </a:t>
            </a:r>
            <a:r>
              <a:rPr kumimoji="0" lang="en-US" altLang="en-US" sz="2000" b="1" i="0" u="none" strike="noStrike" cap="none" normalizeH="0" baseline="0" dirty="0" err="1" smtClean="0">
                <a:ln>
                  <a:noFill/>
                </a:ln>
                <a:solidFill>
                  <a:schemeClr val="tx2"/>
                </a:solidFill>
                <a:effectLst/>
                <a:latin typeface="Google Sans"/>
              </a:rPr>
              <a:t>promociones</a:t>
            </a:r>
            <a:r>
              <a:rPr kumimoji="0" lang="en-US" altLang="en-US" sz="2000" b="1" i="0" u="none" strike="noStrike" cap="none" normalizeH="0" baseline="0" dirty="0" smtClean="0">
                <a:ln>
                  <a:noFill/>
                </a:ln>
                <a:solidFill>
                  <a:schemeClr val="tx2"/>
                </a:solidFill>
                <a:effectLst/>
                <a:latin typeface="Google Sans"/>
              </a:rPr>
              <a:t>:</a:t>
            </a:r>
            <a:r>
              <a:rPr kumimoji="0" lang="en-US" altLang="en-US" sz="2000" b="0" i="0" u="none" strike="noStrike" cap="none" normalizeH="0" baseline="0" dirty="0" smtClean="0">
                <a:ln>
                  <a:noFill/>
                </a:ln>
                <a:solidFill>
                  <a:schemeClr val="tx2"/>
                </a:solidFill>
                <a:effectLst/>
                <a:latin typeface="Google Sans"/>
              </a:rPr>
              <a:t> click-through rates, </a:t>
            </a:r>
            <a:r>
              <a:rPr kumimoji="0" lang="en-US" altLang="en-US" sz="2000" b="0" i="0" u="none" strike="noStrike" cap="none" normalizeH="0" baseline="0" dirty="0" err="1" smtClean="0">
                <a:ln>
                  <a:noFill/>
                </a:ln>
                <a:solidFill>
                  <a:schemeClr val="tx2"/>
                </a:solidFill>
                <a:effectLst/>
                <a:latin typeface="Google Sans"/>
              </a:rPr>
              <a:t>conversión</a:t>
            </a:r>
            <a:r>
              <a:rPr kumimoji="0" lang="en-US" altLang="en-US" sz="2000" b="0" i="0" u="none" strike="noStrike" cap="none" normalizeH="0" baseline="0" dirty="0" smtClean="0">
                <a:ln>
                  <a:noFill/>
                </a:ln>
                <a:solidFill>
                  <a:schemeClr val="tx2"/>
                </a:solidFill>
                <a:effectLst/>
                <a:latin typeface="Google Sans"/>
              </a:rPr>
              <a:t> de </a:t>
            </a:r>
            <a:r>
              <a:rPr kumimoji="0" lang="en-US" altLang="en-US" sz="2000" b="0" i="0" u="none" strike="noStrike" cap="none" normalizeH="0" baseline="0" dirty="0" err="1" smtClean="0">
                <a:ln>
                  <a:noFill/>
                </a:ln>
                <a:solidFill>
                  <a:schemeClr val="tx2"/>
                </a:solidFill>
                <a:effectLst/>
                <a:latin typeface="Google Sans"/>
              </a:rPr>
              <a:t>promociones</a:t>
            </a:r>
            <a:r>
              <a:rPr kumimoji="0" lang="en-US" altLang="en-US" sz="2000" b="0" i="0" u="none" strike="noStrike" cap="none" normalizeH="0" baseline="0" dirty="0" smtClean="0">
                <a:ln>
                  <a:noFill/>
                </a:ln>
                <a:solidFill>
                  <a:schemeClr val="tx2"/>
                </a:solidFill>
                <a:effectLst/>
                <a:latin typeface="Google Sans"/>
              </a:rPr>
              <a:t>,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smtClean="0">
                <a:ln>
                  <a:noFill/>
                </a:ln>
                <a:solidFill>
                  <a:schemeClr val="tx2"/>
                </a:solidFill>
                <a:effectLst/>
                <a:latin typeface="Google Sans"/>
              </a:rPr>
              <a:t>Etapa</a:t>
            </a:r>
            <a:r>
              <a:rPr kumimoji="0" lang="en-US" altLang="en-US" sz="2000" b="1" i="0" u="none" strike="noStrike" cap="none" normalizeH="0" baseline="0" dirty="0" smtClean="0">
                <a:ln>
                  <a:noFill/>
                </a:ln>
                <a:solidFill>
                  <a:schemeClr val="tx2"/>
                </a:solidFill>
                <a:effectLst/>
                <a:latin typeface="Google Sans"/>
              </a:rPr>
              <a:t> del buyer journey:</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qué</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etapa</a:t>
            </a:r>
            <a:r>
              <a:rPr kumimoji="0" lang="en-US" altLang="en-US" sz="2000" b="0" i="0" u="none" strike="noStrike" cap="none" normalizeH="0" baseline="0" dirty="0" smtClean="0">
                <a:ln>
                  <a:noFill/>
                </a:ln>
                <a:solidFill>
                  <a:schemeClr val="tx2"/>
                </a:solidFill>
                <a:effectLst/>
                <a:latin typeface="Google Sans"/>
              </a:rPr>
              <a:t> del </a:t>
            </a:r>
            <a:r>
              <a:rPr kumimoji="0" lang="en-US" altLang="en-US" sz="2000" b="0" i="0" u="none" strike="noStrike" cap="none" normalizeH="0" baseline="0" dirty="0" err="1" smtClean="0">
                <a:ln>
                  <a:noFill/>
                </a:ln>
                <a:solidFill>
                  <a:schemeClr val="tx2"/>
                </a:solidFill>
                <a:effectLst/>
                <a:latin typeface="Google Sans"/>
              </a:rPr>
              <a:t>proceso</a:t>
            </a:r>
            <a:r>
              <a:rPr kumimoji="0" lang="en-US" altLang="en-US" sz="2000" b="0" i="0" u="none" strike="noStrike" cap="none" normalizeH="0" baseline="0" dirty="0" smtClean="0">
                <a:ln>
                  <a:noFill/>
                </a:ln>
                <a:solidFill>
                  <a:schemeClr val="tx2"/>
                </a:solidFill>
                <a:effectLst/>
                <a:latin typeface="Google Sans"/>
              </a:rPr>
              <a:t> de </a:t>
            </a:r>
            <a:r>
              <a:rPr kumimoji="0" lang="en-US" altLang="en-US" sz="2000" b="0" i="0" u="none" strike="noStrike" cap="none" normalizeH="0" baseline="0" dirty="0" err="1" smtClean="0">
                <a:ln>
                  <a:noFill/>
                </a:ln>
                <a:solidFill>
                  <a:schemeClr val="tx2"/>
                </a:solidFill>
                <a:effectLst/>
                <a:latin typeface="Google Sans"/>
              </a:rPr>
              <a:t>compra</a:t>
            </a:r>
            <a:r>
              <a:rPr kumimoji="0" lang="en-US" altLang="en-US" sz="2000" b="0" i="0" u="none" strike="noStrike" cap="none" normalizeH="0" baseline="0" dirty="0" smtClean="0">
                <a:ln>
                  <a:noFill/>
                </a:ln>
                <a:solidFill>
                  <a:schemeClr val="tx2"/>
                </a:solidFill>
                <a:effectLst/>
                <a:latin typeface="Google Sans"/>
              </a:rPr>
              <a:t> se </a:t>
            </a:r>
            <a:r>
              <a:rPr kumimoji="0" lang="en-US" altLang="en-US" sz="2000" b="0" i="0" u="none" strike="noStrike" cap="none" normalizeH="0" baseline="0" dirty="0" err="1" smtClean="0">
                <a:ln>
                  <a:noFill/>
                </a:ln>
                <a:solidFill>
                  <a:schemeClr val="tx2"/>
                </a:solidFill>
                <a:effectLst/>
                <a:latin typeface="Google Sans"/>
              </a:rPr>
              <a:t>encuentran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conocimiento</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consideración</a:t>
            </a:r>
            <a:r>
              <a:rPr kumimoji="0" lang="en-US" altLang="en-US" sz="2000" b="0" i="0" u="none" strike="noStrike" cap="none" normalizeH="0" baseline="0" dirty="0" smtClean="0">
                <a:ln>
                  <a:noFill/>
                </a:ln>
                <a:solidFill>
                  <a:schemeClr val="tx2"/>
                </a:solidFill>
                <a:effectLst/>
                <a:latin typeface="Google Sans"/>
              </a:rPr>
              <a:t>, </a:t>
            </a:r>
            <a:r>
              <a:rPr kumimoji="0" lang="en-US" altLang="en-US" sz="2000" b="0" i="0" u="none" strike="noStrike" cap="none" normalizeH="0" baseline="0" dirty="0" err="1" smtClean="0">
                <a:ln>
                  <a:noFill/>
                </a:ln>
                <a:solidFill>
                  <a:schemeClr val="tx2"/>
                </a:solidFill>
                <a:effectLst/>
                <a:latin typeface="Google Sans"/>
              </a:rPr>
              <a:t>decisión</a:t>
            </a:r>
            <a:r>
              <a:rPr kumimoji="0" lang="en-US" altLang="en-US" sz="2000" b="0" i="0" u="none" strike="noStrike" cap="none" normalizeH="0" baseline="0" dirty="0" smtClean="0">
                <a:ln>
                  <a:noFill/>
                </a:ln>
                <a:solidFill>
                  <a:schemeClr val="tx2"/>
                </a:solidFill>
                <a:effectLst/>
                <a:latin typeface="Google Sans"/>
              </a:rPr>
              <a:t>).</a:t>
            </a:r>
            <a:r>
              <a:rPr kumimoji="0" lang="en-US" altLang="en-US" sz="2400" b="0" i="0" u="none" strike="noStrike" cap="none" normalizeH="0" baseline="0" dirty="0" smtClean="0">
                <a:ln>
                  <a:noFill/>
                </a:ln>
                <a:solidFill>
                  <a:schemeClr val="tx2"/>
                </a:solidFill>
                <a:effectLst/>
                <a:latin typeface="Google Sans"/>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42364450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Segmentación demográfica:</a:t>
            </a:r>
            <a:endParaRPr lang="es-AR" dirty="0"/>
          </a:p>
        </p:txBody>
      </p:sp>
      <p:sp>
        <p:nvSpPr>
          <p:cNvPr id="3" name="Marcador de contenido 2"/>
          <p:cNvSpPr>
            <a:spLocks noGrp="1"/>
          </p:cNvSpPr>
          <p:nvPr>
            <p:ph idx="1"/>
          </p:nvPr>
        </p:nvSpPr>
        <p:spPr/>
        <p:txBody>
          <a:bodyPr/>
          <a:lstStyle/>
          <a:p>
            <a:pPr algn="just"/>
            <a:r>
              <a:rPr lang="es-MX" dirty="0" smtClean="0"/>
              <a:t>Proceso que divide a la audiencia en grupos según características demográficas como edad, género, ingresos, nivel educativo, etc.</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1">
            <a:schemeClr val="accent1"/>
          </a:lnRef>
          <a:fillRef idx="3">
            <a:schemeClr val="accent1"/>
          </a:fillRef>
          <a:effectRef idx="2">
            <a:schemeClr val="accent1"/>
          </a:effectRef>
          <a:fontRef idx="minor">
            <a:schemeClr val="lt1"/>
          </a:fontRef>
        </p:style>
        <p:txBody>
          <a:bodyPr/>
          <a:lstStyle/>
          <a:p>
            <a:r>
              <a:rPr lang="es-AR" dirty="0" smtClean="0"/>
              <a:t>Tipos de Segmentación:</a:t>
            </a:r>
            <a:endParaRPr lang="es-AR" dirty="0"/>
          </a:p>
        </p:txBody>
      </p:sp>
      <p:sp>
        <p:nvSpPr>
          <p:cNvPr id="3" name="2 Marcador de contenido"/>
          <p:cNvSpPr>
            <a:spLocks noGrp="1"/>
          </p:cNvSpPr>
          <p:nvPr>
            <p:ph idx="1"/>
          </p:nvPr>
        </p:nvSpPr>
        <p:spPr>
          <a:solidFill>
            <a:schemeClr val="accent5">
              <a:lumMod val="75000"/>
            </a:schemeClr>
          </a:solidFill>
        </p:spPr>
        <p:txBody>
          <a:bodyPr>
            <a:normAutofit/>
          </a:bodyPr>
          <a:lstStyle/>
          <a:p>
            <a:pPr algn="just"/>
            <a:r>
              <a:rPr lang="es-AR" b="1" dirty="0" smtClean="0"/>
              <a:t>Segmentación Geográfica:</a:t>
            </a:r>
            <a:r>
              <a:rPr lang="es-AR" dirty="0" smtClean="0"/>
              <a:t> el mercado se divide en unidades geográficas como naciones, estados, ciudades o barrios pero fijándose en las diferencias de necesidades o deseos según las áreas.</a:t>
            </a:r>
          </a:p>
          <a:p>
            <a:pPr algn="just"/>
            <a:r>
              <a:rPr lang="es-AR" b="1" dirty="0" smtClean="0"/>
              <a:t>Segmentación demográfica</a:t>
            </a:r>
            <a:r>
              <a:rPr lang="es-AR" dirty="0" smtClean="0"/>
              <a:t>: Divide al mercado en función de variables tales como edad,, sexo, tamaño de familia, ciclo de vida, nivel de ingreso, profesión, educación, religión, raza, nacionalidad.</a:t>
            </a:r>
            <a:endParaRPr lang="es-AR"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style>
          <a:lnRef idx="1">
            <a:schemeClr val="accent1"/>
          </a:lnRef>
          <a:fillRef idx="3">
            <a:schemeClr val="accent1"/>
          </a:fillRef>
          <a:effectRef idx="2">
            <a:schemeClr val="accent1"/>
          </a:effectRef>
          <a:fontRef idx="minor">
            <a:schemeClr val="lt1"/>
          </a:fontRef>
        </p:style>
        <p:txBody>
          <a:bodyPr/>
          <a:lstStyle/>
          <a:p>
            <a:r>
              <a:rPr lang="es-AR" dirty="0" smtClean="0"/>
              <a:t>Tipos de Segmentación:</a:t>
            </a:r>
            <a:endParaRPr lang="es-AR" dirty="0"/>
          </a:p>
        </p:txBody>
      </p:sp>
      <p:sp>
        <p:nvSpPr>
          <p:cNvPr id="3" name="2 Marcador de contenido"/>
          <p:cNvSpPr>
            <a:spLocks noGrp="1"/>
          </p:cNvSpPr>
          <p:nvPr>
            <p:ph idx="1"/>
          </p:nvPr>
        </p:nvSpPr>
        <p:spPr>
          <a:solidFill>
            <a:schemeClr val="accent5">
              <a:lumMod val="75000"/>
            </a:schemeClr>
          </a:solidFill>
        </p:spPr>
        <p:txBody>
          <a:bodyPr>
            <a:normAutofit/>
          </a:bodyPr>
          <a:lstStyle/>
          <a:p>
            <a:pPr algn="just"/>
            <a:r>
              <a:rPr lang="es-AR" b="1" dirty="0" smtClean="0"/>
              <a:t>Segmentación </a:t>
            </a:r>
            <a:r>
              <a:rPr lang="es-AR" b="1" dirty="0" err="1" smtClean="0"/>
              <a:t>psicográfica</a:t>
            </a:r>
            <a:r>
              <a:rPr lang="es-AR" b="1" dirty="0" smtClean="0"/>
              <a:t>:</a:t>
            </a:r>
            <a:r>
              <a:rPr lang="es-AR" dirty="0" smtClean="0"/>
              <a:t> el mercado se divide en grupos según su clase social, estilo de vida o personalidad.</a:t>
            </a:r>
          </a:p>
          <a:p>
            <a:pPr algn="just"/>
            <a:r>
              <a:rPr lang="es-AR" b="1" dirty="0" smtClean="0"/>
              <a:t>Segmentación por conducta</a:t>
            </a:r>
            <a:r>
              <a:rPr lang="es-AR" dirty="0" smtClean="0"/>
              <a:t>: Divide al mercado en grupos según sus conocimientos, actitudes, costumbres o sus respuestas a un producto específico.</a:t>
            </a:r>
            <a:endParaRPr lang="es-A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Estudio de Mercado: Concepto</a:t>
            </a:r>
            <a:endParaRPr lang="es-AR" dirty="0"/>
          </a:p>
        </p:txBody>
      </p:sp>
      <p:sp>
        <p:nvSpPr>
          <p:cNvPr id="3" name="2 Marcador de contenido"/>
          <p:cNvSpPr>
            <a:spLocks noGrp="1"/>
          </p:cNvSpPr>
          <p:nvPr>
            <p:ph idx="1"/>
          </p:nvPr>
        </p:nvSpPr>
        <p:spPr/>
        <p:txBody>
          <a:bodyPr/>
          <a:lstStyle/>
          <a:p>
            <a:pPr algn="just"/>
            <a:r>
              <a:rPr lang="es-AR" dirty="0" smtClean="0"/>
              <a:t>Es la definición del precio y la demanda a que los consumidores están dispuestos a comprar.</a:t>
            </a:r>
          </a:p>
          <a:p>
            <a:pPr algn="just"/>
            <a:r>
              <a:rPr lang="es-AR" dirty="0" smtClean="0"/>
              <a:t>Es el estudio del conjunto de variables que condicionan el comportamiento de los distintos agentes económicos cuya actuación afectará el flujo de fondos de la empresa.</a:t>
            </a:r>
          </a:p>
          <a:p>
            <a:pPr algn="just"/>
            <a:r>
              <a:rPr lang="es-AR" dirty="0" smtClean="0"/>
              <a:t>Es la recopilación de antecedentes  que permiten cuantificar el precio, la demanda y la competencia de un producto.</a:t>
            </a:r>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lstStyle/>
          <a:p>
            <a:pPr algn="just"/>
            <a:r>
              <a:rPr lang="es-AR" b="1" dirty="0" smtClean="0"/>
              <a:t>Mercado proveedor</a:t>
            </a:r>
            <a:r>
              <a:rPr lang="es-AR" dirty="0" smtClean="0"/>
              <a:t>: Establecer alternativas de provisión de insumos ya que muchos proyectos tienen una dependencia extrema de la calidad, cantidad, oportunidad de la recepción y costo de los materiales.</a:t>
            </a:r>
          </a:p>
          <a:p>
            <a:pPr algn="just"/>
            <a:r>
              <a:rPr lang="es-AR" b="1" dirty="0" smtClean="0"/>
              <a:t>Mercado competidor:</a:t>
            </a:r>
            <a:r>
              <a:rPr lang="es-AR" dirty="0" smtClean="0"/>
              <a:t> Definir la estrategia comercial que desarrolla la competencia como así también los precios que venden sus productos, descuentos por volúmenes, sistemas promocionales, publicidad, canales de distribución, situación financiera, entre otros aspectos.</a:t>
            </a:r>
            <a:endParaRPr lang="es-AR"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normAutofit lnSpcReduction="10000"/>
          </a:bodyPr>
          <a:lstStyle/>
          <a:p>
            <a:pPr algn="just"/>
            <a:r>
              <a:rPr lang="es-AR" b="1" dirty="0" smtClean="0"/>
              <a:t>Mercado distribuidor</a:t>
            </a:r>
            <a:r>
              <a:rPr lang="es-AR" dirty="0" smtClean="0"/>
              <a:t>: Conjunto de elementos que garanticen la entrega oportuna de los productos que el consumidor toma, sobre todo en productos perecederos.</a:t>
            </a:r>
          </a:p>
          <a:p>
            <a:pPr algn="just"/>
            <a:r>
              <a:rPr lang="es-AR" b="1" dirty="0" smtClean="0"/>
              <a:t>Mercado consumidor: </a:t>
            </a:r>
            <a:r>
              <a:rPr lang="es-AR" dirty="0" smtClean="0"/>
              <a:t>Los hábitos y motivaciones de compras serán determinantes a la hora de definir el consumidor real (el que toma la decisión de compra) y la estrategia comercial que deberá diseñarse para enfrentarlo en su papel de consumidor frente a la posible multiplicidad de alternativas en su decisión de compra.</a:t>
            </a:r>
            <a:endParaRPr lang="es-AR"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Mercados que intervienen:</a:t>
            </a:r>
            <a:endParaRPr lang="es-AR" dirty="0"/>
          </a:p>
        </p:txBody>
      </p:sp>
      <p:sp>
        <p:nvSpPr>
          <p:cNvPr id="3" name="2 Marcador de contenido"/>
          <p:cNvSpPr>
            <a:spLocks noGrp="1"/>
          </p:cNvSpPr>
          <p:nvPr>
            <p:ph idx="1"/>
          </p:nvPr>
        </p:nvSpPr>
        <p:spPr/>
        <p:txBody>
          <a:bodyPr/>
          <a:lstStyle/>
          <a:p>
            <a:pPr algn="just"/>
            <a:r>
              <a:rPr lang="es-AR" b="1" dirty="0" smtClean="0"/>
              <a:t>Mercado externo: </a:t>
            </a:r>
            <a:r>
              <a:rPr lang="es-AR" dirty="0" smtClean="0"/>
              <a:t>El deber recurrir a fuentes externas de abastecimiento de materias primas obliga a consideraciones y estudios especiales que se diferencien del abastecimiento del mercado local. Se deberá así mismo contemplar la influencia del tipo de cambio y la política arancelaria y su incidencia sobre los costos de producción.</a:t>
            </a:r>
            <a:endParaRPr lang="es-AR"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Objetivos del estudio de mercado:</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Etapas del Estudio de mercado:</a:t>
            </a:r>
            <a:endParaRPr lang="es-AR" dirty="0"/>
          </a:p>
        </p:txBody>
      </p:sp>
      <p:graphicFrame>
        <p:nvGraphicFramePr>
          <p:cNvPr id="4" name="3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Etapas del estudio de mercado:</a:t>
            </a:r>
            <a:endParaRPr lang="es-AR" dirty="0"/>
          </a:p>
        </p:txBody>
      </p:sp>
      <p:sp>
        <p:nvSpPr>
          <p:cNvPr id="3" name="2 Marcador de contenido"/>
          <p:cNvSpPr>
            <a:spLocks noGrp="1"/>
          </p:cNvSpPr>
          <p:nvPr>
            <p:ph idx="1"/>
          </p:nvPr>
        </p:nvSpPr>
        <p:spPr/>
        <p:txBody>
          <a:bodyPr>
            <a:normAutofit fontScale="92500"/>
          </a:bodyPr>
          <a:lstStyle/>
          <a:p>
            <a:pPr algn="just"/>
            <a:r>
              <a:rPr lang="es-AR" b="1" dirty="0" smtClean="0"/>
              <a:t>Análisis histórico: </a:t>
            </a:r>
            <a:r>
              <a:rPr lang="es-AR" dirty="0" smtClean="0"/>
              <a:t>pretende lograr dos objetivos, primero reunir información de carácter estadístico que pueda servir para proyectar flujos financieros hacia el futuro. El segundo objetivo se refiere a evaluar el resultado de algunas decisiones tomadas por otros agentes económicos del mercado para identificar los efectos positivos o negativos que se lograron.</a:t>
            </a:r>
          </a:p>
          <a:p>
            <a:pPr algn="just"/>
            <a:r>
              <a:rPr lang="es-AR" b="1" dirty="0" smtClean="0"/>
              <a:t>Análisis de la situación vigente</a:t>
            </a:r>
            <a:r>
              <a:rPr lang="es-AR" dirty="0" smtClean="0"/>
              <a:t>: analiza la evolución del mercado y su influencia sobre el producto a lanzarse.</a:t>
            </a:r>
          </a:p>
          <a:p>
            <a:pPr algn="just"/>
            <a:r>
              <a:rPr lang="es-AR" b="1" dirty="0" smtClean="0"/>
              <a:t>Análisis de la situación futura</a:t>
            </a:r>
            <a:r>
              <a:rPr lang="es-AR" dirty="0" smtClean="0"/>
              <a:t>: Proyectar resultado financiero cuantificando el mercado y los costos operativos.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El Consumidor:</a:t>
            </a:r>
            <a:endParaRPr lang="es-AR" dirty="0"/>
          </a:p>
        </p:txBody>
      </p:sp>
      <p:sp>
        <p:nvSpPr>
          <p:cNvPr id="3" name="2 Marcador de contenido"/>
          <p:cNvSpPr>
            <a:spLocks noGrp="1"/>
          </p:cNvSpPr>
          <p:nvPr>
            <p:ph idx="1"/>
          </p:nvPr>
        </p:nvSpPr>
        <p:spPr/>
        <p:txBody>
          <a:bodyPr/>
          <a:lstStyle/>
          <a:p>
            <a:pPr algn="just"/>
            <a:r>
              <a:rPr lang="es-AR" b="1" u="sng" dirty="0" smtClean="0"/>
              <a:t>Consumidor Institucional</a:t>
            </a:r>
            <a:r>
              <a:rPr lang="es-AR" dirty="0" smtClean="0"/>
              <a:t>: Se caracteriza por  decisiones muy racionales basadas en variables técnicas del producto, en su calidad, precio, oportunidad, en la entrega y disponibilidad de repuestos entre otros factores.</a:t>
            </a:r>
          </a:p>
          <a:p>
            <a:pPr algn="just"/>
            <a:r>
              <a:rPr lang="es-AR" b="1" u="sng" dirty="0" smtClean="0"/>
              <a:t>Consumidor individual: </a:t>
            </a:r>
            <a:r>
              <a:rPr lang="es-AR" dirty="0" smtClean="0"/>
              <a:t>toma decisiones de compra basado en consideraciones de carácter emocional como moda, exclusividad del producto, prestigio, marca, etc.</a:t>
            </a:r>
            <a:endParaRPr lang="es-AR"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Estrategia comercial:</a:t>
            </a:r>
            <a:endParaRPr lang="es-AR" dirty="0"/>
          </a:p>
        </p:txBody>
      </p:sp>
      <p:sp>
        <p:nvSpPr>
          <p:cNvPr id="3" name="2 Marcador de contenido"/>
          <p:cNvSpPr>
            <a:spLocks noGrp="1"/>
          </p:cNvSpPr>
          <p:nvPr>
            <p:ph idx="1"/>
          </p:nvPr>
        </p:nvSpPr>
        <p:spPr/>
        <p:txBody>
          <a:bodyPr/>
          <a:lstStyle/>
          <a:p>
            <a:r>
              <a:rPr lang="es-AR" dirty="0" smtClean="0"/>
              <a:t>La estrategia comercial aplicable se deberá basar en al definición de variables que caractericen al Producto, precio, promoción y plaza o distribución.</a:t>
            </a:r>
          </a:p>
          <a:p>
            <a:endParaRPr lang="es-AR" dirty="0"/>
          </a:p>
        </p:txBody>
      </p:sp>
      <p:cxnSp>
        <p:nvCxnSpPr>
          <p:cNvPr id="5" name="4 Conector recto de flecha"/>
          <p:cNvCxnSpPr/>
          <p:nvPr/>
        </p:nvCxnSpPr>
        <p:spPr>
          <a:xfrm rot="16200000" flipH="1">
            <a:off x="1285852" y="4857760"/>
            <a:ext cx="2357454" cy="71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6 Conector recto de flecha"/>
          <p:cNvCxnSpPr/>
          <p:nvPr/>
        </p:nvCxnSpPr>
        <p:spPr>
          <a:xfrm>
            <a:off x="2500298" y="5929330"/>
            <a:ext cx="521497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Forma libre"/>
          <p:cNvSpPr/>
          <p:nvPr/>
        </p:nvSpPr>
        <p:spPr>
          <a:xfrm>
            <a:off x="2514600" y="3654136"/>
            <a:ext cx="6005945" cy="2185555"/>
          </a:xfrm>
          <a:custGeom>
            <a:avLst/>
            <a:gdLst>
              <a:gd name="connsiteX0" fmla="*/ 0 w 6005945"/>
              <a:gd name="connsiteY0" fmla="*/ 2185555 h 2185555"/>
              <a:gd name="connsiteX1" fmla="*/ 1392382 w 6005945"/>
              <a:gd name="connsiteY1" fmla="*/ 917864 h 2185555"/>
              <a:gd name="connsiteX2" fmla="*/ 2639291 w 6005945"/>
              <a:gd name="connsiteY2" fmla="*/ 232064 h 2185555"/>
              <a:gd name="connsiteX3" fmla="*/ 3470564 w 6005945"/>
              <a:gd name="connsiteY3" fmla="*/ 232064 h 2185555"/>
              <a:gd name="connsiteX4" fmla="*/ 5361709 w 6005945"/>
              <a:gd name="connsiteY4" fmla="*/ 1624446 h 2185555"/>
              <a:gd name="connsiteX5" fmla="*/ 6005945 w 6005945"/>
              <a:gd name="connsiteY5" fmla="*/ 1998519 h 218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5945" h="2185555">
                <a:moveTo>
                  <a:pt x="0" y="2185555"/>
                </a:moveTo>
                <a:cubicBezTo>
                  <a:pt x="476250" y="1714500"/>
                  <a:pt x="952500" y="1243446"/>
                  <a:pt x="1392382" y="917864"/>
                </a:cubicBezTo>
                <a:cubicBezTo>
                  <a:pt x="1832264" y="592282"/>
                  <a:pt x="2292927" y="346364"/>
                  <a:pt x="2639291" y="232064"/>
                </a:cubicBezTo>
                <a:cubicBezTo>
                  <a:pt x="2985655" y="117764"/>
                  <a:pt x="3016828" y="0"/>
                  <a:pt x="3470564" y="232064"/>
                </a:cubicBezTo>
                <a:cubicBezTo>
                  <a:pt x="3924300" y="464128"/>
                  <a:pt x="4939145" y="1330037"/>
                  <a:pt x="5361709" y="1624446"/>
                </a:cubicBezTo>
                <a:cubicBezTo>
                  <a:pt x="5784273" y="1918855"/>
                  <a:pt x="5898572" y="1943101"/>
                  <a:pt x="6005945" y="1998519"/>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cxnSp>
        <p:nvCxnSpPr>
          <p:cNvPr id="10" name="9 Conector recto"/>
          <p:cNvCxnSpPr/>
          <p:nvPr/>
        </p:nvCxnSpPr>
        <p:spPr>
          <a:xfrm rot="5400000">
            <a:off x="3250397" y="5322107"/>
            <a:ext cx="121444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stCxn id="8" idx="2"/>
          </p:cNvCxnSpPr>
          <p:nvPr/>
        </p:nvCxnSpPr>
        <p:spPr>
          <a:xfrm>
            <a:off x="5153891" y="3886200"/>
            <a:ext cx="61051" cy="2043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p:cNvCxnSpPr>
            <a:stCxn id="8" idx="3"/>
          </p:cNvCxnSpPr>
          <p:nvPr/>
        </p:nvCxnSpPr>
        <p:spPr>
          <a:xfrm>
            <a:off x="5985164" y="3886200"/>
            <a:ext cx="87034" cy="2043130"/>
          </a:xfrm>
          <a:prstGeom prst="line">
            <a:avLst/>
          </a:prstGeom>
        </p:spPr>
        <p:style>
          <a:lnRef idx="1">
            <a:schemeClr val="accent1"/>
          </a:lnRef>
          <a:fillRef idx="0">
            <a:schemeClr val="accent1"/>
          </a:fillRef>
          <a:effectRef idx="0">
            <a:schemeClr val="accent1"/>
          </a:effectRef>
          <a:fontRef idx="minor">
            <a:schemeClr val="tx1"/>
          </a:fontRef>
        </p:style>
      </p:cxnSp>
      <p:sp>
        <p:nvSpPr>
          <p:cNvPr id="18" name="17 Elipse"/>
          <p:cNvSpPr/>
          <p:nvPr/>
        </p:nvSpPr>
        <p:spPr>
          <a:xfrm>
            <a:off x="1928794" y="4643446"/>
            <a:ext cx="1857388"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mj-lt"/>
              <a:buAutoNum type="arabicPeriod"/>
            </a:pPr>
            <a:r>
              <a:rPr lang="es-AR" dirty="0" smtClean="0"/>
              <a:t>Introducción.</a:t>
            </a:r>
            <a:endParaRPr lang="es-AR" dirty="0"/>
          </a:p>
        </p:txBody>
      </p:sp>
      <p:sp>
        <p:nvSpPr>
          <p:cNvPr id="19" name="18 Elipse"/>
          <p:cNvSpPr/>
          <p:nvPr/>
        </p:nvSpPr>
        <p:spPr>
          <a:xfrm>
            <a:off x="3286116" y="4071942"/>
            <a:ext cx="2286016"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2.Crecimiento</a:t>
            </a:r>
            <a:endParaRPr lang="es-AR" dirty="0"/>
          </a:p>
        </p:txBody>
      </p:sp>
      <p:sp>
        <p:nvSpPr>
          <p:cNvPr id="20" name="19 Elipse"/>
          <p:cNvSpPr/>
          <p:nvPr/>
        </p:nvSpPr>
        <p:spPr>
          <a:xfrm>
            <a:off x="5715008" y="4000504"/>
            <a:ext cx="1857388"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3. Madurez</a:t>
            </a:r>
            <a:endParaRPr lang="es-AR" dirty="0"/>
          </a:p>
        </p:txBody>
      </p:sp>
      <p:sp>
        <p:nvSpPr>
          <p:cNvPr id="21" name="20 Elipse"/>
          <p:cNvSpPr/>
          <p:nvPr/>
        </p:nvSpPr>
        <p:spPr>
          <a:xfrm>
            <a:off x="6215074" y="4929198"/>
            <a:ext cx="2500330"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r>
              <a:rPr lang="es-AR" dirty="0" smtClean="0"/>
              <a:t>4. Declinación..</a:t>
            </a:r>
            <a:endParaRPr lang="es-AR" dirty="0"/>
          </a:p>
        </p:txBody>
      </p:sp>
      <p:sp>
        <p:nvSpPr>
          <p:cNvPr id="22" name="21 Rectángulo"/>
          <p:cNvSpPr/>
          <p:nvPr/>
        </p:nvSpPr>
        <p:spPr>
          <a:xfrm>
            <a:off x="714348" y="3786190"/>
            <a:ext cx="1500198"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VENTAS</a:t>
            </a:r>
            <a:endParaRPr lang="es-AR" dirty="0"/>
          </a:p>
        </p:txBody>
      </p:sp>
      <p:sp>
        <p:nvSpPr>
          <p:cNvPr id="23" name="22 Rectángulo"/>
          <p:cNvSpPr/>
          <p:nvPr/>
        </p:nvSpPr>
        <p:spPr>
          <a:xfrm>
            <a:off x="3786182" y="5929330"/>
            <a:ext cx="3357586" cy="357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smtClean="0"/>
              <a:t>TIEMPO</a:t>
            </a:r>
            <a:endParaRPr lang="es-AR"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Estrategia comercial:</a:t>
            </a:r>
            <a:endParaRPr lang="es-AR" dirty="0"/>
          </a:p>
        </p:txBody>
      </p:sp>
      <p:sp>
        <p:nvSpPr>
          <p:cNvPr id="3" name="2 Marcador de contenido"/>
          <p:cNvSpPr>
            <a:spLocks noGrp="1"/>
          </p:cNvSpPr>
          <p:nvPr>
            <p:ph idx="1"/>
          </p:nvPr>
        </p:nvSpPr>
        <p:spPr/>
        <p:txBody>
          <a:bodyPr/>
          <a:lstStyle/>
          <a:p>
            <a:pPr algn="just"/>
            <a:r>
              <a:rPr lang="es-AR" b="1" dirty="0" smtClean="0"/>
              <a:t>Introducción:</a:t>
            </a:r>
            <a:r>
              <a:rPr lang="es-AR" dirty="0" smtClean="0"/>
              <a:t> las ventas se incrementan levemente mientras el producto se hace conocido, la marca aprestigiada o la moda impuesta. Si el producto es aceptado se produce un </a:t>
            </a:r>
            <a:r>
              <a:rPr lang="es-AR" b="1" dirty="0" smtClean="0"/>
              <a:t>crecimiento</a:t>
            </a:r>
            <a:r>
              <a:rPr lang="es-AR" dirty="0" smtClean="0"/>
              <a:t> rápido en las ventas las cuales en su etapa de </a:t>
            </a:r>
            <a:r>
              <a:rPr lang="es-AR" b="1" dirty="0" smtClean="0"/>
              <a:t>madurez,</a:t>
            </a:r>
            <a:r>
              <a:rPr lang="es-AR" dirty="0" smtClean="0"/>
              <a:t> se estabilizan hasta llegar al máximo y luego al ser reemplazado por otro producto de la competencia, las ventas </a:t>
            </a:r>
            <a:r>
              <a:rPr lang="es-AR" b="1" dirty="0" smtClean="0"/>
              <a:t>declinan</a:t>
            </a:r>
            <a:r>
              <a:rPr lang="es-AR" dirty="0" smtClean="0"/>
              <a:t> en donde las ventas disminuyen rápidamente.</a:t>
            </a:r>
            <a:endParaRPr lang="es-A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Fijación técnica del precio:</a:t>
            </a:r>
            <a:endParaRPr lang="es-AR" dirty="0"/>
          </a:p>
        </p:txBody>
      </p:sp>
      <p:sp>
        <p:nvSpPr>
          <p:cNvPr id="3" name="2 Marcador de contenido"/>
          <p:cNvSpPr>
            <a:spLocks noGrp="1"/>
          </p:cNvSpPr>
          <p:nvPr>
            <p:ph idx="1"/>
          </p:nvPr>
        </p:nvSpPr>
        <p:spPr/>
        <p:style>
          <a:lnRef idx="2">
            <a:schemeClr val="accent2">
              <a:shade val="50000"/>
            </a:schemeClr>
          </a:lnRef>
          <a:fillRef idx="1">
            <a:schemeClr val="accent2"/>
          </a:fillRef>
          <a:effectRef idx="0">
            <a:schemeClr val="accent2"/>
          </a:effectRef>
          <a:fontRef idx="minor">
            <a:schemeClr val="lt1"/>
          </a:fontRef>
        </p:style>
        <p:txBody>
          <a:bodyPr>
            <a:normAutofit fontScale="92500" lnSpcReduction="10000"/>
          </a:bodyPr>
          <a:lstStyle/>
          <a:p>
            <a:r>
              <a:rPr lang="es-AR" dirty="0" smtClean="0"/>
              <a:t>A) Cálculo del precio de ventas como porcentaje de los costos unitarios totales:</a:t>
            </a:r>
          </a:p>
          <a:p>
            <a:pPr>
              <a:buNone/>
            </a:pPr>
            <a:r>
              <a:rPr lang="es-AR" dirty="0" smtClean="0"/>
              <a:t>			</a:t>
            </a:r>
            <a:r>
              <a:rPr lang="es-AR" b="1" dirty="0" err="1" smtClean="0"/>
              <a:t>Pv</a:t>
            </a:r>
            <a:r>
              <a:rPr lang="es-AR" b="1" dirty="0" smtClean="0"/>
              <a:t> = Cu + </a:t>
            </a:r>
            <a:r>
              <a:rPr lang="es-AR" b="1" dirty="0" err="1" smtClean="0"/>
              <a:t>hCu</a:t>
            </a:r>
            <a:endParaRPr lang="es-AR" b="1" dirty="0" smtClean="0"/>
          </a:p>
          <a:p>
            <a:pPr>
              <a:buNone/>
            </a:pPr>
            <a:r>
              <a:rPr lang="es-AR" b="1" dirty="0" err="1" smtClean="0"/>
              <a:t>Pv</a:t>
            </a:r>
            <a:r>
              <a:rPr lang="es-AR" b="1" dirty="0" smtClean="0"/>
              <a:t>= Cu (1+h)</a:t>
            </a:r>
          </a:p>
          <a:p>
            <a:pPr>
              <a:buNone/>
            </a:pPr>
            <a:endParaRPr lang="es-AR" dirty="0" smtClean="0"/>
          </a:p>
          <a:p>
            <a:pPr>
              <a:buNone/>
            </a:pPr>
            <a:r>
              <a:rPr lang="es-AR" dirty="0" smtClean="0"/>
              <a:t>B) Cálculo del precio de ventas como porcentaje del precio de ventas.</a:t>
            </a:r>
          </a:p>
          <a:p>
            <a:pPr>
              <a:buNone/>
            </a:pPr>
            <a:r>
              <a:rPr lang="es-AR" dirty="0" smtClean="0"/>
              <a:t>			</a:t>
            </a:r>
            <a:r>
              <a:rPr lang="es-AR" b="1" dirty="0" err="1" smtClean="0"/>
              <a:t>Pv</a:t>
            </a:r>
            <a:r>
              <a:rPr lang="es-AR" b="1" dirty="0" smtClean="0"/>
              <a:t> = j*</a:t>
            </a:r>
            <a:r>
              <a:rPr lang="es-AR" b="1" dirty="0" err="1" smtClean="0"/>
              <a:t>Pv</a:t>
            </a:r>
            <a:r>
              <a:rPr lang="es-AR" b="1" dirty="0" smtClean="0"/>
              <a:t> + Cu</a:t>
            </a:r>
          </a:p>
          <a:p>
            <a:pPr>
              <a:buNone/>
            </a:pPr>
            <a:r>
              <a:rPr lang="es-AR" b="1" dirty="0" err="1" smtClean="0"/>
              <a:t>Pv-jPv</a:t>
            </a:r>
            <a:r>
              <a:rPr lang="es-AR" b="1" dirty="0" smtClean="0"/>
              <a:t> = Cu</a:t>
            </a:r>
          </a:p>
          <a:p>
            <a:pPr>
              <a:buNone/>
            </a:pPr>
            <a:r>
              <a:rPr lang="es-AR" b="1" dirty="0" err="1" smtClean="0"/>
              <a:t>Pv</a:t>
            </a:r>
            <a:r>
              <a:rPr lang="es-AR" b="1" dirty="0" smtClean="0"/>
              <a:t> (1-j) = Cu</a:t>
            </a:r>
          </a:p>
          <a:p>
            <a:pPr>
              <a:buNone/>
            </a:pPr>
            <a:r>
              <a:rPr lang="es-AR" b="1" dirty="0" err="1" smtClean="0"/>
              <a:t>Pv</a:t>
            </a:r>
            <a:r>
              <a:rPr lang="es-AR" b="1" dirty="0" smtClean="0"/>
              <a:t> = Cu / (1-J)</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Estrategias de fijación de precios:</a:t>
            </a:r>
            <a:endParaRPr lang="es-AR" dirty="0"/>
          </a:p>
        </p:txBody>
      </p:sp>
      <p:sp>
        <p:nvSpPr>
          <p:cNvPr id="3" name="2 Marcador de contenido"/>
          <p:cNvSpPr>
            <a:spLocks noGrp="1"/>
          </p:cNvSpPr>
          <p:nvPr>
            <p:ph idx="1"/>
          </p:nvPr>
        </p:nvSpPr>
        <p:spPr/>
        <p:txBody>
          <a:bodyPr>
            <a:normAutofit fontScale="85000" lnSpcReduction="10000"/>
          </a:bodyPr>
          <a:lstStyle/>
          <a:p>
            <a:pPr algn="just"/>
            <a:r>
              <a:rPr lang="es-AR" dirty="0" smtClean="0"/>
              <a:t>Se denomina estrategia de precios a todos aquellos recursos de marketing que una empresa puede desarrollar consistente en la modificación de los precios de sus productos.</a:t>
            </a:r>
          </a:p>
          <a:p>
            <a:pPr algn="just"/>
            <a:r>
              <a:rPr lang="es-AR" b="1" dirty="0" smtClean="0"/>
              <a:t>Fijación de precios por absorción de fletes: </a:t>
            </a:r>
            <a:r>
              <a:rPr lang="es-AR" dirty="0" smtClean="0"/>
              <a:t>el vendedor absorbe parte del cargo del flete como incentivo para penetrar en el mercado.</a:t>
            </a:r>
          </a:p>
          <a:p>
            <a:pPr algn="just"/>
            <a:r>
              <a:rPr lang="es-AR" b="1" dirty="0" smtClean="0"/>
              <a:t>Fijación de precios depredadora</a:t>
            </a:r>
            <a:r>
              <a:rPr lang="es-AR" dirty="0" smtClean="0"/>
              <a:t>: Vender por debajo del costo con la intención de castigar al competidor o tener mayores utilidades a largo plazo al sacar competidores.</a:t>
            </a:r>
          </a:p>
          <a:p>
            <a:pPr algn="just"/>
            <a:r>
              <a:rPr lang="es-AR" b="1" dirty="0" smtClean="0"/>
              <a:t>Descremado de mercado:</a:t>
            </a:r>
            <a:r>
              <a:rPr lang="es-AR" dirty="0" smtClean="0"/>
              <a:t> Se basa en poner el precio inicial más alto a un nuevo producto en el mercado. Se trata de poner el mayor precio inicial que los consumidores estarían dispuestos a pagar.</a:t>
            </a:r>
            <a:endParaRPr lang="es-AR"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 Estrategias de fijación de precios.</a:t>
            </a:r>
            <a:endParaRPr lang="es-AR" dirty="0"/>
          </a:p>
        </p:txBody>
      </p:sp>
      <p:sp>
        <p:nvSpPr>
          <p:cNvPr id="3" name="2 Marcador de contenido"/>
          <p:cNvSpPr>
            <a:spLocks noGrp="1"/>
          </p:cNvSpPr>
          <p:nvPr>
            <p:ph idx="1"/>
          </p:nvPr>
        </p:nvSpPr>
        <p:spPr/>
        <p:txBody>
          <a:bodyPr>
            <a:normAutofit fontScale="92500"/>
          </a:bodyPr>
          <a:lstStyle/>
          <a:p>
            <a:endParaRPr lang="es-AR" b="1" dirty="0" smtClean="0"/>
          </a:p>
          <a:p>
            <a:pPr algn="just"/>
            <a:r>
              <a:rPr lang="es-AR" b="1" dirty="0" smtClean="0"/>
              <a:t>Fijación de precios por zonas:</a:t>
            </a:r>
            <a:r>
              <a:rPr lang="es-AR" dirty="0" smtClean="0"/>
              <a:t> la compañía define zonas y en ellas los clientes pagan un mismo precio total.</a:t>
            </a:r>
          </a:p>
          <a:p>
            <a:pPr algn="just"/>
            <a:r>
              <a:rPr lang="es-AR" b="1" dirty="0" smtClean="0"/>
              <a:t>Fijación de precios promocionales</a:t>
            </a:r>
            <a:r>
              <a:rPr lang="es-AR" dirty="0" smtClean="0"/>
              <a:t>: fijan precios temporalmente por debajo de su precio de lista y a veces por debajo de su costo con la finalidad de incrementar sus ventas en el corto plazo. Pueden tomar formas de: descuentos, fijación de precios por evento especial, rebajas en efectivo, financiamiento sin pago de intereses, mantenimiento gratuito, etc. Esto genera guerra de precios.</a:t>
            </a:r>
            <a:endParaRPr lang="es-AR"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defRPr/>
            </a:pPr>
            <a:r>
              <a:rPr lang="es-AR" dirty="0" smtClean="0"/>
              <a:t>Morfología de Mercado: COMPETENCIA PERFECTA</a:t>
            </a:r>
            <a:endParaRPr lang="es-AR" dirty="0"/>
          </a:p>
        </p:txBody>
      </p:sp>
      <p:sp>
        <p:nvSpPr>
          <p:cNvPr id="3" name="2 Marcador de contenido"/>
          <p:cNvSpPr>
            <a:spLocks noGrp="1"/>
          </p:cNvSpPr>
          <p:nvPr>
            <p:ph idx="1"/>
          </p:nvPr>
        </p:nvSpPr>
        <p:spPr/>
        <p:txBody>
          <a:bodyPr>
            <a:normAutofit fontScale="55000" lnSpcReduction="20000"/>
          </a:bodyPr>
          <a:lstStyle/>
          <a:p>
            <a:pPr algn="just">
              <a:defRPr/>
            </a:pPr>
            <a:r>
              <a:rPr lang="es-AR" b="1" dirty="0" smtClean="0"/>
              <a:t>Atomización de mercado</a:t>
            </a:r>
            <a:r>
              <a:rPr lang="es-AR" dirty="0" smtClean="0"/>
              <a:t>: esto significa la presencia de muchos compradores y vendedores, los suficientes como para  que ninguno tenga influencia alguna en la fijación de los precios. </a:t>
            </a:r>
          </a:p>
          <a:p>
            <a:pPr algn="just">
              <a:buFont typeface="Wingdings 3" pitchFamily="18" charset="2"/>
              <a:buNone/>
              <a:defRPr/>
            </a:pPr>
            <a:r>
              <a:rPr lang="es-AR" dirty="0" smtClean="0"/>
              <a:t> </a:t>
            </a:r>
          </a:p>
          <a:p>
            <a:pPr algn="just">
              <a:defRPr/>
            </a:pPr>
            <a:r>
              <a:rPr lang="es-AR" b="1" dirty="0" smtClean="0"/>
              <a:t>Homogeneidad del producto</a:t>
            </a:r>
            <a:r>
              <a:rPr lang="es-AR" dirty="0" smtClean="0"/>
              <a:t> que significa que los productos que ofrecen todos los oferentes son idénticos. Este concepto puede incluir otros tipos de homogeneidades como ser: </a:t>
            </a:r>
          </a:p>
          <a:p>
            <a:pPr algn="just">
              <a:buFont typeface="Wingdings 3" pitchFamily="18" charset="2"/>
              <a:buNone/>
              <a:defRPr/>
            </a:pPr>
            <a:r>
              <a:rPr lang="es-AR" i="1" dirty="0" smtClean="0"/>
              <a:t>Homogeneidad personal</a:t>
            </a:r>
            <a:r>
              <a:rPr lang="es-AR" dirty="0" smtClean="0"/>
              <a:t>: ningún comprador tiene preferencia por ningún vendedor en particular. </a:t>
            </a:r>
          </a:p>
          <a:p>
            <a:pPr algn="just">
              <a:buFont typeface="Wingdings 3" pitchFamily="18" charset="2"/>
              <a:buNone/>
              <a:defRPr/>
            </a:pPr>
            <a:r>
              <a:rPr lang="es-AR" dirty="0" smtClean="0"/>
              <a:t> </a:t>
            </a:r>
            <a:r>
              <a:rPr lang="es-AR" i="1" dirty="0" smtClean="0"/>
              <a:t>Homogeneidad espacial</a:t>
            </a:r>
            <a:r>
              <a:rPr lang="es-AR" dirty="0" smtClean="0"/>
              <a:t>; ningún comprador tiene preferencia por la procedencia o localización de ningún producto o vendedor en particular.</a:t>
            </a:r>
          </a:p>
          <a:p>
            <a:pPr algn="just">
              <a:buFont typeface="Wingdings 3" pitchFamily="18" charset="2"/>
              <a:buNone/>
              <a:defRPr/>
            </a:pPr>
            <a:r>
              <a:rPr lang="es-AR" i="1" dirty="0" smtClean="0"/>
              <a:t>Homogeneidad temporal</a:t>
            </a:r>
            <a:r>
              <a:rPr lang="es-AR" dirty="0" smtClean="0"/>
              <a:t>: las operaciones se realizan en forma instantánea.</a:t>
            </a:r>
          </a:p>
          <a:p>
            <a:pPr algn="just">
              <a:buFont typeface="Wingdings 3" pitchFamily="18" charset="2"/>
              <a:buNone/>
              <a:defRPr/>
            </a:pPr>
            <a:r>
              <a:rPr lang="es-AR" dirty="0" smtClean="0"/>
              <a:t> </a:t>
            </a:r>
          </a:p>
          <a:p>
            <a:pPr algn="just">
              <a:defRPr/>
            </a:pPr>
            <a:r>
              <a:rPr lang="es-AR" b="1" dirty="0" smtClean="0"/>
              <a:t>Libre acceso al mercado</a:t>
            </a:r>
            <a:r>
              <a:rPr lang="es-AR" dirty="0" smtClean="0"/>
              <a:t>, significa que todas las empresas y consumidores pueden ingresar o salir libremente del mercado sin que existan barreras significativas que así lo impidan. </a:t>
            </a:r>
          </a:p>
          <a:p>
            <a:pPr algn="just">
              <a:buFont typeface="Wingdings 3" pitchFamily="18" charset="2"/>
              <a:buNone/>
              <a:defRPr/>
            </a:pPr>
            <a:endParaRPr lang="es-AR" dirty="0" smtClean="0"/>
          </a:p>
          <a:p>
            <a:pPr algn="just">
              <a:defRPr/>
            </a:pPr>
            <a:r>
              <a:rPr lang="es-AR" b="1" dirty="0" smtClean="0"/>
              <a:t>Transparencia,</a:t>
            </a:r>
            <a:r>
              <a:rPr lang="es-AR" dirty="0" smtClean="0"/>
              <a:t> que comprende el hecho de que los consumidores están perfectamente informados de los productos que se venden en el mercado, sus características técnicas, precios, etc.</a:t>
            </a:r>
          </a:p>
          <a:p>
            <a:pPr algn="just">
              <a:buFont typeface="Wingdings 3" pitchFamily="18" charset="2"/>
              <a:buNone/>
              <a:defRPr/>
            </a:pPr>
            <a:endParaRPr lang="es-AR" dirty="0" smtClean="0"/>
          </a:p>
          <a:p>
            <a:pPr algn="just">
              <a:defRPr/>
            </a:pPr>
            <a:r>
              <a:rPr lang="es-AR" dirty="0" smtClean="0"/>
              <a:t> </a:t>
            </a:r>
            <a:r>
              <a:rPr lang="es-AR" b="1" dirty="0" smtClean="0"/>
              <a:t>Libre modalidad de los factores</a:t>
            </a:r>
            <a:r>
              <a:rPr lang="es-AR" dirty="0" smtClean="0"/>
              <a:t>, significa que los factores de la producción (mano de obra, capital, recursos naturales, tecnología, capacidad empresarial) pueden circular o trasladarse de una empresa a otra, de un sector a otro, sin que ninguno esté ligado contractualmente a ninguna entidad en particular. Estos cinco supuestos definen a la competencia perfecta como modelo de mercado ideal. Sin la presencia de todos ellos el modelo perfecto no tendría lugar.</a:t>
            </a:r>
          </a:p>
          <a:p>
            <a:pPr algn="just">
              <a:defRPr/>
            </a:pPr>
            <a:endParaRPr lang="es-AR" dirty="0"/>
          </a:p>
        </p:txBody>
      </p:sp>
    </p:spTree>
    <p:extLst>
      <p:ext uri="{BB962C8B-B14F-4D97-AF65-F5344CB8AC3E}">
        <p14:creationId xmlns:p14="http://schemas.microsoft.com/office/powerpoint/2010/main" val="614224900"/>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Competencia Perfecta: Características</a:t>
            </a:r>
            <a:endParaRPr lang="es-AR" dirty="0"/>
          </a:p>
        </p:txBody>
      </p:sp>
      <p:sp>
        <p:nvSpPr>
          <p:cNvPr id="3" name="2 Marcador de contenido"/>
          <p:cNvSpPr>
            <a:spLocks noGrp="1"/>
          </p:cNvSpPr>
          <p:nvPr>
            <p:ph idx="1"/>
          </p:nvPr>
        </p:nvSpPr>
        <p:spPr/>
        <p:txBody>
          <a:bodyPr/>
          <a:lstStyle/>
          <a:p>
            <a:pPr algn="just"/>
            <a:r>
              <a:rPr lang="es-AR" dirty="0" smtClean="0"/>
              <a:t>Este mercado se caracteriza porque ningún comprador o vendedor individual puede ejercer influencia alguna sobre el precio mediante sus compras o ventas individuales.</a:t>
            </a:r>
          </a:p>
          <a:p>
            <a:pPr algn="just"/>
            <a:r>
              <a:rPr lang="es-AR" dirty="0" smtClean="0"/>
              <a:t>Tanto empresarios como consumidores son precio aceptantes.</a:t>
            </a:r>
          </a:p>
          <a:p>
            <a:pPr algn="just"/>
            <a:r>
              <a:rPr lang="es-AR" dirty="0" smtClean="0"/>
              <a:t>No existe rivalidad entre los productores.</a:t>
            </a:r>
            <a:endParaRPr lang="es-AR" dirty="0"/>
          </a:p>
        </p:txBody>
      </p:sp>
    </p:spTree>
    <p:extLst>
      <p:ext uri="{BB962C8B-B14F-4D97-AF65-F5344CB8AC3E}">
        <p14:creationId xmlns:p14="http://schemas.microsoft.com/office/powerpoint/2010/main" val="196722742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Competencia Perfecta: Supuestos</a:t>
            </a:r>
            <a:endParaRPr lang="es-AR" dirty="0"/>
          </a:p>
        </p:txBody>
      </p:sp>
      <p:graphicFrame>
        <p:nvGraphicFramePr>
          <p:cNvPr id="5" name="4 Marcador de contenido"/>
          <p:cNvGraphicFramePr>
            <a:graphicFrameLocks noGrp="1"/>
          </p:cNvGraphicFramePr>
          <p:nvPr>
            <p:ph idx="1"/>
          </p:nvPr>
        </p:nvGraphicFramePr>
        <p:xfrm>
          <a:off x="457200" y="1935163"/>
          <a:ext cx="8229600" cy="4389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9230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Período de mercado o plazo inmediato:</a:t>
            </a:r>
            <a:endParaRPr lang="es-AR" dirty="0"/>
          </a:p>
        </p:txBody>
      </p:sp>
      <p:sp>
        <p:nvSpPr>
          <p:cNvPr id="3" name="2 Marcador de contenido"/>
          <p:cNvSpPr>
            <a:spLocks noGrp="1"/>
          </p:cNvSpPr>
          <p:nvPr>
            <p:ph idx="1"/>
          </p:nvPr>
        </p:nvSpPr>
        <p:spPr/>
        <p:txBody>
          <a:bodyPr>
            <a:normAutofit/>
          </a:bodyPr>
          <a:lstStyle/>
          <a:p>
            <a:pPr algn="just"/>
            <a:r>
              <a:rPr lang="es-AR" dirty="0" smtClean="0"/>
              <a:t>Es la situación en la cual no se dispone de ningún tiempo para que los oferentes de un producto puedan realizar ajustes.</a:t>
            </a:r>
          </a:p>
          <a:p>
            <a:pPr algn="just"/>
            <a:r>
              <a:rPr lang="es-AR" dirty="0" smtClean="0"/>
              <a:t>Industria: Conjunto de empresas que producen un bien homogéneo.</a:t>
            </a:r>
          </a:p>
          <a:p>
            <a:pPr algn="just"/>
            <a:r>
              <a:rPr lang="es-AR" dirty="0" smtClean="0"/>
              <a:t>La oferta de la industria en este período de tiempo es perfectamente inelástica o vertical.</a:t>
            </a:r>
          </a:p>
          <a:p>
            <a:pPr algn="just"/>
            <a:r>
              <a:rPr lang="es-AR" dirty="0" smtClean="0"/>
              <a:t>El precio cumple una función de racionamiento, no se relaciona con costos de producción.</a:t>
            </a:r>
            <a:endParaRPr lang="es-AR" dirty="0"/>
          </a:p>
        </p:txBody>
      </p:sp>
    </p:spTree>
    <p:extLst>
      <p:ext uri="{BB962C8B-B14F-4D97-AF65-F5344CB8AC3E}">
        <p14:creationId xmlns:p14="http://schemas.microsoft.com/office/powerpoint/2010/main" val="29439175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Período de mercado o plazo inmediato:</a:t>
            </a:r>
            <a:endParaRPr lang="es-AR" dirty="0"/>
          </a:p>
        </p:txBody>
      </p:sp>
      <p:pic>
        <p:nvPicPr>
          <p:cNvPr id="1026" name="Picture 2"/>
          <p:cNvPicPr>
            <a:picLocks noGrp="1" noChangeAspect="1" noChangeArrowheads="1"/>
          </p:cNvPicPr>
          <p:nvPr>
            <p:ph idx="1"/>
          </p:nvPr>
        </p:nvPicPr>
        <p:blipFill>
          <a:blip r:embed="rId3"/>
          <a:stretch>
            <a:fillRect/>
          </a:stretch>
        </p:blipFill>
        <p:spPr bwMode="auto">
          <a:xfrm>
            <a:off x="1648763" y="1935163"/>
            <a:ext cx="5846473" cy="4389437"/>
          </a:xfrm>
          <a:prstGeom prst="rect">
            <a:avLst/>
          </a:prstGeom>
          <a:noFill/>
          <a:ln w="9525">
            <a:noFill/>
            <a:miter lim="800000"/>
            <a:headEnd/>
            <a:tailEnd/>
          </a:ln>
          <a:effectLst/>
        </p:spPr>
      </p:pic>
    </p:spTree>
    <p:extLst>
      <p:ext uri="{BB962C8B-B14F-4D97-AF65-F5344CB8AC3E}">
        <p14:creationId xmlns:p14="http://schemas.microsoft.com/office/powerpoint/2010/main" val="5800833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Demanda de mercado y demanda individual.</a:t>
            </a:r>
            <a:endParaRPr lang="es-AR" dirty="0"/>
          </a:p>
        </p:txBody>
      </p:sp>
      <p:pic>
        <p:nvPicPr>
          <p:cNvPr id="2050" name="Picture 2"/>
          <p:cNvPicPr>
            <a:picLocks noGrp="1" noChangeAspect="1" noChangeArrowheads="1"/>
          </p:cNvPicPr>
          <p:nvPr>
            <p:ph idx="1"/>
          </p:nvPr>
        </p:nvPicPr>
        <p:blipFill>
          <a:blip r:embed="rId2"/>
          <a:stretch>
            <a:fillRect/>
          </a:stretch>
        </p:blipFill>
        <p:spPr bwMode="auto">
          <a:xfrm>
            <a:off x="2262187" y="3044031"/>
            <a:ext cx="4619625" cy="2171700"/>
          </a:xfrm>
          <a:prstGeom prst="rect">
            <a:avLst/>
          </a:prstGeom>
          <a:noFill/>
          <a:ln w="9525">
            <a:noFill/>
            <a:miter lim="800000"/>
            <a:headEnd/>
            <a:tailEnd/>
          </a:ln>
          <a:effectLst/>
        </p:spPr>
      </p:pic>
    </p:spTree>
    <p:extLst>
      <p:ext uri="{BB962C8B-B14F-4D97-AF65-F5344CB8AC3E}">
        <p14:creationId xmlns:p14="http://schemas.microsoft.com/office/powerpoint/2010/main" val="40980487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Demanda a la cual se enfrenta el competidor perfecto:</a:t>
            </a:r>
            <a:endParaRPr lang="es-AR" dirty="0"/>
          </a:p>
        </p:txBody>
      </p:sp>
      <p:sp>
        <p:nvSpPr>
          <p:cNvPr id="3" name="2 Marcador de contenido"/>
          <p:cNvSpPr>
            <a:spLocks noGrp="1"/>
          </p:cNvSpPr>
          <p:nvPr>
            <p:ph idx="1"/>
          </p:nvPr>
        </p:nvSpPr>
        <p:spPr/>
        <p:txBody>
          <a:bodyPr/>
          <a:lstStyle/>
          <a:p>
            <a:pPr algn="just"/>
            <a:r>
              <a:rPr lang="es-AR" dirty="0" smtClean="0"/>
              <a:t>Es perfectamente elástica ya que la empresa perderá todas sus ventas si intenta cobrar un precio superior que el precio de mercado por su producto.</a:t>
            </a:r>
          </a:p>
          <a:p>
            <a:pPr algn="just"/>
            <a:r>
              <a:rPr lang="es-AR" dirty="0" smtClean="0"/>
              <a:t>Tampoco podrá cobrar un precio inferior al de mercado ya que esto no le permitiría maximizar su nivel de ganancias.</a:t>
            </a:r>
          </a:p>
          <a:p>
            <a:pPr>
              <a:buNone/>
            </a:pPr>
            <a:endParaRPr lang="es-AR" dirty="0"/>
          </a:p>
        </p:txBody>
      </p:sp>
    </p:spTree>
    <p:extLst>
      <p:ext uri="{BB962C8B-B14F-4D97-AF65-F5344CB8AC3E}">
        <p14:creationId xmlns:p14="http://schemas.microsoft.com/office/powerpoint/2010/main" val="25720864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Flujos financieros del competidor perfecto:</a:t>
            </a:r>
            <a:endParaRPr lang="es-AR" dirty="0"/>
          </a:p>
        </p:txBody>
      </p:sp>
      <p:sp>
        <p:nvSpPr>
          <p:cNvPr id="3" name="2 Marcador de contenido"/>
          <p:cNvSpPr>
            <a:spLocks noGrp="1"/>
          </p:cNvSpPr>
          <p:nvPr>
            <p:ph idx="1"/>
          </p:nvPr>
        </p:nvSpPr>
        <p:spPr/>
        <p:txBody>
          <a:bodyPr/>
          <a:lstStyle/>
          <a:p>
            <a:pPr algn="just"/>
            <a:r>
              <a:rPr lang="es-AR" dirty="0" smtClean="0"/>
              <a:t>Ingreso marginal: Variación experimentada en el ingreso total debido a un cambio unitario en las ventas.</a:t>
            </a:r>
          </a:p>
          <a:p>
            <a:pPr algn="just"/>
            <a:r>
              <a:rPr lang="es-AR" dirty="0" smtClean="0"/>
              <a:t>Ingreso Medio: es la cantidad de ingreso generada por unidad de producto vendido.</a:t>
            </a:r>
          </a:p>
          <a:p>
            <a:pPr algn="just"/>
            <a:r>
              <a:rPr lang="es-AR" dirty="0" smtClean="0"/>
              <a:t>Ingreso Total: cantidad de recursos que percibe la empresa como consecuencia del ejercicio de su actividad principal.</a:t>
            </a:r>
            <a:endParaRPr lang="es-AR" dirty="0"/>
          </a:p>
        </p:txBody>
      </p:sp>
    </p:spTree>
    <p:extLst>
      <p:ext uri="{BB962C8B-B14F-4D97-AF65-F5344CB8AC3E}">
        <p14:creationId xmlns:p14="http://schemas.microsoft.com/office/powerpoint/2010/main" val="99847336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Maximización de beneficios: Enfoque IT-CT</a:t>
            </a:r>
            <a:endParaRPr lang="es-AR" dirty="0"/>
          </a:p>
        </p:txBody>
      </p:sp>
      <p:pic>
        <p:nvPicPr>
          <p:cNvPr id="3075" name="Picture 3"/>
          <p:cNvPicPr>
            <a:picLocks noGrp="1" noChangeAspect="1" noChangeArrowheads="1"/>
          </p:cNvPicPr>
          <p:nvPr>
            <p:ph idx="1"/>
          </p:nvPr>
        </p:nvPicPr>
        <p:blipFill>
          <a:blip r:embed="rId2"/>
          <a:stretch>
            <a:fillRect/>
          </a:stretch>
        </p:blipFill>
        <p:spPr bwMode="auto">
          <a:xfrm>
            <a:off x="785786" y="1785926"/>
            <a:ext cx="7358113" cy="4643470"/>
          </a:xfrm>
          <a:prstGeom prst="rect">
            <a:avLst/>
          </a:prstGeom>
          <a:noFill/>
          <a:ln w="9525">
            <a:noFill/>
            <a:miter lim="800000"/>
            <a:headEnd/>
            <a:tailEnd/>
          </a:ln>
          <a:effectLst/>
        </p:spPr>
      </p:pic>
    </p:spTree>
    <p:extLst>
      <p:ext uri="{BB962C8B-B14F-4D97-AF65-F5344CB8AC3E}">
        <p14:creationId xmlns:p14="http://schemas.microsoft.com/office/powerpoint/2010/main" val="27589513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Maximización de beneficios: Enfoque </a:t>
            </a:r>
            <a:r>
              <a:rPr lang="es-AR" dirty="0" err="1" smtClean="0"/>
              <a:t>Img</a:t>
            </a:r>
            <a:r>
              <a:rPr lang="es-AR" dirty="0" smtClean="0"/>
              <a:t>=</a:t>
            </a:r>
            <a:r>
              <a:rPr lang="es-AR" dirty="0" err="1" smtClean="0"/>
              <a:t>Cmg</a:t>
            </a:r>
            <a:endParaRPr lang="es-AR" dirty="0"/>
          </a:p>
        </p:txBody>
      </p:sp>
      <p:pic>
        <p:nvPicPr>
          <p:cNvPr id="4098" name="Picture 2"/>
          <p:cNvPicPr>
            <a:picLocks noGrp="1" noChangeAspect="1" noChangeArrowheads="1"/>
          </p:cNvPicPr>
          <p:nvPr>
            <p:ph idx="1"/>
          </p:nvPr>
        </p:nvPicPr>
        <p:blipFill>
          <a:blip r:embed="rId2"/>
          <a:srcRect/>
          <a:stretch>
            <a:fillRect/>
          </a:stretch>
        </p:blipFill>
        <p:spPr bwMode="auto">
          <a:xfrm>
            <a:off x="714348" y="1829594"/>
            <a:ext cx="6929486" cy="4067175"/>
          </a:xfrm>
          <a:prstGeom prst="rect">
            <a:avLst/>
          </a:prstGeom>
          <a:noFill/>
          <a:ln w="9525">
            <a:noFill/>
            <a:miter lim="800000"/>
            <a:headEnd/>
            <a:tailEnd/>
          </a:ln>
          <a:effectLst/>
        </p:spPr>
      </p:pic>
    </p:spTree>
    <p:extLst>
      <p:ext uri="{BB962C8B-B14F-4D97-AF65-F5344CB8AC3E}">
        <p14:creationId xmlns:p14="http://schemas.microsoft.com/office/powerpoint/2010/main" val="214629272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Nivel Óptimo de Producción:</a:t>
            </a:r>
            <a:endParaRPr lang="es-AR" dirty="0"/>
          </a:p>
        </p:txBody>
      </p:sp>
      <p:pic>
        <p:nvPicPr>
          <p:cNvPr id="5122" name="Picture 2"/>
          <p:cNvPicPr>
            <a:picLocks noGrp="1" noChangeAspect="1" noChangeArrowheads="1"/>
          </p:cNvPicPr>
          <p:nvPr>
            <p:ph idx="1"/>
          </p:nvPr>
        </p:nvPicPr>
        <p:blipFill>
          <a:blip r:embed="rId2"/>
          <a:stretch>
            <a:fillRect/>
          </a:stretch>
        </p:blipFill>
        <p:spPr bwMode="auto">
          <a:xfrm>
            <a:off x="642910" y="1857364"/>
            <a:ext cx="7786742" cy="4643470"/>
          </a:xfrm>
          <a:prstGeom prst="rect">
            <a:avLst/>
          </a:prstGeom>
          <a:noFill/>
          <a:ln w="9525">
            <a:noFill/>
            <a:miter lim="800000"/>
            <a:headEnd/>
            <a:tailEnd/>
          </a:ln>
          <a:effectLst/>
        </p:spPr>
      </p:pic>
    </p:spTree>
    <p:extLst>
      <p:ext uri="{BB962C8B-B14F-4D97-AF65-F5344CB8AC3E}">
        <p14:creationId xmlns:p14="http://schemas.microsoft.com/office/powerpoint/2010/main" val="13252115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Ganancias Normales:</a:t>
            </a:r>
            <a:endParaRPr lang="es-AR" dirty="0"/>
          </a:p>
        </p:txBody>
      </p:sp>
      <p:pic>
        <p:nvPicPr>
          <p:cNvPr id="6146" name="Picture 2"/>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a:ln w="9525">
            <a:noFill/>
            <a:miter lim="800000"/>
            <a:headEnd/>
            <a:tailEnd/>
          </a:ln>
          <a:effectLst/>
        </p:spPr>
      </p:pic>
    </p:spTree>
    <p:extLst>
      <p:ext uri="{BB962C8B-B14F-4D97-AF65-F5344CB8AC3E}">
        <p14:creationId xmlns:p14="http://schemas.microsoft.com/office/powerpoint/2010/main" val="69055687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7170" name="Picture 2"/>
          <p:cNvPicPr>
            <a:picLocks noGrp="1" noChangeAspect="1" noChangeArrowheads="1"/>
          </p:cNvPicPr>
          <p:nvPr>
            <p:ph idx="1"/>
          </p:nvPr>
        </p:nvPicPr>
        <p:blipFill>
          <a:blip r:embed="rId2"/>
          <a:srcRect/>
          <a:stretch>
            <a:fillRect/>
          </a:stretch>
        </p:blipFill>
        <p:spPr bwMode="auto">
          <a:xfrm>
            <a:off x="0" y="285728"/>
            <a:ext cx="9144000" cy="6572272"/>
          </a:xfrm>
          <a:prstGeom prst="rect">
            <a:avLst/>
          </a:prstGeom>
          <a:noFill/>
          <a:ln w="9525">
            <a:noFill/>
            <a:miter lim="800000"/>
            <a:headEnd/>
            <a:tailEnd/>
          </a:ln>
          <a:effectLst/>
        </p:spPr>
      </p:pic>
    </p:spTree>
    <p:extLst>
      <p:ext uri="{BB962C8B-B14F-4D97-AF65-F5344CB8AC3E}">
        <p14:creationId xmlns:p14="http://schemas.microsoft.com/office/powerpoint/2010/main" val="29538703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8194" name="Picture 2"/>
          <p:cNvPicPr>
            <a:picLocks noGrp="1" noChangeAspect="1" noChangeArrowheads="1"/>
          </p:cNvPicPr>
          <p:nvPr>
            <p:ph idx="1"/>
          </p:nvPr>
        </p:nvPicPr>
        <p:blipFill>
          <a:blip r:embed="rId2"/>
          <a:srcRect/>
          <a:stretch>
            <a:fillRect/>
          </a:stretch>
        </p:blipFill>
        <p:spPr bwMode="auto">
          <a:xfrm>
            <a:off x="357158" y="285728"/>
            <a:ext cx="8786841" cy="6215106"/>
          </a:xfrm>
          <a:prstGeom prst="rect">
            <a:avLst/>
          </a:prstGeom>
          <a:noFill/>
          <a:ln w="9525">
            <a:noFill/>
            <a:miter lim="800000"/>
            <a:headEnd/>
            <a:tailEnd/>
          </a:ln>
          <a:effectLst/>
        </p:spPr>
      </p:pic>
    </p:spTree>
    <p:extLst>
      <p:ext uri="{BB962C8B-B14F-4D97-AF65-F5344CB8AC3E}">
        <p14:creationId xmlns:p14="http://schemas.microsoft.com/office/powerpoint/2010/main" val="8950170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Beneficios súper normales:</a:t>
            </a:r>
            <a:endParaRPr lang="es-AR" dirty="0"/>
          </a:p>
        </p:txBody>
      </p:sp>
      <p:pic>
        <p:nvPicPr>
          <p:cNvPr id="9218" name="Picture 2"/>
          <p:cNvPicPr>
            <a:picLocks noGrp="1" noChangeAspect="1" noChangeArrowheads="1"/>
          </p:cNvPicPr>
          <p:nvPr>
            <p:ph idx="1"/>
          </p:nvPr>
        </p:nvPicPr>
        <p:blipFill>
          <a:blip r:embed="rId2"/>
          <a:stretch>
            <a:fillRect/>
          </a:stretch>
        </p:blipFill>
        <p:spPr bwMode="auto">
          <a:xfrm>
            <a:off x="1214415" y="1928802"/>
            <a:ext cx="6643734" cy="4572031"/>
          </a:xfrm>
          <a:prstGeom prst="rect">
            <a:avLst/>
          </a:prstGeom>
          <a:noFill/>
          <a:ln w="9525">
            <a:noFill/>
            <a:miter lim="800000"/>
            <a:headEnd/>
            <a:tailEnd/>
          </a:ln>
          <a:effectLst/>
        </p:spPr>
      </p:pic>
    </p:spTree>
    <p:extLst>
      <p:ext uri="{BB962C8B-B14F-4D97-AF65-F5344CB8AC3E}">
        <p14:creationId xmlns:p14="http://schemas.microsoft.com/office/powerpoint/2010/main" val="31374506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Curva de Oferta </a:t>
            </a:r>
            <a:endParaRPr lang="es-AR" dirty="0"/>
          </a:p>
        </p:txBody>
      </p:sp>
      <p:pic>
        <p:nvPicPr>
          <p:cNvPr id="10242" name="Picture 2"/>
          <p:cNvPicPr>
            <a:picLocks noGrp="1" noChangeAspect="1" noChangeArrowheads="1"/>
          </p:cNvPicPr>
          <p:nvPr>
            <p:ph idx="1"/>
          </p:nvPr>
        </p:nvPicPr>
        <p:blipFill>
          <a:blip r:embed="rId2"/>
          <a:stretch>
            <a:fillRect/>
          </a:stretch>
        </p:blipFill>
        <p:spPr bwMode="auto">
          <a:xfrm>
            <a:off x="1357291" y="2143116"/>
            <a:ext cx="6572296" cy="4714884"/>
          </a:xfrm>
          <a:prstGeom prst="rect">
            <a:avLst/>
          </a:prstGeom>
          <a:noFill/>
          <a:ln w="9525">
            <a:noFill/>
            <a:miter lim="800000"/>
            <a:headEnd/>
            <a:tailEnd/>
          </a:ln>
          <a:effectLst/>
        </p:spPr>
      </p:pic>
    </p:spTree>
    <p:extLst>
      <p:ext uri="{BB962C8B-B14F-4D97-AF65-F5344CB8AC3E}">
        <p14:creationId xmlns:p14="http://schemas.microsoft.com/office/powerpoint/2010/main" val="349354037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Equilibrio a largo plazo para una empresa competitiva:</a:t>
            </a:r>
            <a:endParaRPr lang="es-AR" dirty="0"/>
          </a:p>
        </p:txBody>
      </p:sp>
      <p:pic>
        <p:nvPicPr>
          <p:cNvPr id="14338" name="Picture 2"/>
          <p:cNvPicPr>
            <a:picLocks noGrp="1" noChangeAspect="1" noChangeArrowheads="1"/>
          </p:cNvPicPr>
          <p:nvPr>
            <p:ph idx="1"/>
          </p:nvPr>
        </p:nvPicPr>
        <p:blipFill>
          <a:blip r:embed="rId2"/>
          <a:stretch>
            <a:fillRect/>
          </a:stretch>
        </p:blipFill>
        <p:spPr bwMode="auto">
          <a:xfrm>
            <a:off x="0" y="1935163"/>
            <a:ext cx="8572528" cy="4389437"/>
          </a:xfrm>
          <a:prstGeom prst="rect">
            <a:avLst/>
          </a:prstGeom>
          <a:noFill/>
          <a:ln w="9525">
            <a:noFill/>
            <a:miter lim="800000"/>
            <a:headEnd/>
            <a:tailEnd/>
          </a:ln>
          <a:effectLst/>
        </p:spPr>
      </p:pic>
    </p:spTree>
    <p:extLst>
      <p:ext uri="{BB962C8B-B14F-4D97-AF65-F5344CB8AC3E}">
        <p14:creationId xmlns:p14="http://schemas.microsoft.com/office/powerpoint/2010/main" val="34699038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1266" name="Picture 2"/>
          <p:cNvPicPr>
            <a:picLocks noGrp="1" noChangeAspect="1" noChangeArrowheads="1"/>
          </p:cNvPicPr>
          <p:nvPr>
            <p:ph idx="1"/>
          </p:nvPr>
        </p:nvPicPr>
        <p:blipFill>
          <a:blip r:embed="rId2"/>
          <a:srcRect/>
          <a:stretch>
            <a:fillRect/>
          </a:stretch>
        </p:blipFill>
        <p:spPr bwMode="auto">
          <a:xfrm>
            <a:off x="0" y="0"/>
            <a:ext cx="8786842" cy="6858000"/>
          </a:xfrm>
          <a:prstGeom prst="rect">
            <a:avLst/>
          </a:prstGeom>
          <a:noFill/>
          <a:ln w="9525">
            <a:noFill/>
            <a:miter lim="800000"/>
            <a:headEnd/>
            <a:tailEnd/>
          </a:ln>
          <a:effectLst/>
        </p:spPr>
      </p:pic>
    </p:spTree>
    <p:extLst>
      <p:ext uri="{BB962C8B-B14F-4D97-AF65-F5344CB8AC3E}">
        <p14:creationId xmlns:p14="http://schemas.microsoft.com/office/powerpoint/2010/main" val="31789228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2290" name="Picture 2"/>
          <p:cNvPicPr>
            <a:picLocks noGrp="1" noChangeAspect="1" noChangeArrowheads="1"/>
          </p:cNvPicPr>
          <p:nvPr>
            <p:ph idx="1"/>
          </p:nvPr>
        </p:nvPicPr>
        <p:blipFill>
          <a:blip r:embed="rId2"/>
          <a:srcRect/>
          <a:stretch>
            <a:fillRect/>
          </a:stretch>
        </p:blipFill>
        <p:spPr bwMode="auto">
          <a:xfrm>
            <a:off x="1" y="357166"/>
            <a:ext cx="8858280" cy="6500834"/>
          </a:xfrm>
          <a:prstGeom prst="rect">
            <a:avLst/>
          </a:prstGeom>
          <a:noFill/>
          <a:ln w="9525">
            <a:noFill/>
            <a:miter lim="800000"/>
            <a:headEnd/>
            <a:tailEnd/>
          </a:ln>
          <a:effectLst/>
        </p:spPr>
      </p:pic>
    </p:spTree>
    <p:extLst>
      <p:ext uri="{BB962C8B-B14F-4D97-AF65-F5344CB8AC3E}">
        <p14:creationId xmlns:p14="http://schemas.microsoft.com/office/powerpoint/2010/main" val="24123632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pic>
        <p:nvPicPr>
          <p:cNvPr id="15362" name="Picture 2"/>
          <p:cNvPicPr>
            <a:picLocks noGrp="1" noChangeAspect="1" noChangeArrowheads="1"/>
          </p:cNvPicPr>
          <p:nvPr>
            <p:ph idx="1"/>
          </p:nvPr>
        </p:nvPicPr>
        <p:blipFill>
          <a:blip r:embed="rId2"/>
          <a:srcRect/>
          <a:stretch>
            <a:fillRect/>
          </a:stretch>
        </p:blipFill>
        <p:spPr bwMode="auto">
          <a:xfrm>
            <a:off x="285721" y="0"/>
            <a:ext cx="8572560" cy="6429396"/>
          </a:xfrm>
          <a:prstGeom prst="rect">
            <a:avLst/>
          </a:prstGeom>
          <a:noFill/>
          <a:ln w="9525">
            <a:noFill/>
            <a:miter lim="800000"/>
            <a:headEnd/>
            <a:tailEnd/>
          </a:ln>
          <a:effectLst/>
        </p:spPr>
      </p:pic>
      <p:sp>
        <p:nvSpPr>
          <p:cNvPr id="5" name="4 Rectángulo"/>
          <p:cNvSpPr/>
          <p:nvPr/>
        </p:nvSpPr>
        <p:spPr>
          <a:xfrm>
            <a:off x="357158" y="6072206"/>
            <a:ext cx="4286280"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err="1" smtClean="0"/>
              <a:t>Cme</a:t>
            </a:r>
            <a:r>
              <a:rPr lang="es-AR" dirty="0" smtClean="0"/>
              <a:t> LP</a:t>
            </a:r>
            <a:endParaRPr lang="es-AR" dirty="0"/>
          </a:p>
        </p:txBody>
      </p:sp>
    </p:spTree>
    <p:extLst>
      <p:ext uri="{BB962C8B-B14F-4D97-AF65-F5344CB8AC3E}">
        <p14:creationId xmlns:p14="http://schemas.microsoft.com/office/powerpoint/2010/main" val="13790228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Equilibrio a Largo Plazo:</a:t>
            </a:r>
            <a:endParaRPr lang="es-AR" dirty="0"/>
          </a:p>
        </p:txBody>
      </p:sp>
      <p:pic>
        <p:nvPicPr>
          <p:cNvPr id="13314" name="Picture 2"/>
          <p:cNvPicPr>
            <a:picLocks noGrp="1" noChangeAspect="1" noChangeArrowheads="1"/>
          </p:cNvPicPr>
          <p:nvPr>
            <p:ph idx="1"/>
          </p:nvPr>
        </p:nvPicPr>
        <p:blipFill>
          <a:blip r:embed="rId2"/>
          <a:stretch>
            <a:fillRect/>
          </a:stretch>
        </p:blipFill>
        <p:spPr bwMode="auto">
          <a:xfrm>
            <a:off x="1285852" y="2071678"/>
            <a:ext cx="6643734" cy="3786213"/>
          </a:xfrm>
          <a:prstGeom prst="rect">
            <a:avLst/>
          </a:prstGeom>
          <a:noFill/>
          <a:ln w="9525">
            <a:noFill/>
            <a:miter lim="800000"/>
            <a:headEnd/>
            <a:tailEnd/>
          </a:ln>
          <a:effectLst/>
        </p:spPr>
      </p:pic>
    </p:spTree>
    <p:extLst>
      <p:ext uri="{BB962C8B-B14F-4D97-AF65-F5344CB8AC3E}">
        <p14:creationId xmlns:p14="http://schemas.microsoft.com/office/powerpoint/2010/main" val="60561144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AR" dirty="0" smtClean="0"/>
              <a:t>Ejercicios de Aplicación: Complete las columnas faltantes.</a:t>
            </a:r>
            <a:endParaRPr lang="es-AR" dirty="0"/>
          </a:p>
        </p:txBody>
      </p:sp>
      <p:pic>
        <p:nvPicPr>
          <p:cNvPr id="16388" name="Picture 4"/>
          <p:cNvPicPr>
            <a:picLocks noGrp="1" noChangeAspect="1" noChangeArrowheads="1"/>
          </p:cNvPicPr>
          <p:nvPr>
            <p:ph idx="1"/>
          </p:nvPr>
        </p:nvPicPr>
        <p:blipFill>
          <a:blip r:embed="rId2"/>
          <a:stretch>
            <a:fillRect/>
          </a:stretch>
        </p:blipFill>
        <p:spPr bwMode="auto">
          <a:xfrm>
            <a:off x="0" y="428604"/>
            <a:ext cx="9144000" cy="6215106"/>
          </a:xfrm>
          <a:prstGeom prst="rect">
            <a:avLst/>
          </a:prstGeom>
          <a:noFill/>
          <a:ln w="9525">
            <a:noFill/>
            <a:miter lim="800000"/>
            <a:headEnd/>
            <a:tailEnd/>
          </a:ln>
          <a:effectLst/>
        </p:spPr>
      </p:pic>
    </p:spTree>
    <p:extLst>
      <p:ext uri="{BB962C8B-B14F-4D97-AF65-F5344CB8AC3E}">
        <p14:creationId xmlns:p14="http://schemas.microsoft.com/office/powerpoint/2010/main" val="24195793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Solución:</a:t>
            </a:r>
            <a:endParaRPr lang="es-AR" dirty="0"/>
          </a:p>
        </p:txBody>
      </p:sp>
      <p:sp>
        <p:nvSpPr>
          <p:cNvPr id="3" name="2 Marcador de contenido"/>
          <p:cNvSpPr>
            <a:spLocks noGrp="1"/>
          </p:cNvSpPr>
          <p:nvPr>
            <p:ph idx="1"/>
          </p:nvPr>
        </p:nvSpPr>
        <p:spPr/>
        <p:txBody>
          <a:bodyPr/>
          <a:lstStyle/>
          <a:p>
            <a:r>
              <a:rPr lang="es-AR" dirty="0" smtClean="0"/>
              <a:t>*</a:t>
            </a:r>
            <a:endParaRPr lang="es-AR" dirty="0"/>
          </a:p>
        </p:txBody>
      </p:sp>
      <p:graphicFrame>
        <p:nvGraphicFramePr>
          <p:cNvPr id="53250" name="Object 2"/>
          <p:cNvGraphicFramePr>
            <a:graphicFrameLocks noChangeAspect="1"/>
          </p:cNvGraphicFramePr>
          <p:nvPr/>
        </p:nvGraphicFramePr>
        <p:xfrm>
          <a:off x="357158" y="0"/>
          <a:ext cx="8501122" cy="6858000"/>
        </p:xfrm>
        <a:graphic>
          <a:graphicData uri="http://schemas.openxmlformats.org/presentationml/2006/ole">
            <mc:AlternateContent xmlns:mc="http://schemas.openxmlformats.org/markup-compatibility/2006">
              <mc:Choice xmlns:v="urn:schemas-microsoft-com:vml" Requires="v">
                <p:oleObj spid="_x0000_s3075" name="Hoja de cálculo" r:id="rId3" imgW="8391449" imgH="3248076" progId="Excel.Sheet.12">
                  <p:embed/>
                </p:oleObj>
              </mc:Choice>
              <mc:Fallback>
                <p:oleObj name="Hoja de cálculo" r:id="rId3" imgW="8391449" imgH="3248076" progId="Excel.Sheet.12">
                  <p:embed/>
                  <p:pic>
                    <p:nvPicPr>
                      <p:cNvPr id="532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58" y="0"/>
                        <a:ext cx="8501122"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4499643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MONOPOLIO</a:t>
            </a:r>
            <a:endParaRPr lang="es-AR" dirty="0"/>
          </a:p>
        </p:txBody>
      </p:sp>
      <p:sp>
        <p:nvSpPr>
          <p:cNvPr id="3" name="2 Marcador de contenido"/>
          <p:cNvSpPr>
            <a:spLocks noGrp="1"/>
          </p:cNvSpPr>
          <p:nvPr>
            <p:ph idx="1"/>
          </p:nvPr>
        </p:nvSpPr>
        <p:spPr/>
        <p:txBody>
          <a:bodyPr>
            <a:normAutofit fontScale="55000" lnSpcReduction="20000"/>
          </a:bodyPr>
          <a:lstStyle/>
          <a:p>
            <a:pPr algn="just">
              <a:defRPr/>
            </a:pPr>
            <a:r>
              <a:rPr lang="es-AR" dirty="0" smtClean="0"/>
              <a:t>El monopolio es un modelo de mercado de competencia imperfecta que se caracteriza por la presencia de un solo vendedor que ofrece su producto único a todos los consumidores. Las economías domésticas tienen que optar entre adquirir el producto a esta sola empresa cuyo precio lo fija de manera unilateral o prescindir de él. </a:t>
            </a:r>
          </a:p>
          <a:p>
            <a:pPr algn="just">
              <a:defRPr/>
            </a:pPr>
            <a:endParaRPr lang="es-AR" dirty="0" smtClean="0"/>
          </a:p>
          <a:p>
            <a:pPr algn="just">
              <a:defRPr/>
            </a:pPr>
            <a:r>
              <a:rPr lang="es-AR" dirty="0" smtClean="0"/>
              <a:t>La empresa monopolista tiene todo el poder de fijar el precio del bien o servicio que ofrece, y opera generalmente en niveles de producción que le aseguren la obtención de beneficios extraordinarios. Toda empresa que desee ingresar al mercado tendrá su acceso bloqueado, ya sea por barreras o impedimentos legales, tecnológicos, financieros, etc. </a:t>
            </a:r>
          </a:p>
          <a:p>
            <a:pPr algn="just">
              <a:defRPr/>
            </a:pPr>
            <a:endParaRPr lang="es-AR" dirty="0" smtClean="0"/>
          </a:p>
          <a:p>
            <a:pPr algn="just">
              <a:defRPr/>
            </a:pPr>
            <a:r>
              <a:rPr lang="es-AR" dirty="0" smtClean="0"/>
              <a:t>En el corto plazo no existe posibilidad de que ingresen nuevas empresas al mercado por lo que la empresa monopolista define precios y cantidades en función de sus propios intereses. La publicidad no tiene sentido, y cuando se la realiza es al solo efecto de fines institucionales.</a:t>
            </a:r>
          </a:p>
          <a:p>
            <a:pPr algn="just">
              <a:defRPr/>
            </a:pPr>
            <a:r>
              <a:rPr lang="es-AR" dirty="0" smtClean="0"/>
              <a:t>El </a:t>
            </a:r>
            <a:r>
              <a:rPr lang="es-AR" b="1" dirty="0" smtClean="0"/>
              <a:t>origen</a:t>
            </a:r>
            <a:r>
              <a:rPr lang="es-AR" dirty="0" smtClean="0"/>
              <a:t> del monopolio es diverso. Puede existir una única empresa oferente porque:</a:t>
            </a:r>
          </a:p>
          <a:p>
            <a:pPr algn="just">
              <a:buFont typeface="Wingdings 3" pitchFamily="18" charset="2"/>
              <a:buNone/>
              <a:defRPr/>
            </a:pPr>
            <a:r>
              <a:rPr lang="es-AR" dirty="0" smtClean="0"/>
              <a:t> </a:t>
            </a:r>
          </a:p>
          <a:p>
            <a:pPr algn="just">
              <a:defRPr/>
            </a:pPr>
            <a:r>
              <a:rPr lang="es-AR" dirty="0" smtClean="0"/>
              <a:t>El Estado a través de una ley así lo dispone (monopolio legal). </a:t>
            </a:r>
          </a:p>
          <a:p>
            <a:pPr algn="just">
              <a:buFont typeface="Wingdings 3" pitchFamily="18" charset="2"/>
              <a:buNone/>
              <a:defRPr/>
            </a:pPr>
            <a:r>
              <a:rPr lang="es-AR" dirty="0" smtClean="0"/>
              <a:t> </a:t>
            </a:r>
          </a:p>
          <a:p>
            <a:pPr algn="just">
              <a:defRPr/>
            </a:pPr>
            <a:r>
              <a:rPr lang="es-AR" dirty="0" smtClean="0"/>
              <a:t>La empresa monopolista es la única propietaria del insumo que permite su producción (monopolio natural).</a:t>
            </a:r>
          </a:p>
          <a:p>
            <a:pPr algn="just">
              <a:defRPr/>
            </a:pPr>
            <a:endParaRPr lang="es-AR" dirty="0" smtClean="0"/>
          </a:p>
          <a:p>
            <a:pPr algn="just">
              <a:defRPr/>
            </a:pPr>
            <a:r>
              <a:rPr lang="es-AR" dirty="0" smtClean="0"/>
              <a:t>La cantidad de consumidores es tan reducida que sólo permite la existencia de una sola empresa oferente.</a:t>
            </a:r>
          </a:p>
          <a:p>
            <a:pPr>
              <a:defRPr/>
            </a:pPr>
            <a:endParaRPr lang="es-AR" dirty="0"/>
          </a:p>
        </p:txBody>
      </p:sp>
    </p:spTree>
    <p:extLst>
      <p:ext uri="{BB962C8B-B14F-4D97-AF65-F5344CB8AC3E}">
        <p14:creationId xmlns:p14="http://schemas.microsoft.com/office/powerpoint/2010/main" val="2766750290"/>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defRPr/>
            </a:pPr>
            <a:r>
              <a:rPr lang="es-AR" dirty="0" smtClean="0"/>
              <a:t>COMPETENCIA MONOPOLISTA</a:t>
            </a:r>
            <a:endParaRPr lang="es-AR" dirty="0"/>
          </a:p>
        </p:txBody>
      </p:sp>
      <p:sp>
        <p:nvSpPr>
          <p:cNvPr id="3" name="2 Marcador de contenido"/>
          <p:cNvSpPr>
            <a:spLocks noGrp="1"/>
          </p:cNvSpPr>
          <p:nvPr>
            <p:ph idx="1"/>
          </p:nvPr>
        </p:nvSpPr>
        <p:spPr/>
        <p:txBody>
          <a:bodyPr>
            <a:normAutofit fontScale="92500"/>
          </a:bodyPr>
          <a:lstStyle/>
          <a:p>
            <a:pPr algn="just">
              <a:defRPr/>
            </a:pPr>
            <a:r>
              <a:rPr lang="es-AR" dirty="0" smtClean="0"/>
              <a:t>La competencia monopolística es un modelo de mercado que se caracteriza por la presencia de un gran número de compradores y vendedores, en donde las empresas compiten ofreciendo productos similares, susceptibles de satisfacer una misma necesidad (productos sustitutos).</a:t>
            </a:r>
          </a:p>
          <a:p>
            <a:pPr algn="just">
              <a:defRPr/>
            </a:pPr>
            <a:endParaRPr lang="es-AR" dirty="0" smtClean="0"/>
          </a:p>
          <a:p>
            <a:pPr algn="just">
              <a:defRPr/>
            </a:pPr>
            <a:r>
              <a:rPr lang="es-AR" dirty="0" smtClean="0"/>
              <a:t>Del grado de diferenciación que logren en cuanto a características reales o aparentes del producto que ofrecen dependerá su capacidad para determinar relativamente el precio de su bien, que debe estar en consonancia con el de las competidoras próximas. </a:t>
            </a:r>
          </a:p>
          <a:p>
            <a:pPr>
              <a:defRPr/>
            </a:pPr>
            <a:endParaRPr lang="es-AR" dirty="0"/>
          </a:p>
        </p:txBody>
      </p:sp>
    </p:spTree>
    <p:extLst>
      <p:ext uri="{BB962C8B-B14F-4D97-AF65-F5344CB8AC3E}">
        <p14:creationId xmlns:p14="http://schemas.microsoft.com/office/powerpoint/2010/main" val="4055047921"/>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defRPr/>
            </a:pPr>
            <a:r>
              <a:rPr lang="es-AR" dirty="0" smtClean="0"/>
              <a:t>COMPETENCIA MONOPOLISTA</a:t>
            </a:r>
            <a:endParaRPr lang="es-AR" dirty="0"/>
          </a:p>
        </p:txBody>
      </p:sp>
      <p:sp>
        <p:nvSpPr>
          <p:cNvPr id="3" name="2 Marcador de contenido"/>
          <p:cNvSpPr>
            <a:spLocks noGrp="1"/>
          </p:cNvSpPr>
          <p:nvPr>
            <p:ph idx="1"/>
          </p:nvPr>
        </p:nvSpPr>
        <p:spPr>
          <a:xfrm>
            <a:off x="0" y="2286000"/>
            <a:ext cx="8229600" cy="4572000"/>
          </a:xfrm>
        </p:spPr>
        <p:txBody>
          <a:bodyPr>
            <a:normAutofit fontScale="92500" lnSpcReduction="20000"/>
          </a:bodyPr>
          <a:lstStyle/>
          <a:p>
            <a:pPr algn="just">
              <a:defRPr/>
            </a:pPr>
            <a:r>
              <a:rPr lang="es-AR" dirty="0" smtClean="0"/>
              <a:t>La </a:t>
            </a:r>
            <a:r>
              <a:rPr lang="es-AR" b="1" dirty="0" smtClean="0"/>
              <a:t>diferenciación</a:t>
            </a:r>
            <a:r>
              <a:rPr lang="es-AR" dirty="0" smtClean="0"/>
              <a:t> puede llegar a ser </a:t>
            </a:r>
            <a:r>
              <a:rPr lang="es-AR" b="1" dirty="0" smtClean="0"/>
              <a:t>real</a:t>
            </a:r>
            <a:r>
              <a:rPr lang="es-AR" dirty="0" smtClean="0"/>
              <a:t> o </a:t>
            </a:r>
            <a:r>
              <a:rPr lang="es-AR" b="1" dirty="0" smtClean="0"/>
              <a:t>aparente</a:t>
            </a:r>
            <a:r>
              <a:rPr lang="es-AR" dirty="0" smtClean="0"/>
              <a:t>:  </a:t>
            </a:r>
          </a:p>
          <a:p>
            <a:pPr algn="just">
              <a:defRPr/>
            </a:pPr>
            <a:r>
              <a:rPr lang="es-AR" dirty="0" smtClean="0"/>
              <a:t>La </a:t>
            </a:r>
            <a:r>
              <a:rPr lang="es-AR" i="1" dirty="0" smtClean="0"/>
              <a:t>diferenciación</a:t>
            </a:r>
            <a:r>
              <a:rPr lang="es-AR" dirty="0" smtClean="0"/>
              <a:t> será </a:t>
            </a:r>
            <a:r>
              <a:rPr lang="es-AR" i="1" dirty="0" smtClean="0"/>
              <a:t>real</a:t>
            </a:r>
            <a:r>
              <a:rPr lang="es-AR" dirty="0" smtClean="0"/>
              <a:t> cuando el producto contenga características físicas, químicas, de empaque o embalaje diferentes. </a:t>
            </a:r>
          </a:p>
          <a:p>
            <a:pPr algn="just">
              <a:defRPr/>
            </a:pPr>
            <a:r>
              <a:rPr lang="es-AR" dirty="0" smtClean="0"/>
              <a:t>También incluimos dentro de este tipo el hecho de que el producto pueda ser adquirido bajo condiciones de crédito especiales, si tiene garantía post venta, si cuenta con la posibilidad de servicio técnico permanente, etc.</a:t>
            </a:r>
          </a:p>
          <a:p>
            <a:pPr algn="just">
              <a:buFont typeface="Wingdings 3" pitchFamily="18" charset="2"/>
              <a:buNone/>
              <a:defRPr/>
            </a:pPr>
            <a:r>
              <a:rPr lang="es-AR" dirty="0" smtClean="0"/>
              <a:t> </a:t>
            </a:r>
          </a:p>
          <a:p>
            <a:pPr algn="just">
              <a:defRPr/>
            </a:pPr>
            <a:r>
              <a:rPr lang="es-AR" dirty="0" smtClean="0"/>
              <a:t>La </a:t>
            </a:r>
            <a:r>
              <a:rPr lang="es-AR" i="1" dirty="0" smtClean="0"/>
              <a:t>diferenciación</a:t>
            </a:r>
            <a:r>
              <a:rPr lang="es-AR" dirty="0" smtClean="0"/>
              <a:t> será </a:t>
            </a:r>
            <a:r>
              <a:rPr lang="es-AR" i="1" dirty="0" smtClean="0"/>
              <a:t>aparente</a:t>
            </a:r>
            <a:r>
              <a:rPr lang="es-AR" dirty="0" smtClean="0"/>
              <a:t> cuando la publicidad está orientada a resaltar aspectos subjetivos del consumidor que las adquiere, tales como grupos de pertenencia, marca, moda, etc.</a:t>
            </a:r>
          </a:p>
          <a:p>
            <a:pPr>
              <a:defRPr/>
            </a:pPr>
            <a:endParaRPr lang="es-AR" dirty="0"/>
          </a:p>
        </p:txBody>
      </p:sp>
    </p:spTree>
    <p:extLst>
      <p:ext uri="{BB962C8B-B14F-4D97-AF65-F5344CB8AC3E}">
        <p14:creationId xmlns:p14="http://schemas.microsoft.com/office/powerpoint/2010/main" val="2940117234"/>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OLIGOPOLIO</a:t>
            </a:r>
            <a:endParaRPr lang="es-AR" dirty="0"/>
          </a:p>
        </p:txBody>
      </p:sp>
      <p:sp>
        <p:nvSpPr>
          <p:cNvPr id="3" name="2 Marcador de contenido"/>
          <p:cNvSpPr>
            <a:spLocks noGrp="1"/>
          </p:cNvSpPr>
          <p:nvPr>
            <p:ph idx="1"/>
          </p:nvPr>
        </p:nvSpPr>
        <p:spPr/>
        <p:txBody>
          <a:bodyPr>
            <a:normAutofit fontScale="77500" lnSpcReduction="20000"/>
          </a:bodyPr>
          <a:lstStyle/>
          <a:p>
            <a:pPr algn="just">
              <a:defRPr/>
            </a:pPr>
            <a:r>
              <a:rPr lang="es-AR" dirty="0" smtClean="0"/>
              <a:t>El oligopolio es un modelo de mercado que se caracteriza por la presencia de pocas empresas en el mercado ante un gran número de compradores. Estas empresas pueden actuar de manera independiente entre sí, pero siempre fijando los precios de sus productos en función de los precios de sus competidores. Es importante destacar que al ser unas pocas empresas estas tienen mucha influencia en el mercado, en cuanto a determinación de precios. </a:t>
            </a:r>
          </a:p>
          <a:p>
            <a:pPr algn="just">
              <a:defRPr/>
            </a:pPr>
            <a:r>
              <a:rPr lang="es-AR" dirty="0" smtClean="0"/>
              <a:t>También pueden actuar en forma coordinada con las competidoras, a través de </a:t>
            </a:r>
            <a:r>
              <a:rPr lang="es-AR" i="1" dirty="0" smtClean="0"/>
              <a:t>acciones colusorias</a:t>
            </a:r>
            <a:r>
              <a:rPr lang="es-AR" dirty="0" smtClean="0"/>
              <a:t>, llegando a tener tanto poder para fijar precio como en el monopolio.</a:t>
            </a:r>
          </a:p>
          <a:p>
            <a:pPr algn="just">
              <a:defRPr/>
            </a:pPr>
            <a:r>
              <a:rPr lang="es-AR" dirty="0" smtClean="0"/>
              <a:t>Acciones colusorias: </a:t>
            </a:r>
            <a:r>
              <a:rPr lang="es-ES" dirty="0" smtClean="0"/>
              <a:t>En economía se denomina al acuerdo en que dos o más empresas de un mercado determinado definen que cada una actuará de manera concertada respecto del resto de las demás empresas. El fin de este tipo de acuerdos es que cada una de las empresas participantes en la colusión tome control de una determinada porción del mercado en el cual operan, y actuar de manera monopólica, impidiendo a otras empresas entrar al mercado.</a:t>
            </a:r>
            <a:endParaRPr lang="es-AR" dirty="0" smtClean="0"/>
          </a:p>
          <a:p>
            <a:pPr>
              <a:defRPr/>
            </a:pPr>
            <a:endParaRPr lang="es-AR" dirty="0"/>
          </a:p>
        </p:txBody>
      </p:sp>
    </p:spTree>
    <p:extLst>
      <p:ext uri="{BB962C8B-B14F-4D97-AF65-F5344CB8AC3E}">
        <p14:creationId xmlns:p14="http://schemas.microsoft.com/office/powerpoint/2010/main" val="1124473886"/>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AR" dirty="0" smtClean="0"/>
              <a:t>OLIGOPOLIO:</a:t>
            </a:r>
            <a:endParaRPr lang="es-AR" dirty="0"/>
          </a:p>
        </p:txBody>
      </p:sp>
      <p:sp>
        <p:nvSpPr>
          <p:cNvPr id="3" name="2 Marcador de contenido"/>
          <p:cNvSpPr>
            <a:spLocks noGrp="1"/>
          </p:cNvSpPr>
          <p:nvPr>
            <p:ph idx="1"/>
          </p:nvPr>
        </p:nvSpPr>
        <p:spPr/>
        <p:txBody>
          <a:bodyPr>
            <a:normAutofit/>
          </a:bodyPr>
          <a:lstStyle/>
          <a:p>
            <a:pPr algn="just">
              <a:defRPr/>
            </a:pPr>
            <a:r>
              <a:rPr lang="es-AR" dirty="0" smtClean="0"/>
              <a:t>Los productos que ofrecen pueden ser </a:t>
            </a:r>
            <a:r>
              <a:rPr lang="es-AR" i="1" dirty="0" smtClean="0"/>
              <a:t>homogéneos</a:t>
            </a:r>
            <a:r>
              <a:rPr lang="es-AR" dirty="0" smtClean="0"/>
              <a:t> (en el caso de producción de materias primas como cemento, acero, cobre, hierro) o </a:t>
            </a:r>
            <a:r>
              <a:rPr lang="es-AR" i="1" dirty="0" smtClean="0"/>
              <a:t>diferenciados</a:t>
            </a:r>
            <a:r>
              <a:rPr lang="es-AR" dirty="0" smtClean="0"/>
              <a:t> (electrodomésticos, automóviles, servicios de transporte aéreo, telefonías,  etc.)</a:t>
            </a:r>
          </a:p>
          <a:p>
            <a:pPr algn="just">
              <a:buFont typeface="Wingdings 3" pitchFamily="18" charset="2"/>
              <a:buNone/>
              <a:defRPr/>
            </a:pPr>
            <a:endParaRPr lang="es-AR" dirty="0" smtClean="0"/>
          </a:p>
          <a:p>
            <a:pPr algn="just">
              <a:defRPr/>
            </a:pPr>
            <a:r>
              <a:rPr lang="es-AR" dirty="0" smtClean="0"/>
              <a:t>En muchos mercados nos encontramos con ejemplo de servicios o productos que podríamos asimilarlos a esta estructura de mercado por ejemplo el servicio de televisión satelital, telefonía celular y fija entre otros.</a:t>
            </a:r>
          </a:p>
          <a:p>
            <a:pPr>
              <a:defRPr/>
            </a:pPr>
            <a:endParaRPr lang="es-AR" dirty="0"/>
          </a:p>
        </p:txBody>
      </p:sp>
    </p:spTree>
    <p:extLst>
      <p:ext uri="{BB962C8B-B14F-4D97-AF65-F5344CB8AC3E}">
        <p14:creationId xmlns:p14="http://schemas.microsoft.com/office/powerpoint/2010/main" val="2364143695"/>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EJERCICIOS COMPLEMENTARIOS:</a:t>
            </a:r>
            <a:endParaRPr lang="es-AR" dirty="0"/>
          </a:p>
        </p:txBody>
      </p:sp>
      <p:sp>
        <p:nvSpPr>
          <p:cNvPr id="3" name="Marcador de contenido 2"/>
          <p:cNvSpPr>
            <a:spLocks noGrp="1"/>
          </p:cNvSpPr>
          <p:nvPr>
            <p:ph idx="1"/>
          </p:nvPr>
        </p:nvSpPr>
        <p:spPr/>
        <p:txBody>
          <a:bodyPr>
            <a:normAutofit fontScale="77500" lnSpcReduction="20000"/>
          </a:bodyPr>
          <a:lstStyle/>
          <a:p>
            <a:pPr algn="just"/>
            <a:r>
              <a:rPr lang="es-AR" dirty="0"/>
              <a:t>Una editorial está preparando el plan de marketing para el año 2006 de la revista mensual que comercializa y desea saber el </a:t>
            </a:r>
            <a:r>
              <a:rPr lang="es-AR" dirty="0">
                <a:solidFill>
                  <a:srgbClr val="FF0000"/>
                </a:solidFill>
              </a:rPr>
              <a:t>margen bruto</a:t>
            </a:r>
            <a:r>
              <a:rPr lang="es-AR" dirty="0"/>
              <a:t> y el </a:t>
            </a:r>
            <a:r>
              <a:rPr lang="es-AR" dirty="0">
                <a:solidFill>
                  <a:srgbClr val="FF0000"/>
                </a:solidFill>
              </a:rPr>
              <a:t>margen neto </a:t>
            </a:r>
            <a:r>
              <a:rPr lang="es-AR" dirty="0"/>
              <a:t>esperados. Los objetivos de venta son </a:t>
            </a:r>
            <a:r>
              <a:rPr lang="es-AR" dirty="0">
                <a:solidFill>
                  <a:srgbClr val="FF0000"/>
                </a:solidFill>
              </a:rPr>
              <a:t>200.000 ejemplares al mes </a:t>
            </a:r>
            <a:r>
              <a:rPr lang="es-AR" dirty="0"/>
              <a:t>y supone que se venden todos los ejemplares que se imprimen. Los objetivos de venta de la publicidad son contratar </a:t>
            </a:r>
            <a:r>
              <a:rPr lang="es-AR" dirty="0">
                <a:solidFill>
                  <a:srgbClr val="FF0000"/>
                </a:solidFill>
              </a:rPr>
              <a:t>20 páginas completas de media por revista a un precio de 6.000€ la página</a:t>
            </a:r>
            <a:r>
              <a:rPr lang="es-AR" dirty="0"/>
              <a:t>. El </a:t>
            </a:r>
            <a:r>
              <a:rPr lang="es-AR" dirty="0">
                <a:solidFill>
                  <a:srgbClr val="FF0000"/>
                </a:solidFill>
              </a:rPr>
              <a:t>precio de venta de la revista es de 3€. El coste de producción de la revista es de 2,5€.</a:t>
            </a:r>
            <a:r>
              <a:rPr lang="es-AR" dirty="0"/>
              <a:t> A los vendedores de la revista se les paga 0,3€ por cada revista vendida. A los </a:t>
            </a:r>
            <a:r>
              <a:rPr lang="es-AR" dirty="0">
                <a:solidFill>
                  <a:srgbClr val="FF0000"/>
                </a:solidFill>
              </a:rPr>
              <a:t>4 vendedores de la publicidad se les paga por medio de una cantidad fija de 1000€ </a:t>
            </a:r>
            <a:r>
              <a:rPr lang="es-AR" dirty="0"/>
              <a:t>al mes y </a:t>
            </a:r>
            <a:r>
              <a:rPr lang="es-AR" dirty="0" smtClean="0"/>
              <a:t>una cantidad variable </a:t>
            </a:r>
            <a:r>
              <a:rPr lang="es-AR" dirty="0" smtClean="0">
                <a:solidFill>
                  <a:srgbClr val="FF0000"/>
                </a:solidFill>
              </a:rPr>
              <a:t>del 2% sobre las ventas</a:t>
            </a:r>
            <a:r>
              <a:rPr lang="es-AR" dirty="0" smtClean="0"/>
              <a:t>. Se </a:t>
            </a:r>
            <a:r>
              <a:rPr lang="es-AR" dirty="0"/>
              <a:t>realizará una promoción </a:t>
            </a:r>
            <a:r>
              <a:rPr lang="es-AR" dirty="0" smtClean="0"/>
              <a:t>durante </a:t>
            </a:r>
            <a:r>
              <a:rPr lang="es-AR" dirty="0">
                <a:solidFill>
                  <a:srgbClr val="FF0000"/>
                </a:solidFill>
              </a:rPr>
              <a:t>tres meses</a:t>
            </a:r>
            <a:r>
              <a:rPr lang="es-AR" dirty="0"/>
              <a:t>, y se espera vender con la promoción </a:t>
            </a:r>
            <a:r>
              <a:rPr lang="es-AR" dirty="0">
                <a:solidFill>
                  <a:srgbClr val="FF0000"/>
                </a:solidFill>
              </a:rPr>
              <a:t>el 50% de las ventas</a:t>
            </a:r>
            <a:r>
              <a:rPr lang="es-AR" dirty="0"/>
              <a:t>. La promoción consistirá en ofrecer un CD a un precio de 1</a:t>
            </a:r>
            <a:r>
              <a:rPr lang="es-AR" dirty="0">
                <a:solidFill>
                  <a:srgbClr val="FF0000"/>
                </a:solidFill>
              </a:rPr>
              <a:t>€ por la compra de la revista</a:t>
            </a:r>
            <a:r>
              <a:rPr lang="es-AR" dirty="0"/>
              <a:t>. El precio de </a:t>
            </a:r>
            <a:r>
              <a:rPr lang="es-AR" dirty="0">
                <a:solidFill>
                  <a:srgbClr val="FF0000"/>
                </a:solidFill>
              </a:rPr>
              <a:t>compra del CD es de 0,5€. </a:t>
            </a:r>
            <a:r>
              <a:rPr lang="es-AR" dirty="0"/>
              <a:t>Por último, se prevé realizar una campaña de publicidad durante los tres meses que dura la promoción por un importe </a:t>
            </a:r>
            <a:r>
              <a:rPr lang="es-AR" dirty="0">
                <a:solidFill>
                  <a:srgbClr val="FF0000"/>
                </a:solidFill>
              </a:rPr>
              <a:t>de 300.000€. </a:t>
            </a:r>
            <a:r>
              <a:rPr lang="es-AR" dirty="0"/>
              <a:t>Calcular el beneficio neto.</a:t>
            </a:r>
          </a:p>
          <a:p>
            <a:pPr algn="just"/>
            <a:endParaRPr lang="es-AR" dirty="0"/>
          </a:p>
        </p:txBody>
      </p:sp>
    </p:spTree>
    <p:extLst>
      <p:ext uri="{BB962C8B-B14F-4D97-AF65-F5344CB8AC3E}">
        <p14:creationId xmlns:p14="http://schemas.microsoft.com/office/powerpoint/2010/main" val="18388973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Solución:</a:t>
            </a:r>
            <a:endParaRPr lang="en-US" dirty="0"/>
          </a:p>
        </p:txBody>
      </p:sp>
      <p:sp>
        <p:nvSpPr>
          <p:cNvPr id="3" name="Marcador de contenido 2"/>
          <p:cNvSpPr>
            <a:spLocks noGrp="1"/>
          </p:cNvSpPr>
          <p:nvPr>
            <p:ph idx="1"/>
          </p:nvPr>
        </p:nvSpPr>
        <p:spPr/>
        <p:txBody>
          <a:bodyPr>
            <a:normAutofit/>
          </a:bodyPr>
          <a:lstStyle/>
          <a:p>
            <a:pPr lvl="0">
              <a:buClr>
                <a:srgbClr val="0BD0D9"/>
              </a:buClr>
            </a:pPr>
            <a:r>
              <a:rPr lang="es-MX" sz="2800" dirty="0">
                <a:solidFill>
                  <a:prstClr val="black"/>
                </a:solidFill>
              </a:rPr>
              <a:t>Ingresos por ventas: 200.000 * 12*3= 7.200.000</a:t>
            </a:r>
          </a:p>
          <a:p>
            <a:pPr lvl="0">
              <a:buClr>
                <a:srgbClr val="0BD0D9"/>
              </a:buClr>
            </a:pPr>
            <a:r>
              <a:rPr lang="es-MX" sz="2800" dirty="0">
                <a:solidFill>
                  <a:prstClr val="black"/>
                </a:solidFill>
              </a:rPr>
              <a:t>Ingresos por publicidad: 20*6000*12= 1.440.000</a:t>
            </a:r>
          </a:p>
          <a:p>
            <a:pPr lvl="0">
              <a:buClr>
                <a:srgbClr val="0BD0D9"/>
              </a:buClr>
            </a:pPr>
            <a:r>
              <a:rPr lang="es-MX" sz="2800" dirty="0">
                <a:solidFill>
                  <a:prstClr val="black"/>
                </a:solidFill>
              </a:rPr>
              <a:t>Total ingresos por ventas: 8.640.000</a:t>
            </a:r>
          </a:p>
          <a:p>
            <a:pPr lvl="0">
              <a:buClr>
                <a:srgbClr val="0BD0D9"/>
              </a:buClr>
            </a:pPr>
            <a:r>
              <a:rPr lang="es-MX" sz="2800" dirty="0">
                <a:solidFill>
                  <a:prstClr val="black"/>
                </a:solidFill>
              </a:rPr>
              <a:t>Costos de Producción: 200.000*12*2.5= 6.000.000</a:t>
            </a:r>
          </a:p>
          <a:p>
            <a:pPr lvl="0">
              <a:buClr>
                <a:srgbClr val="0BD0D9"/>
              </a:buClr>
            </a:pPr>
            <a:r>
              <a:rPr lang="es-MX" sz="2800" b="1" dirty="0">
                <a:solidFill>
                  <a:srgbClr val="FF0000"/>
                </a:solidFill>
              </a:rPr>
              <a:t>Margen bruto de ventas: Ingresos totales por ventas – Costos de producción</a:t>
            </a:r>
            <a:r>
              <a:rPr lang="es-MX" sz="2800" dirty="0">
                <a:solidFill>
                  <a:prstClr val="black"/>
                </a:solidFill>
              </a:rPr>
              <a:t>= 8.640.000-6.000.000=2.640.000</a:t>
            </a:r>
          </a:p>
          <a:p>
            <a:endParaRPr lang="en-US" sz="2800" dirty="0"/>
          </a:p>
        </p:txBody>
      </p:sp>
    </p:spTree>
    <p:extLst>
      <p:ext uri="{BB962C8B-B14F-4D97-AF65-F5344CB8AC3E}">
        <p14:creationId xmlns:p14="http://schemas.microsoft.com/office/powerpoint/2010/main" val="32346475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Solución: Costos de Marketing:</a:t>
            </a:r>
            <a:endParaRPr lang="en-US" dirty="0"/>
          </a:p>
        </p:txBody>
      </p:sp>
      <p:sp>
        <p:nvSpPr>
          <p:cNvPr id="3" name="Marcador de contenido 2"/>
          <p:cNvSpPr>
            <a:spLocks noGrp="1"/>
          </p:cNvSpPr>
          <p:nvPr>
            <p:ph idx="1"/>
          </p:nvPr>
        </p:nvSpPr>
        <p:spPr/>
        <p:txBody>
          <a:bodyPr/>
          <a:lstStyle/>
          <a:p>
            <a:r>
              <a:rPr lang="es-MX" dirty="0"/>
              <a:t>Costos de vender la revista</a:t>
            </a:r>
            <a:r>
              <a:rPr lang="es-MX" dirty="0" smtClean="0"/>
              <a:t>:</a:t>
            </a:r>
            <a:endParaRPr lang="es-MX" dirty="0"/>
          </a:p>
          <a:p>
            <a:r>
              <a:rPr lang="es-MX" dirty="0"/>
              <a:t>Costos fijos de vendedores de publicidad: </a:t>
            </a:r>
            <a:endParaRPr lang="es-MX" dirty="0" smtClean="0"/>
          </a:p>
          <a:p>
            <a:r>
              <a:rPr lang="es-MX" dirty="0" smtClean="0"/>
              <a:t>Costo </a:t>
            </a:r>
            <a:r>
              <a:rPr lang="es-MX" dirty="0"/>
              <a:t>variable por comisión</a:t>
            </a:r>
            <a:r>
              <a:rPr lang="es-MX" dirty="0" smtClean="0"/>
              <a:t>:</a:t>
            </a:r>
            <a:endParaRPr lang="es-MX" dirty="0"/>
          </a:p>
          <a:p>
            <a:r>
              <a:rPr lang="es-MX" dirty="0"/>
              <a:t>Promoción ingresos por CD= </a:t>
            </a:r>
          </a:p>
          <a:p>
            <a:r>
              <a:rPr lang="es-MX" dirty="0"/>
              <a:t>Promoción costo por Cd= </a:t>
            </a:r>
          </a:p>
          <a:p>
            <a:r>
              <a:rPr lang="es-MX" dirty="0"/>
              <a:t>Campaña publicitaria: </a:t>
            </a:r>
          </a:p>
          <a:p>
            <a:r>
              <a:rPr lang="es-MX" dirty="0"/>
              <a:t>Total costos de marketing= </a:t>
            </a:r>
            <a:endParaRPr lang="en-US" dirty="0"/>
          </a:p>
        </p:txBody>
      </p:sp>
    </p:spTree>
    <p:extLst>
      <p:ext uri="{BB962C8B-B14F-4D97-AF65-F5344CB8AC3E}">
        <p14:creationId xmlns:p14="http://schemas.microsoft.com/office/powerpoint/2010/main" val="9298037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Costos de marketing</a:t>
            </a:r>
            <a:endParaRPr lang="en-US" dirty="0"/>
          </a:p>
        </p:txBody>
      </p:sp>
      <p:sp>
        <p:nvSpPr>
          <p:cNvPr id="3" name="Marcador de contenido 2"/>
          <p:cNvSpPr>
            <a:spLocks noGrp="1"/>
          </p:cNvSpPr>
          <p:nvPr>
            <p:ph idx="1"/>
          </p:nvPr>
        </p:nvSpPr>
        <p:spPr/>
        <p:txBody>
          <a:bodyPr/>
          <a:lstStyle/>
          <a:p>
            <a:r>
              <a:rPr lang="es-MX" dirty="0"/>
              <a:t>Costos de vender la revista: 0,3 *7.200.000= 2.160.000</a:t>
            </a:r>
          </a:p>
          <a:p>
            <a:r>
              <a:rPr lang="es-MX" dirty="0"/>
              <a:t>Costos fijos de vendedores de publicidad: 4*1000*12=48.000</a:t>
            </a:r>
          </a:p>
          <a:p>
            <a:r>
              <a:rPr lang="es-MX" dirty="0"/>
              <a:t>Costo variable por comisión: 0,02* </a:t>
            </a:r>
            <a:r>
              <a:rPr lang="es-MX" dirty="0" smtClean="0"/>
              <a:t>1.440.000=28.800</a:t>
            </a:r>
          </a:p>
          <a:p>
            <a:r>
              <a:rPr lang="es-MX" dirty="0"/>
              <a:t>Promoción ingresos por CD= </a:t>
            </a:r>
          </a:p>
          <a:p>
            <a:r>
              <a:rPr lang="es-MX" dirty="0"/>
              <a:t>Promoción costo por Cd= </a:t>
            </a:r>
          </a:p>
          <a:p>
            <a:r>
              <a:rPr lang="es-MX" dirty="0"/>
              <a:t>Campaña publicitaria: </a:t>
            </a:r>
          </a:p>
          <a:p>
            <a:r>
              <a:rPr lang="es-MX" dirty="0"/>
              <a:t>Total costos de marketing= </a:t>
            </a:r>
            <a:endParaRPr lang="en-US" dirty="0"/>
          </a:p>
          <a:p>
            <a:endParaRPr lang="es-MX" dirty="0" smtClean="0"/>
          </a:p>
          <a:p>
            <a:endParaRPr lang="es-MX" dirty="0"/>
          </a:p>
        </p:txBody>
      </p:sp>
    </p:spTree>
    <p:extLst>
      <p:ext uri="{BB962C8B-B14F-4D97-AF65-F5344CB8AC3E}">
        <p14:creationId xmlns:p14="http://schemas.microsoft.com/office/powerpoint/2010/main" val="199601402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Solución:</a:t>
            </a:r>
            <a:endParaRPr lang="en-US" dirty="0"/>
          </a:p>
        </p:txBody>
      </p:sp>
      <p:sp>
        <p:nvSpPr>
          <p:cNvPr id="3" name="Marcador de contenido 2"/>
          <p:cNvSpPr>
            <a:spLocks noGrp="1"/>
          </p:cNvSpPr>
          <p:nvPr>
            <p:ph idx="1"/>
          </p:nvPr>
        </p:nvSpPr>
        <p:spPr/>
        <p:txBody>
          <a:bodyPr>
            <a:normAutofit fontScale="70000" lnSpcReduction="20000"/>
          </a:bodyPr>
          <a:lstStyle/>
          <a:p>
            <a:r>
              <a:rPr lang="es-MX" dirty="0" smtClean="0"/>
              <a:t>Ingresos por ventas: 200.000 * 12*3= 7.200.000</a:t>
            </a:r>
          </a:p>
          <a:p>
            <a:r>
              <a:rPr lang="es-MX" dirty="0" smtClean="0"/>
              <a:t>Ingresos por publicidad: 20*6000*12= 1.440.000</a:t>
            </a:r>
          </a:p>
          <a:p>
            <a:r>
              <a:rPr lang="es-MX" dirty="0" smtClean="0"/>
              <a:t>Total ingresos por ventas: 8.640.000</a:t>
            </a:r>
          </a:p>
          <a:p>
            <a:r>
              <a:rPr lang="es-MX" dirty="0" smtClean="0"/>
              <a:t>Costos de Producción: 200.000*12*2.5= 6.000.000</a:t>
            </a:r>
          </a:p>
          <a:p>
            <a:r>
              <a:rPr lang="es-MX" b="1" dirty="0" smtClean="0">
                <a:solidFill>
                  <a:srgbClr val="FF0000"/>
                </a:solidFill>
              </a:rPr>
              <a:t>Margen bruto de ventas: Ingresos totales por ventas – Costos de producción</a:t>
            </a:r>
            <a:r>
              <a:rPr lang="es-MX" dirty="0" smtClean="0"/>
              <a:t>= 8.640.000-6.000.000=2.640.000</a:t>
            </a:r>
          </a:p>
          <a:p>
            <a:r>
              <a:rPr lang="es-MX" dirty="0" smtClean="0"/>
              <a:t>Costos de marketing:</a:t>
            </a:r>
          </a:p>
          <a:p>
            <a:r>
              <a:rPr lang="es-MX" dirty="0" smtClean="0"/>
              <a:t>Costos de vender la revista: 0,3 *7.200.000= 2.160.000</a:t>
            </a:r>
          </a:p>
          <a:p>
            <a:r>
              <a:rPr lang="es-MX" dirty="0" smtClean="0"/>
              <a:t>Costos fijos de vendedores de publicidad: 4*1000*12=48.000</a:t>
            </a:r>
          </a:p>
          <a:p>
            <a:r>
              <a:rPr lang="es-MX" dirty="0" smtClean="0"/>
              <a:t>Costo variable por comisión: 0,02* 1.440.000=28.800</a:t>
            </a:r>
          </a:p>
          <a:p>
            <a:r>
              <a:rPr lang="es-MX" dirty="0" smtClean="0"/>
              <a:t>Promoción ingresos por CD= 300.000*1 = 300.000</a:t>
            </a:r>
          </a:p>
          <a:p>
            <a:r>
              <a:rPr lang="es-MX" dirty="0" smtClean="0"/>
              <a:t>Promoción costo por Cd= 300.000* 0,5 = 150.000</a:t>
            </a:r>
          </a:p>
          <a:p>
            <a:r>
              <a:rPr lang="es-MX" dirty="0" smtClean="0"/>
              <a:t>Campaña publicitaria: 300.000</a:t>
            </a:r>
          </a:p>
          <a:p>
            <a:r>
              <a:rPr lang="es-MX" dirty="0" smtClean="0"/>
              <a:t>Total costos de marketing= 2.386.800</a:t>
            </a:r>
          </a:p>
          <a:p>
            <a:r>
              <a:rPr lang="es-MX" dirty="0" smtClean="0"/>
              <a:t>Margen neto = Margen bruto de beneficios – costos marketing= 2.640.000-2.386.800= </a:t>
            </a:r>
            <a:r>
              <a:rPr lang="es-MX" b="1" dirty="0" smtClean="0">
                <a:solidFill>
                  <a:srgbClr val="FF0000"/>
                </a:solidFill>
              </a:rPr>
              <a:t>253.200</a:t>
            </a:r>
          </a:p>
          <a:p>
            <a:endParaRPr lang="es-MX" dirty="0" smtClean="0"/>
          </a:p>
          <a:p>
            <a:endParaRPr lang="es-MX" dirty="0" smtClean="0"/>
          </a:p>
          <a:p>
            <a:endParaRPr lang="en-US" dirty="0"/>
          </a:p>
        </p:txBody>
      </p:sp>
    </p:spTree>
    <p:extLst>
      <p:ext uri="{BB962C8B-B14F-4D97-AF65-F5344CB8AC3E}">
        <p14:creationId xmlns:p14="http://schemas.microsoft.com/office/powerpoint/2010/main" val="158087092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EJERCICIO N°2:</a:t>
            </a:r>
            <a:endParaRPr lang="es-AR" dirty="0"/>
          </a:p>
        </p:txBody>
      </p:sp>
      <p:sp>
        <p:nvSpPr>
          <p:cNvPr id="3" name="Marcador de contenido 2"/>
          <p:cNvSpPr>
            <a:spLocks noGrp="1"/>
          </p:cNvSpPr>
          <p:nvPr>
            <p:ph idx="1"/>
          </p:nvPr>
        </p:nvSpPr>
        <p:spPr/>
        <p:txBody>
          <a:bodyPr>
            <a:normAutofit fontScale="92500" lnSpcReduction="20000"/>
          </a:bodyPr>
          <a:lstStyle/>
          <a:p>
            <a:pPr algn="just"/>
            <a:r>
              <a:rPr lang="es-AR" dirty="0"/>
              <a:t>Una empresa quiere conocer la rentabilidad de su plan de marketing, una vez finalizado el año 2001.Cuenta con la siguiente información: </a:t>
            </a:r>
            <a:r>
              <a:rPr lang="es-AR" dirty="0">
                <a:solidFill>
                  <a:srgbClr val="FF0000"/>
                </a:solidFill>
              </a:rPr>
              <a:t>Se han vendido en total 3.000.000 de unidades a un precio medio de 1 € la </a:t>
            </a:r>
            <a:r>
              <a:rPr lang="es-AR" dirty="0" smtClean="0">
                <a:solidFill>
                  <a:srgbClr val="FF0000"/>
                </a:solidFill>
              </a:rPr>
              <a:t>unidad. El costo de fabricar el producto fue 0,30 €/unidad</a:t>
            </a:r>
            <a:r>
              <a:rPr lang="es-AR" dirty="0" smtClean="0"/>
              <a:t>. </a:t>
            </a:r>
            <a:r>
              <a:rPr lang="es-AR" dirty="0"/>
              <a:t>Las acciones de marketing que ha realizado la empresa fueron las siguientes: Se ha hecho una </a:t>
            </a:r>
            <a:r>
              <a:rPr lang="es-AR" dirty="0">
                <a:solidFill>
                  <a:srgbClr val="FF0000"/>
                </a:solidFill>
              </a:rPr>
              <a:t>campaña de publicidad para anunciar </a:t>
            </a:r>
            <a:r>
              <a:rPr lang="es-AR" dirty="0" smtClean="0">
                <a:solidFill>
                  <a:srgbClr val="FF0000"/>
                </a:solidFill>
              </a:rPr>
              <a:t>una </a:t>
            </a:r>
            <a:r>
              <a:rPr lang="es-AR" dirty="0">
                <a:solidFill>
                  <a:srgbClr val="FF0000"/>
                </a:solidFill>
              </a:rPr>
              <a:t>promoción y se contrató TV por 300.000 €, vallas por 120.000 € y revistas por 50.000 €.</a:t>
            </a:r>
            <a:r>
              <a:rPr lang="es-AR" dirty="0"/>
              <a:t> La promoción consistió en </a:t>
            </a:r>
            <a:r>
              <a:rPr lang="es-AR" dirty="0">
                <a:solidFill>
                  <a:srgbClr val="FF0000"/>
                </a:solidFill>
              </a:rPr>
              <a:t>regalar una camiseta por la presentación de diez comprobantes de venta</a:t>
            </a:r>
            <a:r>
              <a:rPr lang="es-AR" dirty="0"/>
              <a:t>. En promoción se vendieron </a:t>
            </a:r>
            <a:r>
              <a:rPr lang="es-AR" dirty="0">
                <a:solidFill>
                  <a:srgbClr val="FF0000"/>
                </a:solidFill>
              </a:rPr>
              <a:t>1.500.000 unidades</a:t>
            </a:r>
            <a:r>
              <a:rPr lang="es-AR" dirty="0"/>
              <a:t>. </a:t>
            </a:r>
            <a:r>
              <a:rPr lang="es-AR" dirty="0">
                <a:solidFill>
                  <a:srgbClr val="FF0000"/>
                </a:solidFill>
              </a:rPr>
              <a:t>Las camisetas habían costado 0,50 €</a:t>
            </a:r>
            <a:r>
              <a:rPr lang="es-AR" dirty="0"/>
              <a:t> cada una. El resto de los costes de marketing fue </a:t>
            </a:r>
            <a:r>
              <a:rPr lang="es-AR" dirty="0">
                <a:solidFill>
                  <a:srgbClr val="FF0000"/>
                </a:solidFill>
              </a:rPr>
              <a:t>de 0,40 € por unidad.</a:t>
            </a:r>
          </a:p>
          <a:p>
            <a:endParaRPr lang="es-AR" dirty="0"/>
          </a:p>
        </p:txBody>
      </p:sp>
    </p:spTree>
    <p:extLst>
      <p:ext uri="{BB962C8B-B14F-4D97-AF65-F5344CB8AC3E}">
        <p14:creationId xmlns:p14="http://schemas.microsoft.com/office/powerpoint/2010/main" val="42315846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Respuesta:</a:t>
            </a:r>
            <a:endParaRPr lang="en-US" dirty="0"/>
          </a:p>
        </p:txBody>
      </p:sp>
      <p:sp>
        <p:nvSpPr>
          <p:cNvPr id="3" name="Marcador de contenido 2"/>
          <p:cNvSpPr>
            <a:spLocks noGrp="1"/>
          </p:cNvSpPr>
          <p:nvPr>
            <p:ph idx="1"/>
          </p:nvPr>
        </p:nvSpPr>
        <p:spPr/>
        <p:txBody>
          <a:bodyPr>
            <a:normAutofit fontScale="92500"/>
          </a:bodyPr>
          <a:lstStyle/>
          <a:p>
            <a:r>
              <a:rPr lang="es-MX" dirty="0" smtClean="0"/>
              <a:t>Ingresos por Ventas: 3.000.000 * 1= 3.000.000</a:t>
            </a:r>
          </a:p>
          <a:p>
            <a:r>
              <a:rPr lang="es-MX" dirty="0" smtClean="0"/>
              <a:t>Costos de producción: 3.000.000* 0.3= 900.000</a:t>
            </a:r>
          </a:p>
          <a:p>
            <a:r>
              <a:rPr lang="es-MX" dirty="0" smtClean="0"/>
              <a:t>Margen bruto de ventas= 3.000.000 – 900.000= 2.100.000</a:t>
            </a:r>
          </a:p>
          <a:p>
            <a:r>
              <a:rPr lang="es-MX" dirty="0" smtClean="0"/>
              <a:t>Costos de marketing:</a:t>
            </a:r>
          </a:p>
          <a:p>
            <a:r>
              <a:rPr lang="es-MX" dirty="0" smtClean="0"/>
              <a:t>Campañas de publicidad: 470.000</a:t>
            </a:r>
          </a:p>
          <a:p>
            <a:r>
              <a:rPr lang="es-MX" dirty="0" err="1" smtClean="0"/>
              <a:t>Promo</a:t>
            </a:r>
            <a:r>
              <a:rPr lang="es-MX" dirty="0" smtClean="0"/>
              <a:t> camisetas: 150.000 * 0.5= 75.000</a:t>
            </a:r>
          </a:p>
          <a:p>
            <a:r>
              <a:rPr lang="es-MX" dirty="0" smtClean="0"/>
              <a:t>Otros costos de marketing= 0,4 *3.000.000=1.200.000</a:t>
            </a:r>
          </a:p>
          <a:p>
            <a:r>
              <a:rPr lang="es-MX" dirty="0" smtClean="0"/>
              <a:t>Total costos de marketing= 1.745.000</a:t>
            </a:r>
          </a:p>
          <a:p>
            <a:r>
              <a:rPr lang="es-MX" dirty="0" smtClean="0"/>
              <a:t>Margen neto de beneficios= margen bruto – costos </a:t>
            </a:r>
            <a:r>
              <a:rPr lang="es-MX" smtClean="0"/>
              <a:t>de marketing= 2.100.000 – 1.745.000= 355.000</a:t>
            </a:r>
            <a:endParaRPr lang="en-US" dirty="0"/>
          </a:p>
        </p:txBody>
      </p:sp>
    </p:spTree>
    <p:extLst>
      <p:ext uri="{BB962C8B-B14F-4D97-AF65-F5344CB8AC3E}">
        <p14:creationId xmlns:p14="http://schemas.microsoft.com/office/powerpoint/2010/main" val="36524519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AR" dirty="0" smtClean="0"/>
              <a:t>Criterios de rentabilidad privada. Análisis de Sensibilidad.</a:t>
            </a:r>
            <a:endParaRPr lang="es-AR" dirty="0"/>
          </a:p>
        </p:txBody>
      </p:sp>
      <p:sp>
        <p:nvSpPr>
          <p:cNvPr id="3" name="Subtítulo 2"/>
          <p:cNvSpPr>
            <a:spLocks noGrp="1"/>
          </p:cNvSpPr>
          <p:nvPr>
            <p:ph type="subTitle" idx="1"/>
          </p:nvPr>
        </p:nvSpPr>
        <p:spPr>
          <a:xfrm>
            <a:off x="1130300" y="3895375"/>
            <a:ext cx="5825202" cy="1648175"/>
          </a:xfrm>
        </p:spPr>
        <p:txBody>
          <a:bodyPr>
            <a:normAutofit/>
          </a:bodyPr>
          <a:lstStyle/>
          <a:p>
            <a:endParaRPr lang="es-AR" sz="1800" b="1" dirty="0">
              <a:solidFill>
                <a:schemeClr val="tx1">
                  <a:lumMod val="95000"/>
                  <a:lumOff val="5000"/>
                </a:schemeClr>
              </a:solidFill>
            </a:endParaRPr>
          </a:p>
          <a:p>
            <a:r>
              <a:rPr lang="es-AR" sz="1800" b="1" dirty="0">
                <a:solidFill>
                  <a:schemeClr val="tx1">
                    <a:lumMod val="95000"/>
                    <a:lumOff val="5000"/>
                  </a:schemeClr>
                </a:solidFill>
              </a:rPr>
              <a:t>Bibliografía: </a:t>
            </a:r>
            <a:r>
              <a:rPr lang="es-AR" sz="1800" b="1" dirty="0" err="1">
                <a:solidFill>
                  <a:schemeClr val="tx1">
                    <a:lumMod val="95000"/>
                    <a:lumOff val="5000"/>
                  </a:schemeClr>
                </a:solidFill>
              </a:rPr>
              <a:t>Sapag</a:t>
            </a:r>
            <a:r>
              <a:rPr lang="es-AR" sz="1800" b="1" dirty="0">
                <a:solidFill>
                  <a:schemeClr val="tx1">
                    <a:lumMod val="95000"/>
                    <a:lumOff val="5000"/>
                  </a:schemeClr>
                </a:solidFill>
              </a:rPr>
              <a:t> </a:t>
            </a:r>
            <a:r>
              <a:rPr lang="es-AR" sz="1800" b="1" dirty="0" err="1">
                <a:solidFill>
                  <a:schemeClr val="tx1">
                    <a:lumMod val="95000"/>
                    <a:lumOff val="5000"/>
                  </a:schemeClr>
                </a:solidFill>
              </a:rPr>
              <a:t>Chain</a:t>
            </a:r>
            <a:r>
              <a:rPr lang="es-AR" sz="1800" b="1" dirty="0">
                <a:solidFill>
                  <a:schemeClr val="tx1">
                    <a:lumMod val="95000"/>
                    <a:lumOff val="5000"/>
                  </a:schemeClr>
                </a:solidFill>
              </a:rPr>
              <a:t> </a:t>
            </a:r>
            <a:r>
              <a:rPr lang="es-AR" sz="1800" b="1" dirty="0" err="1">
                <a:solidFill>
                  <a:schemeClr val="tx1">
                    <a:lumMod val="95000"/>
                    <a:lumOff val="5000"/>
                  </a:schemeClr>
                </a:solidFill>
              </a:rPr>
              <a:t>Nassir</a:t>
            </a:r>
            <a:r>
              <a:rPr lang="es-AR" sz="1800" b="1" dirty="0">
                <a:solidFill>
                  <a:schemeClr val="tx1">
                    <a:lumMod val="95000"/>
                    <a:lumOff val="5000"/>
                  </a:schemeClr>
                </a:solidFill>
              </a:rPr>
              <a:t> (2018). Preparación y Evaluación de Proyectos.</a:t>
            </a:r>
            <a:endParaRPr lang="es-AR" sz="1800" b="1" dirty="0">
              <a:solidFill>
                <a:schemeClr val="tx1">
                  <a:lumMod val="95000"/>
                  <a:lumOff val="5000"/>
                </a:schemeClr>
              </a:solidFill>
            </a:endParaRPr>
          </a:p>
        </p:txBody>
      </p:sp>
    </p:spTree>
    <p:extLst>
      <p:ext uri="{BB962C8B-B14F-4D97-AF65-F5344CB8AC3E}">
        <p14:creationId xmlns:p14="http://schemas.microsoft.com/office/powerpoint/2010/main" val="40874468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Evaluación de Proyectos:</a:t>
            </a:r>
            <a:endParaRPr lang="es-AR" dirty="0"/>
          </a:p>
        </p:txBody>
      </p:sp>
      <p:sp>
        <p:nvSpPr>
          <p:cNvPr id="3" name="Marcador de contenido 2"/>
          <p:cNvSpPr>
            <a:spLocks noGrp="1"/>
          </p:cNvSpPr>
          <p:nvPr>
            <p:ph idx="1"/>
          </p:nvPr>
        </p:nvSpPr>
        <p:spPr>
          <a:xfrm>
            <a:off x="628650" y="1706336"/>
            <a:ext cx="7886700" cy="4000500"/>
          </a:xfrm>
        </p:spPr>
        <p:txBody>
          <a:bodyPr>
            <a:noAutofit/>
          </a:bodyPr>
          <a:lstStyle/>
          <a:p>
            <a:r>
              <a:rPr lang="es-AR" sz="2100" b="1" dirty="0"/>
              <a:t>Se realiza con dos objetivos</a:t>
            </a:r>
            <a:r>
              <a:rPr lang="es-AR" sz="2100" dirty="0"/>
              <a:t>:</a:t>
            </a:r>
          </a:p>
          <a:p>
            <a:pPr marL="385763" indent="-385763">
              <a:buAutoNum type="alphaLcParenR"/>
            </a:pPr>
            <a:r>
              <a:rPr lang="es-AR" sz="2100" dirty="0"/>
              <a:t>Tomar una decisión de aceptación o rechazo de un proyecto en particular.</a:t>
            </a:r>
          </a:p>
          <a:p>
            <a:pPr marL="385763" indent="-385763">
              <a:buAutoNum type="alphaLcParenR"/>
            </a:pPr>
            <a:r>
              <a:rPr lang="es-AR" sz="2100" dirty="0"/>
              <a:t>Decidir el ordenamiento de varios proyectos en función de su rentabilidad cuando son mutuamente excluyentes o existe racionamiento de capital.</a:t>
            </a:r>
          </a:p>
          <a:p>
            <a:pPr marL="0" indent="0">
              <a:buNone/>
            </a:pPr>
            <a:r>
              <a:rPr lang="es-AR" sz="2100" b="1" dirty="0"/>
              <a:t>Los factores condicionantes de la rentabilidad de las inversiones son:</a:t>
            </a:r>
          </a:p>
          <a:p>
            <a:pPr marL="385763" indent="-385763">
              <a:buAutoNum type="alphaLcParenR"/>
            </a:pPr>
            <a:r>
              <a:rPr lang="es-AR" sz="2100" dirty="0"/>
              <a:t>La cuantía de los flujos de caja.</a:t>
            </a:r>
          </a:p>
          <a:p>
            <a:pPr marL="385763" indent="-385763">
              <a:buAutoNum type="alphaLcParenR"/>
            </a:pPr>
            <a:r>
              <a:rPr lang="es-AR" sz="2100" dirty="0"/>
              <a:t>El valor del dinero en el tiempo.</a:t>
            </a:r>
          </a:p>
          <a:p>
            <a:pPr marL="385763" indent="-385763">
              <a:buAutoNum type="alphaLcParenR"/>
            </a:pPr>
            <a:r>
              <a:rPr lang="es-AR" sz="2100" dirty="0"/>
              <a:t>Oportunidad de los movimientos de esos valores. (Riesgos contextuales).</a:t>
            </a:r>
            <a:endParaRPr lang="es-AR" sz="2100" dirty="0"/>
          </a:p>
        </p:txBody>
      </p:sp>
    </p:spTree>
    <p:extLst>
      <p:ext uri="{BB962C8B-B14F-4D97-AF65-F5344CB8AC3E}">
        <p14:creationId xmlns:p14="http://schemas.microsoft.com/office/powerpoint/2010/main" val="10235601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Variables a utilizar:</a:t>
            </a:r>
            <a:endParaRPr lang="es-AR" dirty="0"/>
          </a:p>
        </p:txBody>
      </p:sp>
      <p:sp>
        <p:nvSpPr>
          <p:cNvPr id="3" name="Marcador de contenido 2"/>
          <p:cNvSpPr>
            <a:spLocks noGrp="1"/>
          </p:cNvSpPr>
          <p:nvPr>
            <p:ph idx="1"/>
          </p:nvPr>
        </p:nvSpPr>
        <p:spPr>
          <a:xfrm>
            <a:off x="244929" y="1836965"/>
            <a:ext cx="8654143" cy="4000499"/>
          </a:xfrm>
        </p:spPr>
        <p:txBody>
          <a:bodyPr>
            <a:normAutofit/>
          </a:bodyPr>
          <a:lstStyle/>
          <a:p>
            <a:pPr algn="just"/>
            <a:r>
              <a:rPr lang="es-AR" sz="2400" dirty="0"/>
              <a:t>A) Ingresos Totales: Precio: técnicas, cantidades proyectadas: criterios de proyección. (Estimación de la demanda). Análisis del tipo de bien, elasticidad precio, ingreso, cruzada.</a:t>
            </a:r>
          </a:p>
          <a:p>
            <a:pPr algn="just"/>
            <a:r>
              <a:rPr lang="es-AR" sz="2400" dirty="0"/>
              <a:t>B) Costos Totales: costos privados: fijos, variables, costos de oportunidad. Proyección. Incorporación de mercados proveedores alternativos. Definición de criterios de eficiencia técnica y económica. Función de producción.</a:t>
            </a:r>
          </a:p>
          <a:p>
            <a:pPr algn="just"/>
            <a:r>
              <a:rPr lang="es-AR" sz="2400" dirty="0"/>
              <a:t>C) Inversión Inicial: Capital fijo. Capital circulante. Capital de Trabajo. Alternativas de financiación. Recupero.</a:t>
            </a:r>
            <a:endParaRPr lang="es-AR" sz="2400" dirty="0"/>
          </a:p>
        </p:txBody>
      </p:sp>
    </p:spTree>
    <p:extLst>
      <p:ext uri="{BB962C8B-B14F-4D97-AF65-F5344CB8AC3E}">
        <p14:creationId xmlns:p14="http://schemas.microsoft.com/office/powerpoint/2010/main" val="2113679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Criterios de Rentabilidad aplicados:</a:t>
            </a:r>
            <a:endParaRPr lang="es-AR" dirty="0"/>
          </a:p>
        </p:txBody>
      </p:sp>
      <p:sp>
        <p:nvSpPr>
          <p:cNvPr id="3" name="Marcador de contenido 2"/>
          <p:cNvSpPr>
            <a:spLocks noGrp="1"/>
          </p:cNvSpPr>
          <p:nvPr>
            <p:ph idx="1"/>
          </p:nvPr>
        </p:nvSpPr>
        <p:spPr>
          <a:xfrm>
            <a:off x="508000" y="2477692"/>
            <a:ext cx="7721600" cy="2910580"/>
          </a:xfrm>
        </p:spPr>
        <p:txBody>
          <a:bodyPr>
            <a:normAutofit/>
          </a:bodyPr>
          <a:lstStyle/>
          <a:p>
            <a:pPr algn="just"/>
            <a:r>
              <a:rPr lang="es-AR" sz="1800" b="1" dirty="0">
                <a:solidFill>
                  <a:schemeClr val="tx1">
                    <a:lumMod val="95000"/>
                    <a:lumOff val="5000"/>
                  </a:schemeClr>
                </a:solidFill>
              </a:rPr>
              <a:t>El criterio del VALOR ACTUAL NETO (VAN):</a:t>
            </a:r>
          </a:p>
          <a:p>
            <a:pPr marL="0" indent="0" algn="just">
              <a:buNone/>
            </a:pPr>
            <a:r>
              <a:rPr lang="es-AR" sz="1800" dirty="0"/>
              <a:t>Plantea que el proyecto debe aceptarse si su VAN es igual o superior a cero, siendo el VAN la diferencia entre todos los ingresos y egresos en moneda actual.</a:t>
            </a:r>
          </a:p>
          <a:p>
            <a:pPr marL="0" indent="0" algn="just">
              <a:buNone/>
            </a:pPr>
            <a:endParaRPr lang="es-AR" sz="1800" dirty="0"/>
          </a:p>
        </p:txBody>
      </p:sp>
      <p:pic>
        <p:nvPicPr>
          <p:cNvPr id="4" name="Imagen 3"/>
          <p:cNvPicPr>
            <a:picLocks noChangeAspect="1"/>
          </p:cNvPicPr>
          <p:nvPr/>
        </p:nvPicPr>
        <p:blipFill>
          <a:blip r:embed="rId2"/>
          <a:stretch>
            <a:fillRect/>
          </a:stretch>
        </p:blipFill>
        <p:spPr>
          <a:xfrm>
            <a:off x="1110343" y="3878036"/>
            <a:ext cx="6498772" cy="995023"/>
          </a:xfrm>
          <a:prstGeom prst="rect">
            <a:avLst/>
          </a:prstGeom>
        </p:spPr>
      </p:pic>
    </p:spTree>
    <p:extLst>
      <p:ext uri="{BB962C8B-B14F-4D97-AF65-F5344CB8AC3E}">
        <p14:creationId xmlns:p14="http://schemas.microsoft.com/office/powerpoint/2010/main" val="21136208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El criterio de la TASA INTERNA DE RETORNO: </a:t>
            </a:r>
            <a:endParaRPr lang="es-AR" dirty="0"/>
          </a:p>
        </p:txBody>
      </p:sp>
      <p:sp>
        <p:nvSpPr>
          <p:cNvPr id="3" name="Marcador de contenido 2"/>
          <p:cNvSpPr>
            <a:spLocks noGrp="1"/>
          </p:cNvSpPr>
          <p:nvPr>
            <p:ph idx="1"/>
          </p:nvPr>
        </p:nvSpPr>
        <p:spPr>
          <a:xfrm>
            <a:off x="508000" y="2477692"/>
            <a:ext cx="8276771" cy="3294458"/>
          </a:xfrm>
        </p:spPr>
        <p:txBody>
          <a:bodyPr>
            <a:noAutofit/>
          </a:bodyPr>
          <a:lstStyle/>
          <a:p>
            <a:pPr algn="just"/>
            <a:r>
              <a:rPr lang="es-AR" sz="1800" dirty="0"/>
              <a:t>La TIR evalúa el proyecto  en función de la única tasa de rendimiento por período con la cual la totalidad de los beneficios actualizados son exactamente iguales a los desembolsos expresados en moneda actual.</a:t>
            </a:r>
          </a:p>
          <a:p>
            <a:pPr algn="just"/>
            <a:r>
              <a:rPr lang="es-AR" sz="1800" b="1" dirty="0"/>
              <a:t>Representa la tasa de interés más alta que un inversionista podría pagar sin perder dinero, cancelando la financiación con los flujos de fondos generados.</a:t>
            </a:r>
          </a:p>
          <a:p>
            <a:pPr algn="just"/>
            <a:r>
              <a:rPr lang="es-AR" sz="1800" dirty="0"/>
              <a:t>El criterio es equivalente a hacer el VAN igual a cero.</a:t>
            </a:r>
          </a:p>
          <a:p>
            <a:pPr algn="just"/>
            <a:r>
              <a:rPr lang="es-AR" sz="1800" dirty="0"/>
              <a:t>La tasa así calculada se compara con la tasa de descuento de la empresa, si la TIR es igual o mayor a ésta, el proyecto debe aceptarse.</a:t>
            </a:r>
            <a:endParaRPr lang="es-AR" sz="1800" dirty="0"/>
          </a:p>
        </p:txBody>
      </p:sp>
    </p:spTree>
    <p:extLst>
      <p:ext uri="{BB962C8B-B14F-4D97-AF65-F5344CB8AC3E}">
        <p14:creationId xmlns:p14="http://schemas.microsoft.com/office/powerpoint/2010/main" val="5079794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El criterio del PERÍODO DE RECUPERACIÓN DE LA INVERSIÓN: PRI</a:t>
            </a:r>
            <a:endParaRPr lang="es-AR" dirty="0"/>
          </a:p>
        </p:txBody>
      </p:sp>
      <p:sp>
        <p:nvSpPr>
          <p:cNvPr id="3" name="Marcador de contenido 2"/>
          <p:cNvSpPr>
            <a:spLocks noGrp="1"/>
          </p:cNvSpPr>
          <p:nvPr>
            <p:ph idx="1"/>
          </p:nvPr>
        </p:nvSpPr>
        <p:spPr>
          <a:xfrm>
            <a:off x="373176" y="2125266"/>
            <a:ext cx="8591210" cy="3263504"/>
          </a:xfrm>
        </p:spPr>
        <p:txBody>
          <a:bodyPr/>
          <a:lstStyle/>
          <a:p>
            <a:pPr algn="just"/>
            <a:r>
              <a:rPr lang="es-AR" sz="1800" dirty="0">
                <a:solidFill>
                  <a:schemeClr val="tx1">
                    <a:lumMod val="95000"/>
                    <a:lumOff val="5000"/>
                  </a:schemeClr>
                </a:solidFill>
              </a:rPr>
              <a:t>Este criterio indica el número de períodos necesarios para recuperar la inversión. Relaciona la inversión inicial requerida con el flujo de beneficios netos actualizados.</a:t>
            </a:r>
          </a:p>
          <a:p>
            <a:pPr algn="just"/>
            <a:r>
              <a:rPr lang="es-AR" sz="1800" dirty="0">
                <a:solidFill>
                  <a:schemeClr val="tx1">
                    <a:lumMod val="95000"/>
                    <a:lumOff val="5000"/>
                  </a:schemeClr>
                </a:solidFill>
              </a:rPr>
              <a:t>Este resultado se compara con el número de períodos aceptable por la empresa.</a:t>
            </a:r>
          </a:p>
          <a:p>
            <a:endParaRPr lang="es-AR" dirty="0" smtClean="0"/>
          </a:p>
          <a:p>
            <a:endParaRPr lang="es-AR" dirty="0"/>
          </a:p>
        </p:txBody>
      </p:sp>
      <p:pic>
        <p:nvPicPr>
          <p:cNvPr id="1026" name="Picture 2" descr="Cómo calcular el periodo de recuperación de inversión en bienes raí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193" y="3892154"/>
            <a:ext cx="5622131" cy="821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5468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Criterio de la RAZÓN BENEFICIO-COSTO:</a:t>
            </a:r>
            <a:endParaRPr lang="es-AR" dirty="0"/>
          </a:p>
        </p:txBody>
      </p:sp>
      <p:sp>
        <p:nvSpPr>
          <p:cNvPr id="5" name="Marcador de contenido 4"/>
          <p:cNvSpPr>
            <a:spLocks noGrp="1"/>
          </p:cNvSpPr>
          <p:nvPr>
            <p:ph idx="1"/>
          </p:nvPr>
        </p:nvSpPr>
        <p:spPr>
          <a:xfrm>
            <a:off x="508000" y="2477692"/>
            <a:ext cx="7476671" cy="3212816"/>
          </a:xfrm>
        </p:spPr>
        <p:txBody>
          <a:bodyPr/>
          <a:lstStyle/>
          <a:p>
            <a:pPr algn="just"/>
            <a:r>
              <a:rPr lang="es-AR" sz="1800" dirty="0">
                <a:solidFill>
                  <a:schemeClr val="tx1">
                    <a:lumMod val="95000"/>
                    <a:lumOff val="5000"/>
                  </a:schemeClr>
                </a:solidFill>
              </a:rPr>
              <a:t>Si el análisis de la relación C/B es mayor a 1 significa que es rentable, mientras que si es igual o menor a 1 indica que no es rentable.</a:t>
            </a:r>
          </a:p>
          <a:p>
            <a:pPr algn="just"/>
            <a:r>
              <a:rPr lang="es-AR" sz="1800" dirty="0">
                <a:solidFill>
                  <a:schemeClr val="tx1">
                    <a:lumMod val="95000"/>
                    <a:lumOff val="5000"/>
                  </a:schemeClr>
                </a:solidFill>
              </a:rPr>
              <a:t>Se toma el resultado y se compara con otros proyectos.</a:t>
            </a:r>
          </a:p>
          <a:p>
            <a:pPr algn="just"/>
            <a:r>
              <a:rPr lang="es-AR" sz="1800" dirty="0">
                <a:solidFill>
                  <a:schemeClr val="tx1">
                    <a:lumMod val="95000"/>
                    <a:lumOff val="5000"/>
                  </a:schemeClr>
                </a:solidFill>
              </a:rPr>
              <a:t>Se escoge el proyecto con el mayor índice en la relación.</a:t>
            </a:r>
          </a:p>
          <a:p>
            <a:pPr algn="just"/>
            <a:endParaRPr lang="es-AR" dirty="0"/>
          </a:p>
        </p:txBody>
      </p:sp>
      <p:pic>
        <p:nvPicPr>
          <p:cNvPr id="6" name="Imagen 5"/>
          <p:cNvPicPr>
            <a:picLocks noChangeAspect="1"/>
          </p:cNvPicPr>
          <p:nvPr/>
        </p:nvPicPr>
        <p:blipFill>
          <a:blip r:embed="rId2"/>
          <a:stretch>
            <a:fillRect/>
          </a:stretch>
        </p:blipFill>
        <p:spPr>
          <a:xfrm>
            <a:off x="1462314" y="4084099"/>
            <a:ext cx="5568042" cy="1316492"/>
          </a:xfrm>
          <a:prstGeom prst="rect">
            <a:avLst/>
          </a:prstGeom>
        </p:spPr>
      </p:pic>
    </p:spTree>
    <p:extLst>
      <p:ext uri="{BB962C8B-B14F-4D97-AF65-F5344CB8AC3E}">
        <p14:creationId xmlns:p14="http://schemas.microsoft.com/office/powerpoint/2010/main" val="21653208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smtClean="0"/>
              <a:t>Análisis de Sensibilidad:</a:t>
            </a:r>
            <a:endParaRPr lang="es-AR" dirty="0"/>
          </a:p>
        </p:txBody>
      </p:sp>
      <p:sp>
        <p:nvSpPr>
          <p:cNvPr id="3" name="Marcador de contenido 2"/>
          <p:cNvSpPr>
            <a:spLocks noGrp="1"/>
          </p:cNvSpPr>
          <p:nvPr>
            <p:ph idx="1"/>
          </p:nvPr>
        </p:nvSpPr>
        <p:spPr>
          <a:xfrm>
            <a:off x="508001" y="2477692"/>
            <a:ext cx="7999185" cy="3343444"/>
          </a:xfrm>
        </p:spPr>
        <p:txBody>
          <a:bodyPr>
            <a:normAutofit fontScale="92500"/>
          </a:bodyPr>
          <a:lstStyle/>
          <a:p>
            <a:pPr algn="just"/>
            <a:r>
              <a:rPr lang="es-AR" sz="2400" dirty="0"/>
              <a:t>Los valores de las variables que se han utilizado para llevar adelante la evaluación del proyecto puede tener desviaciones con efectos determinantes en la medición de sus resultados.</a:t>
            </a:r>
          </a:p>
          <a:p>
            <a:pPr algn="just"/>
            <a:r>
              <a:rPr lang="es-AR" sz="2400" dirty="0"/>
              <a:t>El análisis de sensibilidad revela el efecto que sobre la rentabilidad del proyecto tiene una alteración en las variables relevantes.</a:t>
            </a:r>
          </a:p>
          <a:p>
            <a:pPr algn="just"/>
            <a:r>
              <a:rPr lang="es-AR" sz="2400" dirty="0"/>
              <a:t>Dependiendo del número de variable que se sensibilicen de manera simultánea, el análisis puede ser unidimensional o multidimensional</a:t>
            </a:r>
            <a:r>
              <a:rPr lang="es-AR" dirty="0" smtClean="0"/>
              <a:t>.</a:t>
            </a:r>
          </a:p>
          <a:p>
            <a:pPr algn="just"/>
            <a:endParaRPr lang="es-AR" dirty="0"/>
          </a:p>
        </p:txBody>
      </p:sp>
    </p:spTree>
    <p:extLst>
      <p:ext uri="{BB962C8B-B14F-4D97-AF65-F5344CB8AC3E}">
        <p14:creationId xmlns:p14="http://schemas.microsoft.com/office/powerpoint/2010/main" val="3137301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AR" dirty="0" smtClean="0"/>
              <a:t>Modelo unidimensional de la sensibilización del VAN.</a:t>
            </a:r>
            <a:endParaRPr lang="es-AR" dirty="0"/>
          </a:p>
        </p:txBody>
      </p:sp>
      <p:sp>
        <p:nvSpPr>
          <p:cNvPr id="3" name="Marcador de contenido 2"/>
          <p:cNvSpPr>
            <a:spLocks noGrp="1"/>
          </p:cNvSpPr>
          <p:nvPr>
            <p:ph idx="1"/>
          </p:nvPr>
        </p:nvSpPr>
        <p:spPr>
          <a:xfrm>
            <a:off x="508000" y="2477692"/>
            <a:ext cx="8260442" cy="3523058"/>
          </a:xfrm>
        </p:spPr>
        <p:txBody>
          <a:bodyPr>
            <a:noAutofit/>
          </a:bodyPr>
          <a:lstStyle/>
          <a:p>
            <a:pPr algn="just"/>
            <a:r>
              <a:rPr lang="es-AR" sz="1800" dirty="0">
                <a:solidFill>
                  <a:schemeClr val="tx1">
                    <a:lumMod val="95000"/>
                    <a:lumOff val="5000"/>
                  </a:schemeClr>
                </a:solidFill>
              </a:rPr>
              <a:t>Se realizan  cambios en los valores de las variables determinantes del proyecto para evaluar cómo se modifica el VAN del proyecto.</a:t>
            </a:r>
          </a:p>
          <a:p>
            <a:pPr algn="just"/>
            <a:r>
              <a:rPr lang="es-AR" sz="1800" dirty="0">
                <a:solidFill>
                  <a:schemeClr val="tx1">
                    <a:lumMod val="95000"/>
                    <a:lumOff val="5000"/>
                  </a:schemeClr>
                </a:solidFill>
              </a:rPr>
              <a:t>Las variables a sensibilizar serán:</a:t>
            </a:r>
          </a:p>
          <a:p>
            <a:pPr marL="385763" indent="-385763" algn="just">
              <a:buAutoNum type="alphaLcParenR"/>
            </a:pPr>
            <a:r>
              <a:rPr lang="es-AR" sz="1800" dirty="0">
                <a:solidFill>
                  <a:schemeClr val="tx1">
                    <a:lumMod val="95000"/>
                    <a:lumOff val="5000"/>
                  </a:schemeClr>
                </a:solidFill>
              </a:rPr>
              <a:t>Inversión Inicial.</a:t>
            </a:r>
          </a:p>
          <a:p>
            <a:pPr marL="385763" indent="-385763" algn="just">
              <a:buAutoNum type="alphaLcParenR"/>
            </a:pPr>
            <a:r>
              <a:rPr lang="es-AR" sz="1800" dirty="0">
                <a:solidFill>
                  <a:schemeClr val="tx1">
                    <a:lumMod val="95000"/>
                    <a:lumOff val="5000"/>
                  </a:schemeClr>
                </a:solidFill>
              </a:rPr>
              <a:t>Ingresos del período.</a:t>
            </a:r>
          </a:p>
          <a:p>
            <a:pPr marL="385763" indent="-385763" algn="just">
              <a:buAutoNum type="alphaLcParenR"/>
            </a:pPr>
            <a:r>
              <a:rPr lang="es-AR" sz="1800" dirty="0">
                <a:solidFill>
                  <a:schemeClr val="tx1">
                    <a:lumMod val="95000"/>
                    <a:lumOff val="5000"/>
                  </a:schemeClr>
                </a:solidFill>
              </a:rPr>
              <a:t>Egresos del período.</a:t>
            </a:r>
          </a:p>
          <a:p>
            <a:pPr marL="385763" indent="-385763" algn="just">
              <a:buAutoNum type="alphaLcParenR"/>
            </a:pPr>
            <a:r>
              <a:rPr lang="es-AR" sz="1800" dirty="0">
                <a:solidFill>
                  <a:schemeClr val="tx1">
                    <a:lumMod val="95000"/>
                    <a:lumOff val="5000"/>
                  </a:schemeClr>
                </a:solidFill>
              </a:rPr>
              <a:t>Tasa de descuento.</a:t>
            </a:r>
          </a:p>
          <a:p>
            <a:pPr marL="385763" indent="-385763" algn="just">
              <a:buAutoNum type="alphaLcParenR"/>
            </a:pPr>
            <a:r>
              <a:rPr lang="es-AR" sz="1800" dirty="0">
                <a:solidFill>
                  <a:schemeClr val="tx1">
                    <a:lumMod val="95000"/>
                    <a:lumOff val="5000"/>
                  </a:schemeClr>
                </a:solidFill>
              </a:rPr>
              <a:t>Períodos.</a:t>
            </a:r>
            <a:endParaRPr lang="es-AR" sz="1800" dirty="0">
              <a:solidFill>
                <a:schemeClr val="tx1">
                  <a:lumMod val="95000"/>
                  <a:lumOff val="5000"/>
                </a:schemeClr>
              </a:solidFill>
            </a:endParaRPr>
          </a:p>
        </p:txBody>
      </p:sp>
    </p:spTree>
    <p:extLst>
      <p:ext uri="{BB962C8B-B14F-4D97-AF65-F5344CB8AC3E}">
        <p14:creationId xmlns:p14="http://schemas.microsoft.com/office/powerpoint/2010/main" val="30629676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 y="1131094"/>
            <a:ext cx="8948057" cy="994172"/>
          </a:xfrm>
        </p:spPr>
        <p:txBody>
          <a:bodyPr>
            <a:normAutofit/>
          </a:bodyPr>
          <a:lstStyle/>
          <a:p>
            <a:r>
              <a:rPr lang="es-AR" sz="2850" dirty="0"/>
              <a:t>Modelo multidimensional de la sensibilización del VAN.</a:t>
            </a:r>
            <a:endParaRPr lang="es-AR" sz="2850" dirty="0"/>
          </a:p>
        </p:txBody>
      </p:sp>
      <p:sp>
        <p:nvSpPr>
          <p:cNvPr id="3" name="Marcador de contenido 2"/>
          <p:cNvSpPr>
            <a:spLocks noGrp="1"/>
          </p:cNvSpPr>
          <p:nvPr>
            <p:ph idx="1"/>
          </p:nvPr>
        </p:nvSpPr>
        <p:spPr>
          <a:xfrm>
            <a:off x="628650" y="1869622"/>
            <a:ext cx="7886700" cy="3620351"/>
          </a:xfrm>
        </p:spPr>
        <p:txBody>
          <a:bodyPr/>
          <a:lstStyle/>
          <a:p>
            <a:r>
              <a:rPr lang="es-AR" dirty="0" smtClean="0"/>
              <a:t>Incorpora en su análisis el efecto combinado de la variación de dos o más variables analizando cual será su impacto en los valores del VAN.</a:t>
            </a:r>
          </a:p>
          <a:p>
            <a:endParaRPr lang="es-AR" dirty="0"/>
          </a:p>
        </p:txBody>
      </p:sp>
      <p:pic>
        <p:nvPicPr>
          <p:cNvPr id="4" name="Imagen 3"/>
          <p:cNvPicPr>
            <a:picLocks noChangeAspect="1"/>
          </p:cNvPicPr>
          <p:nvPr/>
        </p:nvPicPr>
        <p:blipFill>
          <a:blip r:embed="rId2"/>
          <a:stretch>
            <a:fillRect/>
          </a:stretch>
        </p:blipFill>
        <p:spPr>
          <a:xfrm>
            <a:off x="1143000" y="2783171"/>
            <a:ext cx="6858000" cy="3445329"/>
          </a:xfrm>
          <a:prstGeom prst="rect">
            <a:avLst/>
          </a:prstGeom>
        </p:spPr>
      </p:pic>
    </p:spTree>
    <p:extLst>
      <p:ext uri="{BB962C8B-B14F-4D97-AF65-F5344CB8AC3E}">
        <p14:creationId xmlns:p14="http://schemas.microsoft.com/office/powerpoint/2010/main" val="29690422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jo">
  <a:themeElements>
    <a:clrScheme name="Flujo">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uj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j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636</TotalTime>
  <Words>3579</Words>
  <Application>Microsoft Office PowerPoint</Application>
  <PresentationFormat>Presentación en pantalla (4:3)</PresentationFormat>
  <Paragraphs>312</Paragraphs>
  <Slides>74</Slides>
  <Notes>2</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74</vt:i4>
      </vt:variant>
    </vt:vector>
  </HeadingPairs>
  <TitlesOfParts>
    <vt:vector size="82" baseType="lpstr">
      <vt:lpstr>Arial</vt:lpstr>
      <vt:lpstr>Calibri</vt:lpstr>
      <vt:lpstr>Constantia</vt:lpstr>
      <vt:lpstr>Google Sans</vt:lpstr>
      <vt:lpstr>Wingdings 2</vt:lpstr>
      <vt:lpstr>Wingdings 3</vt:lpstr>
      <vt:lpstr>Flujo</vt:lpstr>
      <vt:lpstr>Hoja de cálculo</vt:lpstr>
      <vt:lpstr>Economía Aplicada: Módulo Marketing.</vt:lpstr>
      <vt:lpstr>Concepto de Marketing:</vt:lpstr>
      <vt:lpstr>Conceptos básicos:</vt:lpstr>
      <vt:lpstr>Presentación de PowerPoint</vt:lpstr>
      <vt:lpstr>Mercado y Marketing:</vt:lpstr>
      <vt:lpstr>Segmentación del Mercado:</vt:lpstr>
      <vt:lpstr>Tipos de Segmentación de mercado:</vt:lpstr>
      <vt:lpstr>Ejemplos:</vt:lpstr>
      <vt:lpstr>Segmentación psicográfica:</vt:lpstr>
      <vt:lpstr>Ejemplos de segmentación de mercado:</vt:lpstr>
      <vt:lpstr>Segmentación conductual:</vt:lpstr>
      <vt:lpstr>Características:</vt:lpstr>
      <vt:lpstr>Segmentación demográfica:</vt:lpstr>
      <vt:lpstr>Tipos de Segmentación:</vt:lpstr>
      <vt:lpstr>Tipos de Segmentación:</vt:lpstr>
      <vt:lpstr>Estudio de Mercado: Concepto</vt:lpstr>
      <vt:lpstr>Mercados que intervienen:</vt:lpstr>
      <vt:lpstr>Mercados que intervienen:</vt:lpstr>
      <vt:lpstr>Mercados que Intervienen:</vt:lpstr>
      <vt:lpstr>Mercados que intervienen:</vt:lpstr>
      <vt:lpstr>Objetivos del estudio de mercado:</vt:lpstr>
      <vt:lpstr>Etapas del Estudio de mercado:</vt:lpstr>
      <vt:lpstr>Etapas del estudio de mercado:</vt:lpstr>
      <vt:lpstr>El Consumidor:</vt:lpstr>
      <vt:lpstr>Estrategia comercial:</vt:lpstr>
      <vt:lpstr>Estrategia comercial:</vt:lpstr>
      <vt:lpstr>Fijación técnica del precio:</vt:lpstr>
      <vt:lpstr>Estrategias de fijación de precios:</vt:lpstr>
      <vt:lpstr> Estrategias de fijación de precios.</vt:lpstr>
      <vt:lpstr>Morfología de Mercado: COMPETENCIA PERFECTA</vt:lpstr>
      <vt:lpstr>Competencia Perfecta: Características</vt:lpstr>
      <vt:lpstr>Competencia Perfecta: Supuestos</vt:lpstr>
      <vt:lpstr>Período de mercado o plazo inmediato:</vt:lpstr>
      <vt:lpstr>Período de mercado o plazo inmediato:</vt:lpstr>
      <vt:lpstr>Demanda de mercado y demanda individual.</vt:lpstr>
      <vt:lpstr>Demanda a la cual se enfrenta el competidor perfecto:</vt:lpstr>
      <vt:lpstr>Flujos financieros del competidor perfecto:</vt:lpstr>
      <vt:lpstr>Maximización de beneficios: Enfoque IT-CT</vt:lpstr>
      <vt:lpstr>Maximización de beneficios: Enfoque Img=Cmg</vt:lpstr>
      <vt:lpstr>Nivel Óptimo de Producción:</vt:lpstr>
      <vt:lpstr>Ganancias Normales:</vt:lpstr>
      <vt:lpstr>Presentación de PowerPoint</vt:lpstr>
      <vt:lpstr>Presentación de PowerPoint</vt:lpstr>
      <vt:lpstr>Beneficios súper normales:</vt:lpstr>
      <vt:lpstr>Curva de Oferta </vt:lpstr>
      <vt:lpstr>Equilibrio a largo plazo para una empresa competitiva:</vt:lpstr>
      <vt:lpstr>Presentación de PowerPoint</vt:lpstr>
      <vt:lpstr>Presentación de PowerPoint</vt:lpstr>
      <vt:lpstr>Presentación de PowerPoint</vt:lpstr>
      <vt:lpstr>Equilibrio a Largo Plazo:</vt:lpstr>
      <vt:lpstr>Ejercicios de Aplicación: Complete las columnas faltantes.</vt:lpstr>
      <vt:lpstr>Solución:</vt:lpstr>
      <vt:lpstr>MONOPOLIO</vt:lpstr>
      <vt:lpstr>COMPETENCIA MONOPOLISTA</vt:lpstr>
      <vt:lpstr>COMPETENCIA MONOPOLISTA</vt:lpstr>
      <vt:lpstr>OLIGOPOLIO</vt:lpstr>
      <vt:lpstr>OLIGOPOLIO:</vt:lpstr>
      <vt:lpstr>EJERCICIOS COMPLEMENTARIOS:</vt:lpstr>
      <vt:lpstr>Solución:</vt:lpstr>
      <vt:lpstr>Solución: Costos de Marketing:</vt:lpstr>
      <vt:lpstr>Costos de marketing</vt:lpstr>
      <vt:lpstr>Solución:</vt:lpstr>
      <vt:lpstr>EJERCICIO N°2:</vt:lpstr>
      <vt:lpstr>Respuesta:</vt:lpstr>
      <vt:lpstr>Criterios de rentabilidad privada. Análisis de Sensibilidad.</vt:lpstr>
      <vt:lpstr>Evaluación de Proyectos:</vt:lpstr>
      <vt:lpstr>Variables a utilizar:</vt:lpstr>
      <vt:lpstr>Criterios de Rentabilidad aplicados:</vt:lpstr>
      <vt:lpstr>El criterio de la TASA INTERNA DE RETORNO: </vt:lpstr>
      <vt:lpstr>El criterio del PERÍODO DE RECUPERACIÓN DE LA INVERSIÓN: PRI</vt:lpstr>
      <vt:lpstr>Criterio de la RAZÓN BENEFICIO-COSTO:</vt:lpstr>
      <vt:lpstr>Análisis de Sensibilidad:</vt:lpstr>
      <vt:lpstr>Modelo unidimensional de la sensibilización del VAN.</vt:lpstr>
      <vt:lpstr>Modelo multidimensional de la sensibilización del VAN.</vt:lpstr>
    </vt:vector>
  </TitlesOfParts>
  <Company>Windows uE 2010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Economía Aplicada: Módulo Marketing.</dc:title>
  <dc:creator>WinuE</dc:creator>
  <cp:lastModifiedBy>Usuario</cp:lastModifiedBy>
  <cp:revision>59</cp:revision>
  <dcterms:created xsi:type="dcterms:W3CDTF">2018-01-22T20:50:52Z</dcterms:created>
  <dcterms:modified xsi:type="dcterms:W3CDTF">2025-04-21T11:44:23Z</dcterms:modified>
</cp:coreProperties>
</file>