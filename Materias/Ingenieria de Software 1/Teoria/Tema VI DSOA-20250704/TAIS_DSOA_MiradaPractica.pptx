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0" r:id="rId2"/>
    <p:sldId id="350" r:id="rId3"/>
    <p:sldId id="323" r:id="rId4"/>
    <p:sldId id="324" r:id="rId5"/>
    <p:sldId id="320" r:id="rId6"/>
    <p:sldId id="325" r:id="rId7"/>
    <p:sldId id="326" r:id="rId8"/>
    <p:sldId id="327" r:id="rId9"/>
    <p:sldId id="329" r:id="rId10"/>
    <p:sldId id="330" r:id="rId11"/>
    <p:sldId id="331" r:id="rId12"/>
    <p:sldId id="333" r:id="rId13"/>
    <p:sldId id="335" r:id="rId14"/>
    <p:sldId id="336" r:id="rId15"/>
    <p:sldId id="338" r:id="rId16"/>
    <p:sldId id="339" r:id="rId17"/>
    <p:sldId id="340" r:id="rId18"/>
    <p:sldId id="351" r:id="rId19"/>
    <p:sldId id="352" r:id="rId20"/>
    <p:sldId id="353" r:id="rId21"/>
    <p:sldId id="355" r:id="rId22"/>
    <p:sldId id="356" r:id="rId23"/>
    <p:sldId id="358" r:id="rId24"/>
    <p:sldId id="359" r:id="rId25"/>
    <p:sldId id="361" r:id="rId26"/>
    <p:sldId id="362" r:id="rId27"/>
    <p:sldId id="364" r:id="rId28"/>
    <p:sldId id="366" r:id="rId29"/>
    <p:sldId id="367" r:id="rId30"/>
    <p:sldId id="369" r:id="rId31"/>
    <p:sldId id="381" r:id="rId32"/>
    <p:sldId id="382" r:id="rId33"/>
    <p:sldId id="390" r:id="rId34"/>
    <p:sldId id="391" r:id="rId35"/>
    <p:sldId id="392" r:id="rId36"/>
    <p:sldId id="393" r:id="rId37"/>
    <p:sldId id="276" r:id="rId38"/>
    <p:sldId id="268" r:id="rId39"/>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97" autoAdjust="0"/>
    <p:restoredTop sz="94638" autoAdjust="0"/>
  </p:normalViewPr>
  <p:slideViewPr>
    <p:cSldViewPr>
      <p:cViewPr varScale="1">
        <p:scale>
          <a:sx n="86" d="100"/>
          <a:sy n="86" d="100"/>
        </p:scale>
        <p:origin x="-149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AR"/>
          </a:p>
        </p:txBody>
      </p:sp>
      <p:sp>
        <p:nvSpPr>
          <p:cNvPr id="4" name="3 Marcador de fecha"/>
          <p:cNvSpPr>
            <a:spLocks noGrp="1"/>
          </p:cNvSpPr>
          <p:nvPr>
            <p:ph type="dt" sz="half" idx="10"/>
          </p:nvPr>
        </p:nvSpPr>
        <p:spPr/>
        <p:txBody>
          <a:bodyPr/>
          <a:lstStyle/>
          <a:p>
            <a:fld id="{3F2C8617-5095-41D0-A889-3592BD45FF7A}" type="datetimeFigureOut">
              <a:rPr lang="es-AR" smtClean="0"/>
              <a:pPr/>
              <a:t>23/04/2019</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6B5D649F-F2C6-4246-A040-2EB4B79E4EA4}" type="slidenum">
              <a:rPr lang="es-AR" smtClean="0"/>
              <a:pPr/>
              <a:t>‹Nº›</a:t>
            </a:fld>
            <a:endParaRPr lang="es-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3F2C8617-5095-41D0-A889-3592BD45FF7A}" type="datetimeFigureOut">
              <a:rPr lang="es-AR" smtClean="0"/>
              <a:pPr/>
              <a:t>23/04/2019</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6B5D649F-F2C6-4246-A040-2EB4B79E4EA4}" type="slidenum">
              <a:rPr lang="es-AR" smtClean="0"/>
              <a:pPr/>
              <a:t>‹Nº›</a:t>
            </a:fld>
            <a:endParaRPr lang="es-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3F2C8617-5095-41D0-A889-3592BD45FF7A}" type="datetimeFigureOut">
              <a:rPr lang="es-AR" smtClean="0"/>
              <a:pPr/>
              <a:t>23/04/2019</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6B5D649F-F2C6-4246-A040-2EB4B79E4EA4}" type="slidenum">
              <a:rPr lang="es-AR" smtClean="0"/>
              <a:pPr/>
              <a:t>‹Nº›</a:t>
            </a:fld>
            <a:endParaRPr lang="es-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fecha"/>
          <p:cNvSpPr>
            <a:spLocks noGrp="1"/>
          </p:cNvSpPr>
          <p:nvPr>
            <p:ph type="dt" sz="half" idx="10"/>
          </p:nvPr>
        </p:nvSpPr>
        <p:spPr/>
        <p:txBody>
          <a:bodyPr/>
          <a:lstStyle/>
          <a:p>
            <a:fld id="{3F2C8617-5095-41D0-A889-3592BD45FF7A}" type="datetimeFigureOut">
              <a:rPr lang="es-AR" smtClean="0"/>
              <a:pPr/>
              <a:t>23/04/2019</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6B5D649F-F2C6-4246-A040-2EB4B79E4EA4}" type="slidenum">
              <a:rPr lang="es-AR" smtClean="0"/>
              <a:pPr/>
              <a:t>‹Nº›</a:t>
            </a:fld>
            <a:endParaRPr lang="es-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7" name="6 Marcador de fecha"/>
          <p:cNvSpPr>
            <a:spLocks noGrp="1"/>
          </p:cNvSpPr>
          <p:nvPr>
            <p:ph type="dt" sz="half" idx="10"/>
          </p:nvPr>
        </p:nvSpPr>
        <p:spPr/>
        <p:txBody>
          <a:bodyPr/>
          <a:lstStyle/>
          <a:p>
            <a:fld id="{3F2C8617-5095-41D0-A889-3592BD45FF7A}" type="datetimeFigureOut">
              <a:rPr lang="es-AR" smtClean="0"/>
              <a:pPr/>
              <a:t>23/04/2019</a:t>
            </a:fld>
            <a:endParaRPr lang="es-AR"/>
          </a:p>
        </p:txBody>
      </p:sp>
      <p:sp>
        <p:nvSpPr>
          <p:cNvPr id="8" name="7 Marcador de pie de página"/>
          <p:cNvSpPr>
            <a:spLocks noGrp="1"/>
          </p:cNvSpPr>
          <p:nvPr>
            <p:ph type="ftr" sz="quarter" idx="11"/>
          </p:nvPr>
        </p:nvSpPr>
        <p:spPr/>
        <p:txBody>
          <a:bodyPr/>
          <a:lstStyle/>
          <a:p>
            <a:endParaRPr lang="es-AR"/>
          </a:p>
        </p:txBody>
      </p:sp>
      <p:sp>
        <p:nvSpPr>
          <p:cNvPr id="9" name="8 Marcador de número de diapositiva"/>
          <p:cNvSpPr>
            <a:spLocks noGrp="1"/>
          </p:cNvSpPr>
          <p:nvPr>
            <p:ph type="sldNum" sz="quarter" idx="12"/>
          </p:nvPr>
        </p:nvSpPr>
        <p:spPr/>
        <p:txBody>
          <a:bodyPr/>
          <a:lstStyle/>
          <a:p>
            <a:fld id="{6B5D649F-F2C6-4246-A040-2EB4B79E4EA4}" type="slidenum">
              <a:rPr lang="es-AR" smtClean="0"/>
              <a:pPr/>
              <a:t>‹Nº›</a:t>
            </a:fld>
            <a:endParaRPr lang="es-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fecha"/>
          <p:cNvSpPr>
            <a:spLocks noGrp="1"/>
          </p:cNvSpPr>
          <p:nvPr>
            <p:ph type="dt" sz="half" idx="10"/>
          </p:nvPr>
        </p:nvSpPr>
        <p:spPr/>
        <p:txBody>
          <a:bodyPr/>
          <a:lstStyle/>
          <a:p>
            <a:fld id="{3F2C8617-5095-41D0-A889-3592BD45FF7A}" type="datetimeFigureOut">
              <a:rPr lang="es-AR" smtClean="0"/>
              <a:pPr/>
              <a:t>23/04/2019</a:t>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p:txBody>
          <a:bodyPr/>
          <a:lstStyle/>
          <a:p>
            <a:fld id="{6B5D649F-F2C6-4246-A040-2EB4B79E4EA4}" type="slidenum">
              <a:rPr lang="es-AR" smtClean="0"/>
              <a:pPr/>
              <a:t>‹Nº›</a:t>
            </a:fld>
            <a:endParaRPr lang="es-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3F2C8617-5095-41D0-A889-3592BD45FF7A}" type="datetimeFigureOut">
              <a:rPr lang="es-AR" smtClean="0"/>
              <a:pPr/>
              <a:t>23/04/2019</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p:txBody>
          <a:bodyPr/>
          <a:lstStyle/>
          <a:p>
            <a:fld id="{6B5D649F-F2C6-4246-A040-2EB4B79E4EA4}" type="slidenum">
              <a:rPr lang="es-AR" smtClean="0"/>
              <a:pPr/>
              <a:t>‹Nº›</a:t>
            </a:fld>
            <a:endParaRPr lang="es-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3F2C8617-5095-41D0-A889-3592BD45FF7A}" type="datetimeFigureOut">
              <a:rPr lang="es-AR" smtClean="0"/>
              <a:pPr/>
              <a:t>23/04/2019</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6B5D649F-F2C6-4246-A040-2EB4B79E4EA4}" type="slidenum">
              <a:rPr lang="es-AR" smtClean="0"/>
              <a:pPr/>
              <a:t>‹Nº›</a:t>
            </a:fld>
            <a:endParaRPr lang="es-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3F2C8617-5095-41D0-A889-3592BD45FF7A}" type="datetimeFigureOut">
              <a:rPr lang="es-AR" smtClean="0"/>
              <a:pPr/>
              <a:t>23/04/2019</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6B5D649F-F2C6-4246-A040-2EB4B79E4EA4}" type="slidenum">
              <a:rPr lang="es-AR" smtClean="0"/>
              <a:pPr/>
              <a:t>‹Nº›</a:t>
            </a:fld>
            <a:endParaRPr lang="es-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3F2C8617-5095-41D0-A889-3592BD45FF7A}" type="datetimeFigureOut">
              <a:rPr lang="es-AR" smtClean="0"/>
              <a:pPr/>
              <a:t>23/04/2019</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6B5D649F-F2C6-4246-A040-2EB4B79E4EA4}" type="slidenum">
              <a:rPr lang="es-AR" smtClean="0"/>
              <a:pPr/>
              <a:t>‹Nº›</a:t>
            </a:fld>
            <a:endParaRPr lang="es-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3F2C8617-5095-41D0-A889-3592BD45FF7A}" type="datetimeFigureOut">
              <a:rPr lang="es-AR" smtClean="0"/>
              <a:pPr/>
              <a:t>23/04/2019</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6B5D649F-F2C6-4246-A040-2EB4B79E4EA4}" type="slidenum">
              <a:rPr lang="es-AR" smtClean="0"/>
              <a:pPr/>
              <a:t>‹Nº›</a:t>
            </a:fld>
            <a:endParaRPr lang="es-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2C8617-5095-41D0-A889-3592BD45FF7A}" type="datetimeFigureOut">
              <a:rPr lang="es-AR" smtClean="0"/>
              <a:pPr/>
              <a:t>23/04/2019</a:t>
            </a:fld>
            <a:endParaRPr lang="es-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5D649F-F2C6-4246-A040-2EB4B79E4EA4}" type="slidenum">
              <a:rPr lang="es-AR" smtClean="0"/>
              <a:pPr/>
              <a:t>‹Nº›</a:t>
            </a:fld>
            <a:endParaRPr lang="es-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endParaRPr lang="es-AR"/>
          </a:p>
        </p:txBody>
      </p:sp>
      <p:sp>
        <p:nvSpPr>
          <p:cNvPr id="3" name="2 Subtítulo"/>
          <p:cNvSpPr>
            <a:spLocks noGrp="1"/>
          </p:cNvSpPr>
          <p:nvPr>
            <p:ph type="subTitle" idx="1"/>
          </p:nvPr>
        </p:nvSpPr>
        <p:spPr/>
        <p:txBody>
          <a:bodyPr/>
          <a:lstStyle/>
          <a:p>
            <a:endParaRPr lang="es-AR"/>
          </a:p>
        </p:txBody>
      </p:sp>
      <p:pic>
        <p:nvPicPr>
          <p:cNvPr id="1028" name="Picture 4" descr="Nube palabra abstracta para el desarrollo de software orientado a aspectos relacionados con las etiquetas y tÃ©rminos Foto de archivo - 16049610"/>
          <p:cNvPicPr>
            <a:picLocks noChangeAspect="1" noChangeArrowheads="1"/>
          </p:cNvPicPr>
          <p:nvPr/>
        </p:nvPicPr>
        <p:blipFill>
          <a:blip r:embed="rId2"/>
          <a:srcRect/>
          <a:stretch>
            <a:fillRect/>
          </a:stretch>
        </p:blipFill>
        <p:spPr bwMode="auto">
          <a:xfrm>
            <a:off x="0" y="1720820"/>
            <a:ext cx="9144000" cy="5137180"/>
          </a:xfrm>
          <a:prstGeom prst="rect">
            <a:avLst/>
          </a:prstGeom>
          <a:noFill/>
        </p:spPr>
      </p:pic>
      <p:pic>
        <p:nvPicPr>
          <p:cNvPr id="5" name="4 Imagen" descr="UNIVERSIDAD NACIONAL DE PILAR"/>
          <p:cNvPicPr/>
          <p:nvPr/>
        </p:nvPicPr>
        <p:blipFill>
          <a:blip r:embed="rId3"/>
          <a:srcRect/>
          <a:stretch>
            <a:fillRect/>
          </a:stretch>
        </p:blipFill>
        <p:spPr bwMode="auto">
          <a:xfrm>
            <a:off x="0" y="0"/>
            <a:ext cx="9144000" cy="15716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71472" y="2428868"/>
            <a:ext cx="8229600" cy="1143000"/>
          </a:xfrm>
        </p:spPr>
        <p:txBody>
          <a:bodyPr/>
          <a:lstStyle/>
          <a:p>
            <a:r>
              <a:rPr lang="es-AR" b="1" dirty="0" smtClean="0"/>
              <a:t>Ejemplo de aplicación de AORE</a:t>
            </a:r>
            <a:endParaRPr lang="es-A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85720" y="142852"/>
            <a:ext cx="4357718" cy="296842"/>
          </a:xfrm>
        </p:spPr>
        <p:txBody>
          <a:bodyPr>
            <a:normAutofit fontScale="90000"/>
          </a:bodyPr>
          <a:lstStyle/>
          <a:p>
            <a:r>
              <a:rPr lang="es-AR" sz="2400" b="1" dirty="0" smtClean="0"/>
              <a:t>Ejemplo de aplicación de AORE</a:t>
            </a:r>
            <a:endParaRPr lang="es-AR" sz="2400" dirty="0"/>
          </a:p>
        </p:txBody>
      </p:sp>
      <p:sp>
        <p:nvSpPr>
          <p:cNvPr id="6" name="5 Rectángulo"/>
          <p:cNvSpPr/>
          <p:nvPr/>
        </p:nvSpPr>
        <p:spPr>
          <a:xfrm>
            <a:off x="142844" y="671691"/>
            <a:ext cx="8786874" cy="6186309"/>
          </a:xfrm>
          <a:prstGeom prst="rect">
            <a:avLst/>
          </a:prstGeom>
        </p:spPr>
        <p:txBody>
          <a:bodyPr wrap="square">
            <a:spAutoFit/>
          </a:bodyPr>
          <a:lstStyle/>
          <a:p>
            <a:pPr algn="just"/>
            <a:r>
              <a:rPr lang="es-AR" sz="1200" b="1" dirty="0" smtClean="0"/>
              <a:t>ACME </a:t>
            </a:r>
            <a:r>
              <a:rPr lang="es-AR" sz="1200" b="1" dirty="0" err="1" smtClean="0"/>
              <a:t>Warehouse</a:t>
            </a:r>
            <a:r>
              <a:rPr lang="es-AR" sz="1200" b="1" dirty="0" smtClean="0"/>
              <a:t> </a:t>
            </a:r>
            <a:r>
              <a:rPr lang="es-AR" sz="1200" b="1" dirty="0" err="1" smtClean="0"/>
              <a:t>Magnament</a:t>
            </a:r>
            <a:r>
              <a:rPr lang="es-AR" sz="1200" b="1" dirty="0" smtClean="0"/>
              <a:t> Inc.</a:t>
            </a:r>
          </a:p>
          <a:p>
            <a:pPr algn="just"/>
            <a:r>
              <a:rPr lang="es-AR" sz="1200" dirty="0" smtClean="0"/>
              <a:t>El sistema soportará el manejo de almacén. El sistema de órdenes de la compañía ACME </a:t>
            </a:r>
            <a:r>
              <a:rPr lang="es-AR" sz="1200" dirty="0" err="1" smtClean="0"/>
              <a:t>Worehouse</a:t>
            </a:r>
            <a:r>
              <a:rPr lang="es-AR" sz="1200" dirty="0" smtClean="0"/>
              <a:t> </a:t>
            </a:r>
            <a:r>
              <a:rPr lang="es-AR" sz="1200" dirty="0" err="1" smtClean="0"/>
              <a:t>Magnament</a:t>
            </a:r>
            <a:r>
              <a:rPr lang="es-AR" sz="1200" dirty="0" smtClean="0"/>
              <a:t> </a:t>
            </a:r>
            <a:r>
              <a:rPr lang="es-AR" sz="1200" dirty="0" err="1" smtClean="0"/>
              <a:t>Inc</a:t>
            </a:r>
            <a:r>
              <a:rPr lang="es-AR" sz="1200" dirty="0" smtClean="0"/>
              <a:t>, se especializa en dar soporte a sus clientes con espacios de almacén en toda la nación. Ejemplos de clientes son compañías que necesitan espacio para almacenar sus productos antes de que estos sean enviados, o por compañías que necesitan almacenes locales sin tener oficinas locales. ACME ya es una especialista en el almacenamiento de diferentes tipos de ítems y en el uso de camiones para redistribuir los ítems. ACME planea crecer y ahora necesita un sistema de información con el cual pueda crecer. La idea es ofrecer a los clientes espacios de almacén y servicios de distribución entre diferentes almacenes con un soporte completamente computarizado. El servicio incluye redistribución al interior del almacén y redistribución entre almacenes, lo que significa que es importante diferenciar entre ciertos tipos de ítems; por ejemplo, algunos ítems no deben entrar en contacto con otros ítems (como químicos industriales y comida). Las siguientes personas estarán usando el sistema de una u otra forma:</a:t>
            </a:r>
          </a:p>
          <a:p>
            <a:pPr algn="just"/>
            <a:endParaRPr lang="es-AR" sz="1200" dirty="0" smtClean="0"/>
          </a:p>
          <a:p>
            <a:pPr algn="just"/>
            <a:r>
              <a:rPr lang="es-AR" sz="1200" dirty="0" smtClean="0"/>
              <a:t>- </a:t>
            </a:r>
            <a:r>
              <a:rPr lang="es-AR" sz="1200" dirty="0" err="1" smtClean="0"/>
              <a:t>Foreman</a:t>
            </a:r>
            <a:r>
              <a:rPr lang="es-AR" sz="1200" dirty="0" smtClean="0"/>
              <a:t>: Responsable de un almacén.</a:t>
            </a:r>
          </a:p>
          <a:p>
            <a:pPr algn="just"/>
            <a:r>
              <a:rPr lang="es-AR" sz="1200" dirty="0" smtClean="0"/>
              <a:t>- </a:t>
            </a:r>
            <a:r>
              <a:rPr lang="es-AR" sz="1200" dirty="0" err="1" smtClean="0"/>
              <a:t>Warehouse</a:t>
            </a:r>
            <a:r>
              <a:rPr lang="es-AR" sz="1200" dirty="0" smtClean="0"/>
              <a:t> </a:t>
            </a:r>
            <a:r>
              <a:rPr lang="es-AR" sz="1200" dirty="0" err="1" smtClean="0"/>
              <a:t>worker</a:t>
            </a:r>
            <a:r>
              <a:rPr lang="es-AR" sz="1200" dirty="0" smtClean="0"/>
              <a:t>: Trabaja en un almacén, cargando y descargando.</a:t>
            </a:r>
          </a:p>
          <a:p>
            <a:pPr algn="just"/>
            <a:r>
              <a:rPr lang="es-AR" sz="1200" dirty="0" smtClean="0"/>
              <a:t>- </a:t>
            </a:r>
            <a:r>
              <a:rPr lang="es-AR" sz="1200" dirty="0" err="1" smtClean="0"/>
              <a:t>Truck</a:t>
            </a:r>
            <a:r>
              <a:rPr lang="es-AR" sz="1200" dirty="0" smtClean="0"/>
              <a:t> driver: Maneja un camión entre diferentes almacenes.</a:t>
            </a:r>
          </a:p>
          <a:p>
            <a:pPr algn="just"/>
            <a:r>
              <a:rPr lang="es-AR" sz="1200" dirty="0" smtClean="0"/>
              <a:t>- </a:t>
            </a:r>
            <a:r>
              <a:rPr lang="es-AR" sz="1200" dirty="0" err="1" smtClean="0"/>
              <a:t>Forkfilt</a:t>
            </a:r>
            <a:r>
              <a:rPr lang="es-AR" sz="1200" dirty="0" smtClean="0"/>
              <a:t> </a:t>
            </a:r>
            <a:r>
              <a:rPr lang="es-AR" sz="1200" dirty="0" err="1" smtClean="0"/>
              <a:t>operator</a:t>
            </a:r>
            <a:r>
              <a:rPr lang="es-AR" sz="1200" dirty="0" smtClean="0"/>
              <a:t>: Maneja un montacargas en un almacén.</a:t>
            </a:r>
          </a:p>
          <a:p>
            <a:pPr algn="just"/>
            <a:r>
              <a:rPr lang="es-AR" sz="1200" dirty="0" smtClean="0"/>
              <a:t>- Office </a:t>
            </a:r>
            <a:r>
              <a:rPr lang="es-AR" sz="1200" dirty="0" err="1" smtClean="0"/>
              <a:t>personnel</a:t>
            </a:r>
            <a:r>
              <a:rPr lang="es-AR" sz="1200" dirty="0" smtClean="0"/>
              <a:t>: Recibe órdenes y peticiones de los clientes.</a:t>
            </a:r>
          </a:p>
          <a:p>
            <a:pPr algn="just"/>
            <a:r>
              <a:rPr lang="es-AR" sz="1200" dirty="0" smtClean="0"/>
              <a:t>- Clientes: Son dueños de los ítems en el almacén y dan instrucciones de donde y cuando ellos requieren los ítems.</a:t>
            </a:r>
          </a:p>
          <a:p>
            <a:pPr algn="just"/>
            <a:endParaRPr lang="es-AR" sz="1200" dirty="0" smtClean="0"/>
          </a:p>
          <a:p>
            <a:pPr algn="just"/>
            <a:r>
              <a:rPr lang="es-AR" sz="1200" dirty="0" smtClean="0"/>
              <a:t>Es fundamental para el sistema ACME que este pueda ser descentralizado como sea posible y que todas las personas involucradas puedan alcanzarlo en todo momento Por tanto los conductores de camión deben tener dispositivos de comunicaciones para obtener sus ordenes y ellos podrán comunicarse con el </a:t>
            </a:r>
            <a:r>
              <a:rPr lang="es-AR" sz="1200" dirty="0" err="1" smtClean="0"/>
              <a:t>foreman</a:t>
            </a:r>
            <a:r>
              <a:rPr lang="es-AR" sz="1200" dirty="0" smtClean="0"/>
              <a:t> de la oficina. Esto significa que también necesitaremos una red de radio comunicación, un sistema que no debe ser desarrollado por nosotros pero será</a:t>
            </a:r>
          </a:p>
          <a:p>
            <a:pPr algn="just"/>
            <a:r>
              <a:rPr lang="es-AR" sz="1200" dirty="0" smtClean="0"/>
              <a:t>comprado separadamente. Los trabajadores del almacén, para cargar y descargar deben usar un lector de código de barras cuando manipulan los ítems, en orden a ser eficientes como sea posible. Esto significa que todos los ítems deben ser marcados cuando sean insertados en el sistema del almacén por el trabajador del almacén; esta marca debe, al mismo tiempo, dar  información a cerca del ítem al sistema de información. El </a:t>
            </a:r>
            <a:r>
              <a:rPr lang="es-AR" sz="1200" dirty="0" err="1" smtClean="0"/>
              <a:t>foreman</a:t>
            </a:r>
            <a:r>
              <a:rPr lang="es-AR" sz="1200" dirty="0" smtClean="0"/>
              <a:t> podrá trabajar con varios ítems al mismo tiempo; por lo que probablemente necesitara una Terminal basada en ventanas. Ellos son los responsables de efectuar la redistribución de las</a:t>
            </a:r>
          </a:p>
          <a:p>
            <a:pPr algn="just"/>
            <a:r>
              <a:rPr lang="es-AR" sz="1200" dirty="0" smtClean="0"/>
              <a:t>órdenes desde la oficina. </a:t>
            </a:r>
          </a:p>
          <a:p>
            <a:pPr algn="just"/>
            <a:r>
              <a:rPr lang="es-AR" sz="1200" dirty="0" smtClean="0"/>
              <a:t>Cuando un cliente quiere hacer algo con sus ítems, el contactará la oficina, la cual se sucesivamente enviara ordenes de redistribución al sistema. Eventualmente, si el sistema trabaja bien, ACME planea dar a sus clientes terminales para que ellos puedan interactuar directamente con el sistema.</a:t>
            </a:r>
          </a:p>
          <a:p>
            <a:pPr algn="just"/>
            <a:r>
              <a:rPr lang="es-AR" sz="1200" dirty="0" smtClean="0"/>
              <a:t>El sistema deberá usar una base de datos relacional (puesto que al momento ACME tiene toda su información en bases de datos y no desea cambiarlo) y la aplicación deberá ser codificada en C++. El sistema deberá tener una implementación distribuida.</a:t>
            </a:r>
            <a:endParaRPr lang="es-AR" sz="1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srcRect/>
          <a:stretch>
            <a:fillRect/>
          </a:stretch>
        </p:blipFill>
        <p:spPr bwMode="auto">
          <a:xfrm>
            <a:off x="642910" y="1500174"/>
            <a:ext cx="7572428" cy="3100394"/>
          </a:xfrm>
          <a:prstGeom prst="rect">
            <a:avLst/>
          </a:prstGeom>
          <a:noFill/>
          <a:ln w="9525">
            <a:noFill/>
            <a:miter lim="800000"/>
            <a:headEnd/>
            <a:tailEnd/>
          </a:ln>
          <a:effectLst/>
        </p:spPr>
      </p:pic>
      <p:sp>
        <p:nvSpPr>
          <p:cNvPr id="6" name="5 Rectángulo"/>
          <p:cNvSpPr/>
          <p:nvPr/>
        </p:nvSpPr>
        <p:spPr>
          <a:xfrm>
            <a:off x="714348" y="714356"/>
            <a:ext cx="7143800" cy="369332"/>
          </a:xfrm>
          <a:prstGeom prst="rect">
            <a:avLst/>
          </a:prstGeom>
        </p:spPr>
        <p:txBody>
          <a:bodyPr wrap="square">
            <a:spAutoFit/>
          </a:bodyPr>
          <a:lstStyle/>
          <a:p>
            <a:r>
              <a:rPr lang="es-AR" dirty="0" smtClean="0"/>
              <a:t>A partir del texto presentado se obtiene el siguiente catalogo de requisitos</a:t>
            </a:r>
            <a:endParaRPr lang="es-A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p:txBody>
          <a:bodyPr/>
          <a:lstStyle/>
          <a:p>
            <a:endParaRPr lang="es-AR"/>
          </a:p>
        </p:txBody>
      </p:sp>
      <p:pic>
        <p:nvPicPr>
          <p:cNvPr id="5" name="Picture 3"/>
          <p:cNvPicPr>
            <a:picLocks noChangeAspect="1" noChangeArrowheads="1"/>
          </p:cNvPicPr>
          <p:nvPr/>
        </p:nvPicPr>
        <p:blipFill>
          <a:blip r:embed="rId2"/>
          <a:srcRect/>
          <a:stretch>
            <a:fillRect/>
          </a:stretch>
        </p:blipFill>
        <p:spPr bwMode="auto">
          <a:xfrm>
            <a:off x="500034" y="142852"/>
            <a:ext cx="8643966" cy="650085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p:txBody>
          <a:bodyPr/>
          <a:lstStyle/>
          <a:p>
            <a:endParaRPr lang="es-AR"/>
          </a:p>
        </p:txBody>
      </p:sp>
      <p:pic>
        <p:nvPicPr>
          <p:cNvPr id="21506" name="Picture 2"/>
          <p:cNvPicPr>
            <a:picLocks noChangeAspect="1" noChangeArrowheads="1"/>
          </p:cNvPicPr>
          <p:nvPr/>
        </p:nvPicPr>
        <p:blipFill>
          <a:blip r:embed="rId2"/>
          <a:srcRect/>
          <a:stretch>
            <a:fillRect/>
          </a:stretch>
        </p:blipFill>
        <p:spPr bwMode="auto">
          <a:xfrm>
            <a:off x="1243013" y="504825"/>
            <a:ext cx="6657975" cy="58483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pic>
        <p:nvPicPr>
          <p:cNvPr id="20482" name="Picture 2"/>
          <p:cNvPicPr>
            <a:picLocks noChangeAspect="1" noChangeArrowheads="1"/>
          </p:cNvPicPr>
          <p:nvPr/>
        </p:nvPicPr>
        <p:blipFill>
          <a:blip r:embed="rId2"/>
          <a:srcRect/>
          <a:stretch>
            <a:fillRect/>
          </a:stretch>
        </p:blipFill>
        <p:spPr bwMode="auto">
          <a:xfrm>
            <a:off x="1357290" y="285728"/>
            <a:ext cx="6591300" cy="62151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14282" y="285728"/>
            <a:ext cx="8229600" cy="328602"/>
          </a:xfrm>
        </p:spPr>
        <p:txBody>
          <a:bodyPr>
            <a:normAutofit/>
          </a:bodyPr>
          <a:lstStyle/>
          <a:p>
            <a:pPr>
              <a:buNone/>
            </a:pPr>
            <a:r>
              <a:rPr lang="es-AR" sz="1400" dirty="0" smtClean="0"/>
              <a:t>A continuación se presentan los </a:t>
            </a:r>
            <a:r>
              <a:rPr lang="es-AR" sz="1400" dirty="0" err="1" smtClean="0"/>
              <a:t>concerns</a:t>
            </a:r>
            <a:r>
              <a:rPr lang="es-AR" sz="1400" dirty="0" smtClean="0"/>
              <a:t> identificados a partir de catalogo de requisitos.</a:t>
            </a:r>
            <a:endParaRPr lang="es-AR" sz="1400" dirty="0"/>
          </a:p>
        </p:txBody>
      </p:sp>
      <p:pic>
        <p:nvPicPr>
          <p:cNvPr id="22530" name="Picture 2"/>
          <p:cNvPicPr>
            <a:picLocks noChangeAspect="1" noChangeArrowheads="1"/>
          </p:cNvPicPr>
          <p:nvPr/>
        </p:nvPicPr>
        <p:blipFill>
          <a:blip r:embed="rId2"/>
          <a:srcRect/>
          <a:stretch>
            <a:fillRect/>
          </a:stretch>
        </p:blipFill>
        <p:spPr bwMode="auto">
          <a:xfrm>
            <a:off x="214282" y="714356"/>
            <a:ext cx="8786874" cy="1085850"/>
          </a:xfrm>
          <a:prstGeom prst="rect">
            <a:avLst/>
          </a:prstGeom>
          <a:noFill/>
          <a:ln w="9525">
            <a:noFill/>
            <a:miter lim="800000"/>
            <a:headEnd/>
            <a:tailEnd/>
          </a:ln>
          <a:effectLst/>
        </p:spPr>
      </p:pic>
      <p:pic>
        <p:nvPicPr>
          <p:cNvPr id="22531" name="Picture 3"/>
          <p:cNvPicPr>
            <a:picLocks noChangeAspect="1" noChangeArrowheads="1"/>
          </p:cNvPicPr>
          <p:nvPr/>
        </p:nvPicPr>
        <p:blipFill>
          <a:blip r:embed="rId3"/>
          <a:srcRect/>
          <a:stretch>
            <a:fillRect/>
          </a:stretch>
        </p:blipFill>
        <p:spPr bwMode="auto">
          <a:xfrm>
            <a:off x="214282" y="1714488"/>
            <a:ext cx="8715436" cy="492922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p:txBody>
          <a:bodyPr/>
          <a:lstStyle/>
          <a:p>
            <a:endParaRPr lang="es-AR"/>
          </a:p>
        </p:txBody>
      </p:sp>
      <p:pic>
        <p:nvPicPr>
          <p:cNvPr id="23554" name="Picture 2"/>
          <p:cNvPicPr>
            <a:picLocks noChangeAspect="1" noChangeArrowheads="1"/>
          </p:cNvPicPr>
          <p:nvPr/>
        </p:nvPicPr>
        <p:blipFill>
          <a:blip r:embed="rId2"/>
          <a:srcRect/>
          <a:stretch>
            <a:fillRect/>
          </a:stretch>
        </p:blipFill>
        <p:spPr bwMode="auto">
          <a:xfrm>
            <a:off x="285720" y="214290"/>
            <a:ext cx="8715436" cy="631031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pic>
        <p:nvPicPr>
          <p:cNvPr id="24578" name="Picture 2"/>
          <p:cNvPicPr>
            <a:picLocks noGrp="1" noChangeAspect="1" noChangeArrowheads="1"/>
          </p:cNvPicPr>
          <p:nvPr>
            <p:ph idx="1"/>
          </p:nvPr>
        </p:nvPicPr>
        <p:blipFill>
          <a:blip r:embed="rId2"/>
          <a:srcRect/>
          <a:stretch>
            <a:fillRect/>
          </a:stretch>
        </p:blipFill>
        <p:spPr bwMode="auto">
          <a:xfrm>
            <a:off x="571472" y="357166"/>
            <a:ext cx="8286808" cy="635798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srcRect/>
          <a:stretch>
            <a:fillRect/>
          </a:stretch>
        </p:blipFill>
        <p:spPr bwMode="auto">
          <a:xfrm>
            <a:off x="428596" y="142852"/>
            <a:ext cx="8501122" cy="635795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42844" y="214290"/>
            <a:ext cx="8229600" cy="328602"/>
          </a:xfrm>
        </p:spPr>
        <p:txBody>
          <a:bodyPr>
            <a:normAutofit fontScale="92500" lnSpcReduction="10000"/>
          </a:bodyPr>
          <a:lstStyle/>
          <a:p>
            <a:pPr>
              <a:buNone/>
            </a:pPr>
            <a:r>
              <a:rPr lang="es-AR" sz="1800" dirty="0" smtClean="0"/>
              <a:t>Identificar relaciones de grano grueso entre </a:t>
            </a:r>
            <a:r>
              <a:rPr lang="es-AR" sz="1800" dirty="0" err="1" smtClean="0"/>
              <a:t>concerns</a:t>
            </a:r>
            <a:endParaRPr lang="es-AR" sz="1800" dirty="0"/>
          </a:p>
        </p:txBody>
      </p:sp>
      <p:pic>
        <p:nvPicPr>
          <p:cNvPr id="26627" name="Picture 3"/>
          <p:cNvPicPr>
            <a:picLocks noChangeAspect="1" noChangeArrowheads="1"/>
          </p:cNvPicPr>
          <p:nvPr/>
        </p:nvPicPr>
        <p:blipFill>
          <a:blip r:embed="rId2"/>
          <a:srcRect/>
          <a:stretch>
            <a:fillRect/>
          </a:stretch>
        </p:blipFill>
        <p:spPr bwMode="auto">
          <a:xfrm>
            <a:off x="295275" y="928670"/>
            <a:ext cx="8553450" cy="507209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85720" y="357166"/>
            <a:ext cx="8229600" cy="614354"/>
          </a:xfrm>
        </p:spPr>
        <p:txBody>
          <a:bodyPr>
            <a:normAutofit fontScale="92500" lnSpcReduction="10000"/>
          </a:bodyPr>
          <a:lstStyle/>
          <a:p>
            <a:r>
              <a:rPr lang="es-AR" sz="2000" dirty="0" smtClean="0"/>
              <a:t>Las proyecciones de </a:t>
            </a:r>
            <a:r>
              <a:rPr lang="es-AR" sz="2000" dirty="0" err="1" smtClean="0"/>
              <a:t>concerns</a:t>
            </a:r>
            <a:r>
              <a:rPr lang="es-AR" sz="2000" dirty="0" smtClean="0"/>
              <a:t> se especifican con las siguientes reglas de composición.</a:t>
            </a:r>
            <a:endParaRPr lang="es-AR" sz="2000" dirty="0"/>
          </a:p>
        </p:txBody>
      </p:sp>
      <p:pic>
        <p:nvPicPr>
          <p:cNvPr id="27650" name="Picture 2"/>
          <p:cNvPicPr>
            <a:picLocks noChangeAspect="1" noChangeArrowheads="1"/>
          </p:cNvPicPr>
          <p:nvPr/>
        </p:nvPicPr>
        <p:blipFill>
          <a:blip r:embed="rId2"/>
          <a:srcRect/>
          <a:stretch>
            <a:fillRect/>
          </a:stretch>
        </p:blipFill>
        <p:spPr bwMode="auto">
          <a:xfrm>
            <a:off x="2143108" y="785794"/>
            <a:ext cx="6657975" cy="557216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Picture 3"/>
          <p:cNvPicPr>
            <a:picLocks noChangeAspect="1" noChangeArrowheads="1"/>
          </p:cNvPicPr>
          <p:nvPr/>
        </p:nvPicPr>
        <p:blipFill>
          <a:blip r:embed="rId2"/>
          <a:srcRect/>
          <a:stretch>
            <a:fillRect/>
          </a:stretch>
        </p:blipFill>
        <p:spPr bwMode="auto">
          <a:xfrm>
            <a:off x="1209675" y="357167"/>
            <a:ext cx="6724650" cy="62151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439718"/>
          </a:xfrm>
        </p:spPr>
        <p:txBody>
          <a:bodyPr>
            <a:normAutofit fontScale="90000"/>
          </a:bodyPr>
          <a:lstStyle/>
          <a:p>
            <a:r>
              <a:rPr lang="es-AR" b="1" dirty="0" smtClean="0"/>
              <a:t>Manejo de conflictos</a:t>
            </a:r>
            <a:endParaRPr lang="es-AR" dirty="0"/>
          </a:p>
        </p:txBody>
      </p:sp>
      <p:sp>
        <p:nvSpPr>
          <p:cNvPr id="3" name="2 Marcador de contenido"/>
          <p:cNvSpPr>
            <a:spLocks noGrp="1"/>
          </p:cNvSpPr>
          <p:nvPr>
            <p:ph idx="1"/>
          </p:nvPr>
        </p:nvSpPr>
        <p:spPr>
          <a:xfrm>
            <a:off x="357158" y="928670"/>
            <a:ext cx="8229600" cy="614354"/>
          </a:xfrm>
        </p:spPr>
        <p:txBody>
          <a:bodyPr/>
          <a:lstStyle/>
          <a:p>
            <a:r>
              <a:rPr lang="es-AR" dirty="0" smtClean="0"/>
              <a:t>la matriz de contribución entre los </a:t>
            </a:r>
            <a:r>
              <a:rPr lang="es-AR" dirty="0" err="1" smtClean="0"/>
              <a:t>concerns</a:t>
            </a:r>
            <a:r>
              <a:rPr lang="es-AR" dirty="0" smtClean="0"/>
              <a:t>.</a:t>
            </a:r>
            <a:endParaRPr lang="es-AR" dirty="0"/>
          </a:p>
        </p:txBody>
      </p:sp>
      <p:pic>
        <p:nvPicPr>
          <p:cNvPr id="29698" name="Picture 2"/>
          <p:cNvPicPr>
            <a:picLocks noChangeAspect="1" noChangeArrowheads="1"/>
          </p:cNvPicPr>
          <p:nvPr/>
        </p:nvPicPr>
        <p:blipFill>
          <a:blip r:embed="rId2"/>
          <a:srcRect/>
          <a:stretch>
            <a:fillRect/>
          </a:stretch>
        </p:blipFill>
        <p:spPr bwMode="auto">
          <a:xfrm>
            <a:off x="357159" y="1785926"/>
            <a:ext cx="8286808" cy="42957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71472" y="2714620"/>
            <a:ext cx="8229600" cy="1143000"/>
          </a:xfrm>
        </p:spPr>
        <p:txBody>
          <a:bodyPr/>
          <a:lstStyle/>
          <a:p>
            <a:r>
              <a:rPr lang="es-AR" b="1" dirty="0" smtClean="0"/>
              <a:t>Ejemplo de aplicación de COSMOS</a:t>
            </a:r>
            <a:endParaRPr lang="es-A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357166"/>
            <a:ext cx="8229600" cy="6072230"/>
          </a:xfrm>
        </p:spPr>
        <p:txBody>
          <a:bodyPr>
            <a:normAutofit fontScale="62500" lnSpcReduction="20000"/>
          </a:bodyPr>
          <a:lstStyle/>
          <a:p>
            <a:pPr algn="just"/>
            <a:r>
              <a:rPr lang="es-AR" dirty="0" smtClean="0"/>
              <a:t>Se toma el ejemplo “ACME </a:t>
            </a:r>
            <a:r>
              <a:rPr lang="es-AR" dirty="0" err="1" smtClean="0"/>
              <a:t>Warehouse</a:t>
            </a:r>
            <a:r>
              <a:rPr lang="es-AR" dirty="0" smtClean="0"/>
              <a:t> Management Inc.”. Haciendo uso de la interpretación del modelo expuesto en el apartado anterior, se realiza un análisis del ejemplo según la interpretación propuesta, se extrae y resalta cada uno de los elementos del modelo.</a:t>
            </a:r>
          </a:p>
          <a:p>
            <a:pPr algn="just">
              <a:buNone/>
            </a:pPr>
            <a:endParaRPr lang="es-AR" dirty="0" smtClean="0"/>
          </a:p>
          <a:p>
            <a:pPr algn="just"/>
            <a:r>
              <a:rPr lang="es-AR" dirty="0" smtClean="0"/>
              <a:t>Para la identificación y clasificación de los elementos del modelo en el caso de estudio, seguiremos la metodología propuesta en [23], la cual consiste en subrayar los posibles </a:t>
            </a:r>
            <a:r>
              <a:rPr lang="es-AR" dirty="0" err="1" smtClean="0"/>
              <a:t>concerns</a:t>
            </a:r>
            <a:r>
              <a:rPr lang="es-AR" dirty="0" smtClean="0"/>
              <a:t> y demás elementos del modelo en varios colores:</a:t>
            </a:r>
          </a:p>
          <a:p>
            <a:pPr algn="just">
              <a:buNone/>
            </a:pPr>
            <a:endParaRPr lang="es-AR" dirty="0" smtClean="0"/>
          </a:p>
          <a:p>
            <a:pPr lvl="1" algn="just"/>
            <a:r>
              <a:rPr lang="es-AR" dirty="0" smtClean="0"/>
              <a:t>Amarillo: </a:t>
            </a:r>
            <a:r>
              <a:rPr lang="es-AR" dirty="0" err="1" smtClean="0"/>
              <a:t>Instance</a:t>
            </a:r>
            <a:r>
              <a:rPr lang="es-AR" dirty="0" smtClean="0"/>
              <a:t> </a:t>
            </a:r>
            <a:r>
              <a:rPr lang="es-AR" dirty="0" err="1" smtClean="0"/>
              <a:t>concerns</a:t>
            </a:r>
            <a:endParaRPr lang="es-AR" dirty="0" smtClean="0"/>
          </a:p>
          <a:p>
            <a:pPr lvl="1" algn="just"/>
            <a:r>
              <a:rPr lang="es-AR" dirty="0" smtClean="0"/>
              <a:t>Verde: </a:t>
            </a:r>
            <a:r>
              <a:rPr lang="es-AR" dirty="0" err="1" smtClean="0"/>
              <a:t>Class</a:t>
            </a:r>
            <a:r>
              <a:rPr lang="es-AR" dirty="0" smtClean="0"/>
              <a:t> </a:t>
            </a:r>
            <a:r>
              <a:rPr lang="es-AR" dirty="0" err="1" smtClean="0"/>
              <a:t>concerns</a:t>
            </a:r>
            <a:endParaRPr lang="es-AR" dirty="0" smtClean="0"/>
          </a:p>
          <a:p>
            <a:pPr lvl="1" algn="just"/>
            <a:r>
              <a:rPr lang="es-AR" dirty="0" smtClean="0"/>
              <a:t>Rosa: </a:t>
            </a:r>
            <a:r>
              <a:rPr lang="es-AR" dirty="0" err="1" smtClean="0"/>
              <a:t>Property</a:t>
            </a:r>
            <a:r>
              <a:rPr lang="es-AR" dirty="0" smtClean="0"/>
              <a:t> </a:t>
            </a:r>
            <a:r>
              <a:rPr lang="es-AR" dirty="0" err="1" smtClean="0"/>
              <a:t>concerns</a:t>
            </a:r>
            <a:endParaRPr lang="es-AR" dirty="0" smtClean="0"/>
          </a:p>
          <a:p>
            <a:pPr lvl="1" algn="just"/>
            <a:r>
              <a:rPr lang="es-AR" dirty="0" smtClean="0"/>
              <a:t>Gris: Ítems </a:t>
            </a:r>
            <a:r>
              <a:rPr lang="es-AR" dirty="0" err="1" smtClean="0"/>
              <a:t>Semanticos</a:t>
            </a:r>
            <a:r>
              <a:rPr lang="es-AR" dirty="0" smtClean="0"/>
              <a:t> no estimados como </a:t>
            </a:r>
            <a:r>
              <a:rPr lang="es-AR" dirty="0" err="1" smtClean="0"/>
              <a:t>concerns</a:t>
            </a:r>
            <a:r>
              <a:rPr lang="es-AR" dirty="0" smtClean="0"/>
              <a:t>.</a:t>
            </a:r>
          </a:p>
          <a:p>
            <a:pPr lvl="1" algn="just"/>
            <a:r>
              <a:rPr lang="es-AR" dirty="0" smtClean="0"/>
              <a:t>Turquesa: </a:t>
            </a:r>
            <a:r>
              <a:rPr lang="es-AR" dirty="0" err="1" smtClean="0"/>
              <a:t>Instances</a:t>
            </a:r>
            <a:r>
              <a:rPr lang="es-AR" dirty="0" smtClean="0"/>
              <a:t> físicas</a:t>
            </a:r>
          </a:p>
          <a:p>
            <a:pPr lvl="1" algn="just"/>
            <a:r>
              <a:rPr lang="es-AR" dirty="0" smtClean="0"/>
              <a:t>Sin resaltar: Ítems no semánticos</a:t>
            </a:r>
          </a:p>
          <a:p>
            <a:pPr lvl="1" algn="just">
              <a:buNone/>
            </a:pPr>
            <a:endParaRPr lang="es-AR" dirty="0" smtClean="0"/>
          </a:p>
          <a:p>
            <a:pPr algn="just"/>
            <a:r>
              <a:rPr lang="es-AR" dirty="0" smtClean="0"/>
              <a:t>Si se encuentra una selección con </a:t>
            </a:r>
            <a:r>
              <a:rPr lang="es-AR" b="1" dirty="0" smtClean="0"/>
              <a:t>palabras en otros colores, el color de la </a:t>
            </a:r>
            <a:r>
              <a:rPr lang="es-AR" dirty="0" smtClean="0"/>
              <a:t>palabra indica el tipo de </a:t>
            </a:r>
            <a:r>
              <a:rPr lang="es-AR" dirty="0" err="1" smtClean="0"/>
              <a:t>concern</a:t>
            </a:r>
            <a:r>
              <a:rPr lang="es-AR" dirty="0" smtClean="0"/>
              <a:t> o relación que se encuentra incluido en la </a:t>
            </a:r>
            <a:r>
              <a:rPr lang="es-AR" b="1" dirty="0" smtClean="0"/>
              <a:t>selección.</a:t>
            </a:r>
            <a:endParaRPr lang="es-AR"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2"/>
          <a:srcRect/>
          <a:stretch>
            <a:fillRect/>
          </a:stretch>
        </p:blipFill>
        <p:spPr bwMode="auto">
          <a:xfrm>
            <a:off x="285720" y="285728"/>
            <a:ext cx="8643998" cy="1785950"/>
          </a:xfrm>
          <a:prstGeom prst="rect">
            <a:avLst/>
          </a:prstGeom>
          <a:noFill/>
          <a:ln w="9525">
            <a:noFill/>
            <a:miter lim="800000"/>
            <a:headEnd/>
            <a:tailEnd/>
          </a:ln>
          <a:effectLst/>
        </p:spPr>
      </p:pic>
      <p:pic>
        <p:nvPicPr>
          <p:cNvPr id="33795" name="Picture 3"/>
          <p:cNvPicPr>
            <a:picLocks noChangeAspect="1" noChangeArrowheads="1"/>
          </p:cNvPicPr>
          <p:nvPr/>
        </p:nvPicPr>
        <p:blipFill>
          <a:blip r:embed="rId3"/>
          <a:srcRect/>
          <a:stretch>
            <a:fillRect/>
          </a:stretch>
        </p:blipFill>
        <p:spPr bwMode="auto">
          <a:xfrm>
            <a:off x="285720" y="2071654"/>
            <a:ext cx="8643998" cy="47863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srcRect/>
          <a:stretch>
            <a:fillRect/>
          </a:stretch>
        </p:blipFill>
        <p:spPr bwMode="auto">
          <a:xfrm>
            <a:off x="1257300" y="1404938"/>
            <a:ext cx="6629400" cy="40481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a:srcRect/>
          <a:stretch>
            <a:fillRect/>
          </a:stretch>
        </p:blipFill>
        <p:spPr bwMode="auto">
          <a:xfrm>
            <a:off x="214282" y="142852"/>
            <a:ext cx="8643998" cy="2000264"/>
          </a:xfrm>
          <a:prstGeom prst="rect">
            <a:avLst/>
          </a:prstGeom>
          <a:noFill/>
          <a:ln w="9525">
            <a:noFill/>
            <a:miter lim="800000"/>
            <a:headEnd/>
            <a:tailEnd/>
          </a:ln>
          <a:effectLst/>
        </p:spPr>
      </p:pic>
      <p:pic>
        <p:nvPicPr>
          <p:cNvPr id="35843" name="Picture 3"/>
          <p:cNvPicPr>
            <a:picLocks noChangeAspect="1" noChangeArrowheads="1"/>
          </p:cNvPicPr>
          <p:nvPr/>
        </p:nvPicPr>
        <p:blipFill>
          <a:blip r:embed="rId3"/>
          <a:srcRect/>
          <a:stretch>
            <a:fillRect/>
          </a:stretch>
        </p:blipFill>
        <p:spPr bwMode="auto">
          <a:xfrm>
            <a:off x="214282" y="2071678"/>
            <a:ext cx="8572560" cy="478632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p:txBody>
          <a:bodyPr/>
          <a:lstStyle/>
          <a:p>
            <a:endParaRPr lang="es-AR"/>
          </a:p>
        </p:txBody>
      </p:sp>
      <p:pic>
        <p:nvPicPr>
          <p:cNvPr id="36866" name="Picture 2"/>
          <p:cNvPicPr>
            <a:picLocks noChangeAspect="1" noChangeArrowheads="1"/>
          </p:cNvPicPr>
          <p:nvPr/>
        </p:nvPicPr>
        <p:blipFill>
          <a:blip r:embed="rId2"/>
          <a:srcRect/>
          <a:stretch>
            <a:fillRect/>
          </a:stretch>
        </p:blipFill>
        <p:spPr bwMode="auto">
          <a:xfrm>
            <a:off x="1000100" y="285728"/>
            <a:ext cx="7286676" cy="618649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p:txBody>
          <a:bodyPr/>
          <a:lstStyle/>
          <a:p>
            <a:endParaRPr lang="es-AR"/>
          </a:p>
        </p:txBody>
      </p:sp>
      <p:pic>
        <p:nvPicPr>
          <p:cNvPr id="37890" name="Picture 2"/>
          <p:cNvPicPr>
            <a:picLocks noChangeAspect="1" noChangeArrowheads="1"/>
          </p:cNvPicPr>
          <p:nvPr/>
        </p:nvPicPr>
        <p:blipFill>
          <a:blip r:embed="rId2"/>
          <a:srcRect/>
          <a:stretch>
            <a:fillRect/>
          </a:stretch>
        </p:blipFill>
        <p:spPr bwMode="auto">
          <a:xfrm>
            <a:off x="1357290" y="0"/>
            <a:ext cx="6581775" cy="671514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57158" y="285729"/>
            <a:ext cx="8429684" cy="1071570"/>
          </a:xfrm>
        </p:spPr>
        <p:txBody>
          <a:bodyPr>
            <a:normAutofit/>
          </a:bodyPr>
          <a:lstStyle/>
          <a:p>
            <a:pPr algn="just"/>
            <a:r>
              <a:rPr lang="es-AR" sz="2000" dirty="0" smtClean="0"/>
              <a:t>Una vez se han identificado los diferentes </a:t>
            </a:r>
            <a:r>
              <a:rPr lang="es-AR" sz="2000" dirty="0" err="1" smtClean="0"/>
              <a:t>concerns</a:t>
            </a:r>
            <a:r>
              <a:rPr lang="es-AR" sz="2000" dirty="0" smtClean="0"/>
              <a:t> del texto, se procede a realizar la clasificación de los mismos según la categorías propuestas por el modelo.</a:t>
            </a:r>
            <a:endParaRPr lang="es-AR" sz="2000" dirty="0"/>
          </a:p>
        </p:txBody>
      </p:sp>
      <p:pic>
        <p:nvPicPr>
          <p:cNvPr id="38914" name="Picture 2"/>
          <p:cNvPicPr>
            <a:picLocks noChangeAspect="1" noChangeArrowheads="1"/>
          </p:cNvPicPr>
          <p:nvPr/>
        </p:nvPicPr>
        <p:blipFill>
          <a:blip r:embed="rId2"/>
          <a:srcRect/>
          <a:stretch>
            <a:fillRect/>
          </a:stretch>
        </p:blipFill>
        <p:spPr bwMode="auto">
          <a:xfrm>
            <a:off x="1352550" y="1500175"/>
            <a:ext cx="6438900" cy="485778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p:txBody>
          <a:bodyPr/>
          <a:lstStyle/>
          <a:p>
            <a:endParaRPr lang="es-AR"/>
          </a:p>
        </p:txBody>
      </p:sp>
      <p:pic>
        <p:nvPicPr>
          <p:cNvPr id="39938" name="Picture 2"/>
          <p:cNvPicPr>
            <a:picLocks noChangeAspect="1" noChangeArrowheads="1"/>
          </p:cNvPicPr>
          <p:nvPr/>
        </p:nvPicPr>
        <p:blipFill>
          <a:blip r:embed="rId2"/>
          <a:srcRect/>
          <a:stretch>
            <a:fillRect/>
          </a:stretch>
        </p:blipFill>
        <p:spPr bwMode="auto">
          <a:xfrm>
            <a:off x="1281113" y="985838"/>
            <a:ext cx="6581775" cy="48863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14282" y="214290"/>
            <a:ext cx="8643998" cy="542916"/>
          </a:xfrm>
        </p:spPr>
        <p:txBody>
          <a:bodyPr>
            <a:normAutofit fontScale="92500" lnSpcReduction="20000"/>
          </a:bodyPr>
          <a:lstStyle/>
          <a:p>
            <a:pPr>
              <a:buNone/>
            </a:pPr>
            <a:r>
              <a:rPr lang="es-AR" sz="1800" dirty="0" smtClean="0"/>
              <a:t>clasificación de los </a:t>
            </a:r>
            <a:r>
              <a:rPr lang="es-AR" sz="1800" dirty="0" err="1" smtClean="0"/>
              <a:t>concerns</a:t>
            </a:r>
            <a:r>
              <a:rPr lang="es-AR" sz="1800" dirty="0" smtClean="0"/>
              <a:t> identificados por </a:t>
            </a:r>
            <a:r>
              <a:rPr lang="es-AR" sz="1800" i="1" dirty="0" err="1" smtClean="0"/>
              <a:t>topics</a:t>
            </a:r>
            <a:r>
              <a:rPr lang="es-AR" sz="1800" i="1" dirty="0" smtClean="0"/>
              <a:t> y las </a:t>
            </a:r>
            <a:r>
              <a:rPr lang="es-AR" sz="1800" dirty="0" smtClean="0"/>
              <a:t>clases que conforman cada uno de ellos.</a:t>
            </a:r>
            <a:endParaRPr lang="es-AR" sz="1800" dirty="0"/>
          </a:p>
        </p:txBody>
      </p:sp>
      <p:pic>
        <p:nvPicPr>
          <p:cNvPr id="40962" name="Picture 2"/>
          <p:cNvPicPr>
            <a:picLocks noChangeAspect="1" noChangeArrowheads="1"/>
          </p:cNvPicPr>
          <p:nvPr/>
        </p:nvPicPr>
        <p:blipFill>
          <a:blip r:embed="rId2"/>
          <a:srcRect/>
          <a:stretch>
            <a:fillRect/>
          </a:stretch>
        </p:blipFill>
        <p:spPr bwMode="auto">
          <a:xfrm>
            <a:off x="1285852" y="500042"/>
            <a:ext cx="6429375" cy="2409825"/>
          </a:xfrm>
          <a:prstGeom prst="rect">
            <a:avLst/>
          </a:prstGeom>
          <a:noFill/>
          <a:ln w="9525">
            <a:noFill/>
            <a:miter lim="800000"/>
            <a:headEnd/>
            <a:tailEnd/>
          </a:ln>
          <a:effectLst/>
        </p:spPr>
      </p:pic>
      <p:pic>
        <p:nvPicPr>
          <p:cNvPr id="40963" name="Picture 3"/>
          <p:cNvPicPr>
            <a:picLocks noChangeAspect="1" noChangeArrowheads="1"/>
          </p:cNvPicPr>
          <p:nvPr/>
        </p:nvPicPr>
        <p:blipFill>
          <a:blip r:embed="rId3"/>
          <a:srcRect/>
          <a:stretch>
            <a:fillRect/>
          </a:stretch>
        </p:blipFill>
        <p:spPr bwMode="auto">
          <a:xfrm>
            <a:off x="1285852" y="2857496"/>
            <a:ext cx="6357982" cy="378619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357166"/>
            <a:ext cx="8358246" cy="971544"/>
          </a:xfrm>
        </p:spPr>
        <p:txBody>
          <a:bodyPr>
            <a:normAutofit lnSpcReduction="10000"/>
          </a:bodyPr>
          <a:lstStyle/>
          <a:p>
            <a:pPr>
              <a:buNone/>
            </a:pPr>
            <a:r>
              <a:rPr lang="es-AR" dirty="0" smtClean="0"/>
              <a:t>Se observan las clasificaciones de </a:t>
            </a:r>
            <a:r>
              <a:rPr lang="es-AR" dirty="0" err="1" smtClean="0"/>
              <a:t>concerns</a:t>
            </a:r>
            <a:r>
              <a:rPr lang="es-AR" dirty="0" smtClean="0"/>
              <a:t> restantes</a:t>
            </a:r>
            <a:endParaRPr lang="es-AR" dirty="0"/>
          </a:p>
        </p:txBody>
      </p:sp>
      <p:pic>
        <p:nvPicPr>
          <p:cNvPr id="41986" name="Picture 2"/>
          <p:cNvPicPr>
            <a:picLocks noChangeAspect="1" noChangeArrowheads="1"/>
          </p:cNvPicPr>
          <p:nvPr/>
        </p:nvPicPr>
        <p:blipFill>
          <a:blip r:embed="rId2"/>
          <a:srcRect/>
          <a:stretch>
            <a:fillRect/>
          </a:stretch>
        </p:blipFill>
        <p:spPr bwMode="auto">
          <a:xfrm>
            <a:off x="1304925" y="2524125"/>
            <a:ext cx="6534150" cy="18097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85720" y="142852"/>
            <a:ext cx="8229600" cy="285752"/>
          </a:xfrm>
        </p:spPr>
        <p:txBody>
          <a:bodyPr>
            <a:normAutofit fontScale="70000" lnSpcReduction="20000"/>
          </a:bodyPr>
          <a:lstStyle/>
          <a:p>
            <a:pPr>
              <a:buNone/>
            </a:pPr>
            <a:r>
              <a:rPr lang="es-AR" sz="2000" dirty="0" smtClean="0"/>
              <a:t>Las relaciones identificadas entre los </a:t>
            </a:r>
            <a:r>
              <a:rPr lang="es-AR" sz="2000" dirty="0" err="1" smtClean="0"/>
              <a:t>concerns</a:t>
            </a:r>
            <a:endParaRPr lang="es-AR" sz="2000" dirty="0"/>
          </a:p>
        </p:txBody>
      </p:sp>
      <p:pic>
        <p:nvPicPr>
          <p:cNvPr id="43010" name="Picture 2"/>
          <p:cNvPicPr>
            <a:picLocks noChangeAspect="1" noChangeArrowheads="1"/>
          </p:cNvPicPr>
          <p:nvPr/>
        </p:nvPicPr>
        <p:blipFill>
          <a:blip r:embed="rId2"/>
          <a:srcRect/>
          <a:stretch>
            <a:fillRect/>
          </a:stretch>
        </p:blipFill>
        <p:spPr bwMode="auto">
          <a:xfrm>
            <a:off x="1071538" y="500043"/>
            <a:ext cx="6786610" cy="614366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p:txBody>
          <a:bodyPr/>
          <a:lstStyle/>
          <a:p>
            <a:endParaRPr lang="es-AR"/>
          </a:p>
        </p:txBody>
      </p:sp>
      <p:pic>
        <p:nvPicPr>
          <p:cNvPr id="44034" name="Picture 2"/>
          <p:cNvPicPr>
            <a:picLocks noChangeAspect="1" noChangeArrowheads="1"/>
          </p:cNvPicPr>
          <p:nvPr/>
        </p:nvPicPr>
        <p:blipFill>
          <a:blip r:embed="rId2"/>
          <a:srcRect/>
          <a:stretch>
            <a:fillRect/>
          </a:stretch>
        </p:blipFill>
        <p:spPr bwMode="auto">
          <a:xfrm>
            <a:off x="1071538" y="142852"/>
            <a:ext cx="6619875" cy="657229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p:txBody>
          <a:bodyPr/>
          <a:lstStyle/>
          <a:p>
            <a:endParaRPr lang="es-AR"/>
          </a:p>
        </p:txBody>
      </p:sp>
      <p:pic>
        <p:nvPicPr>
          <p:cNvPr id="45058" name="Picture 2"/>
          <p:cNvPicPr>
            <a:picLocks noChangeAspect="1" noChangeArrowheads="1"/>
          </p:cNvPicPr>
          <p:nvPr/>
        </p:nvPicPr>
        <p:blipFill>
          <a:blip r:embed="rId2"/>
          <a:srcRect/>
          <a:stretch>
            <a:fillRect/>
          </a:stretch>
        </p:blipFill>
        <p:spPr bwMode="auto">
          <a:xfrm>
            <a:off x="1071538" y="214290"/>
            <a:ext cx="6334125" cy="664371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p:txBody>
          <a:bodyPr/>
          <a:lstStyle/>
          <a:p>
            <a:endParaRPr lang="es-AR"/>
          </a:p>
        </p:txBody>
      </p:sp>
      <p:pic>
        <p:nvPicPr>
          <p:cNvPr id="46082" name="Picture 2"/>
          <p:cNvPicPr>
            <a:picLocks noChangeAspect="1" noChangeArrowheads="1"/>
          </p:cNvPicPr>
          <p:nvPr/>
        </p:nvPicPr>
        <p:blipFill>
          <a:blip r:embed="rId2"/>
          <a:srcRect/>
          <a:stretch>
            <a:fillRect/>
          </a:stretch>
        </p:blipFill>
        <p:spPr bwMode="auto">
          <a:xfrm>
            <a:off x="1281113" y="1557338"/>
            <a:ext cx="6581775" cy="37433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725470"/>
          </a:xfrm>
        </p:spPr>
        <p:txBody>
          <a:bodyPr>
            <a:normAutofit fontScale="90000"/>
          </a:bodyPr>
          <a:lstStyle/>
          <a:p>
            <a:r>
              <a:rPr lang="es-AR" b="1" dirty="0" smtClean="0"/>
              <a:t>DIAGRAMAS DE CASOS DE USO</a:t>
            </a:r>
            <a:endParaRPr lang="es-AR" dirty="0"/>
          </a:p>
        </p:txBody>
      </p:sp>
      <p:sp>
        <p:nvSpPr>
          <p:cNvPr id="3" name="2 Marcador de contenido"/>
          <p:cNvSpPr>
            <a:spLocks noGrp="1"/>
          </p:cNvSpPr>
          <p:nvPr>
            <p:ph idx="1"/>
          </p:nvPr>
        </p:nvSpPr>
        <p:spPr>
          <a:xfrm>
            <a:off x="500034" y="1357298"/>
            <a:ext cx="8229600" cy="4525963"/>
          </a:xfrm>
        </p:spPr>
        <p:txBody>
          <a:bodyPr>
            <a:normAutofit fontScale="92500" lnSpcReduction="10000"/>
          </a:bodyPr>
          <a:lstStyle/>
          <a:p>
            <a:pPr algn="just"/>
            <a:r>
              <a:rPr lang="es-AR" sz="1800" dirty="0" smtClean="0"/>
              <a:t>Diagramas de Casos de Uso son fundamentales para la identificación de requerimientos en el DSOO. Como DSOA es una extensión de DSOO, es posible la aplicación de Diagramas de Casos de Uso en DSOA (Jacobson et al., 2004). </a:t>
            </a:r>
          </a:p>
          <a:p>
            <a:pPr algn="just">
              <a:buNone/>
            </a:pPr>
            <a:endParaRPr lang="es-AR" sz="1800" dirty="0" smtClean="0"/>
          </a:p>
          <a:p>
            <a:pPr algn="just"/>
            <a:r>
              <a:rPr lang="es-AR" sz="1800" dirty="0" smtClean="0"/>
              <a:t>Se debe considerar que Diagramas de Casos de Uso no representan solamente una técnica asociada a requerimientos. </a:t>
            </a:r>
          </a:p>
          <a:p>
            <a:pPr algn="just">
              <a:buNone/>
            </a:pPr>
            <a:endParaRPr lang="es-AR" sz="1800" dirty="0" smtClean="0"/>
          </a:p>
          <a:p>
            <a:pPr algn="just"/>
            <a:r>
              <a:rPr lang="es-AR" sz="1800" dirty="0" smtClean="0"/>
              <a:t>Diagramas de Casos de Uso son una técnica de Ingeniería de Software para dirigir completamente el ciclo de vida del desarrollo de software, donde es relevante la identificación de Incumbencias para su modelación, implementación y validación.</a:t>
            </a:r>
          </a:p>
          <a:p>
            <a:pPr algn="just">
              <a:buNone/>
            </a:pPr>
            <a:endParaRPr lang="es-AR" sz="1800" dirty="0" smtClean="0"/>
          </a:p>
          <a:p>
            <a:pPr algn="just"/>
            <a:r>
              <a:rPr lang="es-AR" sz="1800" dirty="0" smtClean="0"/>
              <a:t>Justamente, Diagramas de Casos de Uso permiten expresar Incumbencias de usuario, y proveer una temprana validación de las mismas. </a:t>
            </a:r>
          </a:p>
          <a:p>
            <a:pPr algn="just">
              <a:buNone/>
            </a:pPr>
            <a:endParaRPr lang="es-AR" sz="1800" dirty="0" smtClean="0"/>
          </a:p>
          <a:p>
            <a:pPr algn="just"/>
            <a:r>
              <a:rPr lang="es-AR" sz="1800" dirty="0" smtClean="0"/>
              <a:t>De esta forma, Diagramas de Casos de Uso UML son un útil medio para dirigir el DSOA, donde el desarrollo incremental mediante Casos de Usos representa un tradicional enfoque de desarrollo de software.</a:t>
            </a:r>
            <a:endParaRPr lang="es-AR" sz="18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https://scielo.conicyt.cl/fbpe/img/infotec/v23n1/art02-f2.jpg"/>
          <p:cNvPicPr/>
          <p:nvPr/>
        </p:nvPicPr>
        <p:blipFill>
          <a:blip r:embed="rId2"/>
          <a:srcRect/>
          <a:stretch>
            <a:fillRect/>
          </a:stretch>
        </p:blipFill>
        <p:spPr bwMode="auto">
          <a:xfrm>
            <a:off x="2714612" y="357166"/>
            <a:ext cx="3754120" cy="2571768"/>
          </a:xfrm>
          <a:prstGeom prst="rect">
            <a:avLst/>
          </a:prstGeom>
          <a:noFill/>
          <a:ln w="9525">
            <a:noFill/>
            <a:miter lim="800000"/>
            <a:headEnd/>
            <a:tailEnd/>
          </a:ln>
        </p:spPr>
      </p:pic>
      <p:sp>
        <p:nvSpPr>
          <p:cNvPr id="1025" name="Rectangle 1"/>
          <p:cNvSpPr>
            <a:spLocks noChangeArrowheads="1"/>
          </p:cNvSpPr>
          <p:nvPr/>
        </p:nvSpPr>
        <p:spPr bwMode="auto">
          <a:xfrm>
            <a:off x="357158" y="2928934"/>
            <a:ext cx="8429684" cy="35394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En el diagrama existe una modelaci</a:t>
            </a:r>
            <a:r>
              <a:rPr kumimoji="0" lang="es-AR" sz="1600" b="0" i="0" u="none" strike="noStrike" cap="none" normalizeH="0" baseline="0" dirty="0" smtClean="0">
                <a:ln>
                  <a:noFill/>
                </a:ln>
                <a:solidFill>
                  <a:srgbClr val="000000"/>
                </a:solidFill>
                <a:effectLst/>
                <a:latin typeface="Calibri"/>
                <a:ea typeface="Times New Roman" pitchFamily="18" charset="0"/>
                <a:cs typeface="Tahoma" pitchFamily="34" charset="0"/>
              </a:rPr>
              <a:t>ó</a:t>
            </a: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n de Incumbencia cruzada, es claro que Diagramas de Casos de Uso UML permiten la capturar temprana efectiva de Incumbencias desde los requerimientos de usuario. </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Como se</a:t>
            </a:r>
            <a:r>
              <a:rPr kumimoji="0" lang="es-AR" sz="1600" b="0" i="0" u="none" strike="noStrike" cap="none" normalizeH="0" baseline="0" dirty="0" smtClean="0">
                <a:ln>
                  <a:noFill/>
                </a:ln>
                <a:solidFill>
                  <a:srgbClr val="000000"/>
                </a:solidFill>
                <a:effectLst/>
                <a:latin typeface="Calibri"/>
                <a:ea typeface="Times New Roman" pitchFamily="18" charset="0"/>
                <a:cs typeface="Tahoma" pitchFamily="34" charset="0"/>
              </a:rPr>
              <a:t>ñ</a:t>
            </a: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ala (Jacobson et al., 2004), con el uso Diagramas de Casos de Uso es posible conocer y avanzar en la comprensi</a:t>
            </a:r>
            <a:r>
              <a:rPr kumimoji="0" lang="es-AR" sz="1600" b="0" i="0" u="none" strike="noStrike" cap="none" normalizeH="0" baseline="0" dirty="0" smtClean="0">
                <a:ln>
                  <a:noFill/>
                </a:ln>
                <a:solidFill>
                  <a:srgbClr val="000000"/>
                </a:solidFill>
                <a:effectLst/>
                <a:latin typeface="Calibri"/>
                <a:ea typeface="Times New Roman" pitchFamily="18" charset="0"/>
                <a:cs typeface="Tahoma" pitchFamily="34" charset="0"/>
              </a:rPr>
              <a:t>ó</a:t>
            </a: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n del comportamiento deseado del sistema ante las potenciales acciones del usuario y las posibles respuestas del sistema. </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Una idea adicional que ser</a:t>
            </a:r>
            <a:r>
              <a:rPr kumimoji="0" lang="es-AR" sz="1600" b="0" i="0" u="none" strike="noStrike" cap="none" normalizeH="0" baseline="0" dirty="0" smtClean="0">
                <a:ln>
                  <a:noFill/>
                </a:ln>
                <a:solidFill>
                  <a:srgbClr val="000000"/>
                </a:solidFill>
                <a:effectLst/>
                <a:latin typeface="Calibri"/>
                <a:ea typeface="Times New Roman" pitchFamily="18" charset="0"/>
                <a:cs typeface="Tahoma" pitchFamily="34" charset="0"/>
              </a:rPr>
              <a:t>á</a:t>
            </a: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 utilizada en la modelaci</a:t>
            </a:r>
            <a:r>
              <a:rPr kumimoji="0" lang="es-AR" sz="1600" b="0" i="0" u="none" strike="noStrike" cap="none" normalizeH="0" baseline="0" dirty="0" smtClean="0">
                <a:ln>
                  <a:noFill/>
                </a:ln>
                <a:solidFill>
                  <a:srgbClr val="000000"/>
                </a:solidFill>
                <a:effectLst/>
                <a:latin typeface="Calibri"/>
                <a:ea typeface="Times New Roman" pitchFamily="18" charset="0"/>
                <a:cs typeface="Tahoma" pitchFamily="34" charset="0"/>
              </a:rPr>
              <a:t>ó</a:t>
            </a: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n de caso de estudio es que la representaci</a:t>
            </a:r>
            <a:r>
              <a:rPr kumimoji="0" lang="es-AR" sz="1600" b="0" i="0" u="none" strike="noStrike" cap="none" normalizeH="0" baseline="0" dirty="0" smtClean="0">
                <a:ln>
                  <a:noFill/>
                </a:ln>
                <a:solidFill>
                  <a:srgbClr val="000000"/>
                </a:solidFill>
                <a:effectLst/>
                <a:latin typeface="Calibri"/>
                <a:ea typeface="Times New Roman" pitchFamily="18" charset="0"/>
                <a:cs typeface="Tahoma" pitchFamily="34" charset="0"/>
              </a:rPr>
              <a:t>ó</a:t>
            </a: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n de relaciones de inclusi</a:t>
            </a:r>
            <a:r>
              <a:rPr kumimoji="0" lang="es-AR" sz="1600" b="0" i="0" u="none" strike="noStrike" cap="none" normalizeH="0" baseline="0" dirty="0" smtClean="0">
                <a:ln>
                  <a:noFill/>
                </a:ln>
                <a:solidFill>
                  <a:srgbClr val="000000"/>
                </a:solidFill>
                <a:effectLst/>
                <a:latin typeface="Calibri"/>
                <a:ea typeface="Times New Roman" pitchFamily="18" charset="0"/>
                <a:cs typeface="Tahoma" pitchFamily="34" charset="0"/>
              </a:rPr>
              <a:t>ó</a:t>
            </a: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n (incluye) usando relaciones de extensi</a:t>
            </a:r>
            <a:r>
              <a:rPr kumimoji="0" lang="es-AR" sz="1600" b="0" i="0" u="none" strike="noStrike" cap="none" normalizeH="0" baseline="0" dirty="0" smtClean="0">
                <a:ln>
                  <a:noFill/>
                </a:ln>
                <a:solidFill>
                  <a:srgbClr val="000000"/>
                </a:solidFill>
                <a:effectLst/>
                <a:latin typeface="Calibri"/>
                <a:ea typeface="Times New Roman" pitchFamily="18" charset="0"/>
                <a:cs typeface="Tahoma" pitchFamily="34" charset="0"/>
              </a:rPr>
              <a:t>ó</a:t>
            </a: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n para soportar completamente el paradigma de DSOA. </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Tambi</a:t>
            </a:r>
            <a:r>
              <a:rPr kumimoji="0" lang="es-AR" sz="1600" b="0" i="0" u="none" strike="noStrike" cap="none" normalizeH="0" baseline="0" dirty="0" smtClean="0">
                <a:ln>
                  <a:noFill/>
                </a:ln>
                <a:solidFill>
                  <a:srgbClr val="000000"/>
                </a:solidFill>
                <a:effectLst/>
                <a:latin typeface="Calibri"/>
                <a:ea typeface="Times New Roman" pitchFamily="18" charset="0"/>
                <a:cs typeface="Tahoma" pitchFamily="34" charset="0"/>
              </a:rPr>
              <a:t>é</a:t>
            </a: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n es posible la utilizaci</a:t>
            </a:r>
            <a:r>
              <a:rPr kumimoji="0" lang="es-AR" sz="1600" b="0" i="0" u="none" strike="noStrike" cap="none" normalizeH="0" baseline="0" dirty="0" smtClean="0">
                <a:ln>
                  <a:noFill/>
                </a:ln>
                <a:solidFill>
                  <a:srgbClr val="000000"/>
                </a:solidFill>
                <a:effectLst/>
                <a:latin typeface="Calibri"/>
                <a:ea typeface="Times New Roman" pitchFamily="18" charset="0"/>
                <a:cs typeface="Tahoma" pitchFamily="34" charset="0"/>
              </a:rPr>
              <a:t>ó</a:t>
            </a: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n de relaciones de herencia (</a:t>
            </a:r>
            <a:r>
              <a:rPr kumimoji="0" lang="es-AR" sz="1600" b="0" i="0" u="none" strike="noStrike" cap="none" normalizeH="0" baseline="0" dirty="0" err="1" smtClean="0">
                <a:ln>
                  <a:noFill/>
                </a:ln>
                <a:solidFill>
                  <a:srgbClr val="000000"/>
                </a:solidFill>
                <a:effectLst/>
                <a:latin typeface="Tahoma" pitchFamily="34" charset="0"/>
                <a:ea typeface="Times New Roman" pitchFamily="18" charset="0"/>
                <a:cs typeface="Tahoma" pitchFamily="34" charset="0"/>
              </a:rPr>
              <a:t>Jacbson</a:t>
            </a: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 et al., 2004; </a:t>
            </a:r>
            <a:r>
              <a:rPr kumimoji="0" lang="es-AR" sz="1600" b="0" i="0" u="none" strike="noStrike" cap="none" normalizeH="0" baseline="0" dirty="0" err="1" smtClean="0">
                <a:ln>
                  <a:noFill/>
                </a:ln>
                <a:solidFill>
                  <a:srgbClr val="000000"/>
                </a:solidFill>
                <a:effectLst/>
                <a:latin typeface="Tahoma" pitchFamily="34" charset="0"/>
                <a:ea typeface="Times New Roman" pitchFamily="18" charset="0"/>
                <a:cs typeface="Tahoma" pitchFamily="34" charset="0"/>
              </a:rPr>
              <a:t>Pressman</a:t>
            </a: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 2001), las cuales tambi</a:t>
            </a:r>
            <a:r>
              <a:rPr kumimoji="0" lang="es-AR" sz="1600" b="0" i="0" u="none" strike="noStrike" cap="none" normalizeH="0" baseline="0" dirty="0" smtClean="0">
                <a:ln>
                  <a:noFill/>
                </a:ln>
                <a:solidFill>
                  <a:srgbClr val="000000"/>
                </a:solidFill>
                <a:effectLst/>
                <a:latin typeface="Calibri"/>
                <a:ea typeface="Times New Roman" pitchFamily="18" charset="0"/>
                <a:cs typeface="Tahoma" pitchFamily="34" charset="0"/>
              </a:rPr>
              <a:t>é</a:t>
            </a: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n pueden ser modeladas como relaciones de extensi</a:t>
            </a:r>
            <a:r>
              <a:rPr kumimoji="0" lang="es-AR" sz="1600" b="0" i="0" u="none" strike="noStrike" cap="none" normalizeH="0" baseline="0" dirty="0" smtClean="0">
                <a:ln>
                  <a:noFill/>
                </a:ln>
                <a:solidFill>
                  <a:srgbClr val="000000"/>
                </a:solidFill>
                <a:effectLst/>
                <a:latin typeface="Calibri"/>
                <a:ea typeface="Times New Roman" pitchFamily="18" charset="0"/>
                <a:cs typeface="Tahoma" pitchFamily="34" charset="0"/>
              </a:rPr>
              <a:t>ó</a:t>
            </a:r>
            <a:r>
              <a:rPr kumimoji="0" lang="es-AR" sz="1600" b="0" i="0" u="none" strike="noStrike" cap="none" normalizeH="0" baseline="0" dirty="0" smtClean="0">
                <a:ln>
                  <a:noFill/>
                </a:ln>
                <a:solidFill>
                  <a:srgbClr val="000000"/>
                </a:solidFill>
                <a:effectLst/>
                <a:latin typeface="Tahoma" pitchFamily="34" charset="0"/>
                <a:ea typeface="Times New Roman" pitchFamily="18" charset="0"/>
                <a:cs typeface="Tahoma" pitchFamily="34" charset="0"/>
              </a:rPr>
              <a:t>n.</a:t>
            </a:r>
            <a:endParaRPr kumimoji="0" lang="es-AR" sz="16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511156"/>
          </a:xfrm>
        </p:spPr>
        <p:txBody>
          <a:bodyPr>
            <a:normAutofit fontScale="90000"/>
          </a:bodyPr>
          <a:lstStyle/>
          <a:p>
            <a:r>
              <a:rPr lang="es-AR" sz="2800" dirty="0" smtClean="0"/>
              <a:t>caso de estudio</a:t>
            </a:r>
            <a:endParaRPr lang="es-AR" sz="2800" dirty="0"/>
          </a:p>
        </p:txBody>
      </p:sp>
      <p:sp>
        <p:nvSpPr>
          <p:cNvPr id="3" name="2 Marcador de contenido"/>
          <p:cNvSpPr>
            <a:spLocks noGrp="1"/>
          </p:cNvSpPr>
          <p:nvPr>
            <p:ph idx="1"/>
          </p:nvPr>
        </p:nvSpPr>
        <p:spPr>
          <a:xfrm>
            <a:off x="457200" y="1071546"/>
            <a:ext cx="8229600" cy="5054617"/>
          </a:xfrm>
        </p:spPr>
        <p:txBody>
          <a:bodyPr>
            <a:normAutofit fontScale="70000" lnSpcReduction="20000"/>
          </a:bodyPr>
          <a:lstStyle/>
          <a:p>
            <a:pPr algn="just">
              <a:buNone/>
            </a:pPr>
            <a:r>
              <a:rPr lang="es-AR" dirty="0" smtClean="0"/>
              <a:t>Un desarrollo orientado a objetos que se localiza en el Departamento de Mantenimiento de una universidad. Su funcionalidad corresponde a la atención en línea de solicitudes de servicios de mantenimiento de edificios.</a:t>
            </a:r>
          </a:p>
          <a:p>
            <a:pPr algn="just">
              <a:buNone/>
            </a:pPr>
            <a:r>
              <a:rPr lang="es-AR" dirty="0" smtClean="0"/>
              <a:t> </a:t>
            </a:r>
          </a:p>
          <a:p>
            <a:pPr algn="just"/>
            <a:r>
              <a:rPr lang="es-AR" dirty="0" smtClean="0"/>
              <a:t>El usuario afectado por el daño debe diligenciar una solicitud en la cual hace una descripción del problema.</a:t>
            </a:r>
          </a:p>
          <a:p>
            <a:pPr algn="just">
              <a:buNone/>
            </a:pPr>
            <a:endParaRPr lang="es-AR" dirty="0" smtClean="0"/>
          </a:p>
          <a:p>
            <a:pPr algn="just"/>
            <a:r>
              <a:rPr lang="es-AR" dirty="0" smtClean="0"/>
              <a:t>Dicha solicitud podrá ser ingresada a cualquier hora del día y cualquier día de la semana, en cualquier terminal de cómputo de la empresa. </a:t>
            </a:r>
          </a:p>
          <a:p>
            <a:pPr algn="just">
              <a:buNone/>
            </a:pPr>
            <a:endParaRPr lang="es-AR" dirty="0" smtClean="0"/>
          </a:p>
          <a:p>
            <a:pPr algn="just"/>
            <a:r>
              <a:rPr lang="es-AR" dirty="0" smtClean="0"/>
              <a:t>Un empleado del área de mantenimiento la recibe y valida; si está correcta, programa los técnicos para la atención del servicio en una agenda de servicios.</a:t>
            </a:r>
            <a:endParaRPr lang="es-AR"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00034" y="274638"/>
            <a:ext cx="8429684" cy="368280"/>
          </a:xfrm>
        </p:spPr>
        <p:txBody>
          <a:bodyPr>
            <a:normAutofit fontScale="90000"/>
          </a:bodyPr>
          <a:lstStyle/>
          <a:p>
            <a:pPr algn="l"/>
            <a:r>
              <a:rPr lang="es-AR" sz="2400" dirty="0" smtClean="0"/>
              <a:t>Para desarrollar el estudio se consideraron los siguientes pasos:</a:t>
            </a:r>
            <a:endParaRPr lang="es-AR" sz="2400" dirty="0"/>
          </a:p>
        </p:txBody>
      </p:sp>
      <p:sp>
        <p:nvSpPr>
          <p:cNvPr id="3" name="2 Marcador de contenido"/>
          <p:cNvSpPr>
            <a:spLocks noGrp="1"/>
          </p:cNvSpPr>
          <p:nvPr>
            <p:ph idx="1"/>
          </p:nvPr>
        </p:nvSpPr>
        <p:spPr>
          <a:xfrm>
            <a:off x="428596" y="1643050"/>
            <a:ext cx="8229600" cy="4525963"/>
          </a:xfrm>
        </p:spPr>
        <p:txBody>
          <a:bodyPr>
            <a:normAutofit lnSpcReduction="10000"/>
          </a:bodyPr>
          <a:lstStyle/>
          <a:p>
            <a:pPr algn="just"/>
            <a:r>
              <a:rPr lang="es-AR" dirty="0" smtClean="0"/>
              <a:t>Identificación de Aspectos tempranos: descripción de requisitos y intereses dentro del dominio del problema.</a:t>
            </a:r>
          </a:p>
          <a:p>
            <a:pPr algn="just">
              <a:buNone/>
            </a:pPr>
            <a:endParaRPr lang="es-AR" dirty="0" smtClean="0"/>
          </a:p>
          <a:p>
            <a:pPr algn="just"/>
            <a:r>
              <a:rPr lang="es-AR" dirty="0" smtClean="0"/>
              <a:t>Modelado de los intereses en el análisis y diseño.</a:t>
            </a:r>
          </a:p>
          <a:p>
            <a:pPr algn="just">
              <a:buNone/>
            </a:pPr>
            <a:r>
              <a:rPr lang="es-AR" dirty="0" smtClean="0"/>
              <a:t> </a:t>
            </a:r>
          </a:p>
          <a:p>
            <a:pPr algn="just"/>
            <a:r>
              <a:rPr lang="es-AR" dirty="0" smtClean="0"/>
              <a:t>Especificación de los aspectos (Ej.: en </a:t>
            </a:r>
            <a:r>
              <a:rPr lang="es-AR" dirty="0" err="1" smtClean="0"/>
              <a:t>AspectJ</a:t>
            </a:r>
            <a:r>
              <a:rPr lang="es-AR" dirty="0" smtClean="0"/>
              <a:t>).</a:t>
            </a:r>
            <a:endParaRPr lang="es-AR"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sz="3200" dirty="0" smtClean="0"/>
              <a:t>Identificando y Especificando Aspectos Tempranos</a:t>
            </a:r>
            <a:endParaRPr lang="es-AR" sz="3200" dirty="0"/>
          </a:p>
        </p:txBody>
      </p:sp>
      <p:sp>
        <p:nvSpPr>
          <p:cNvPr id="3" name="2 Marcador de contenido"/>
          <p:cNvSpPr>
            <a:spLocks noGrp="1"/>
          </p:cNvSpPr>
          <p:nvPr>
            <p:ph idx="1"/>
          </p:nvPr>
        </p:nvSpPr>
        <p:spPr/>
        <p:txBody>
          <a:bodyPr>
            <a:noAutofit/>
          </a:bodyPr>
          <a:lstStyle/>
          <a:p>
            <a:pPr algn="just">
              <a:buNone/>
            </a:pPr>
            <a:r>
              <a:rPr lang="es-AR" sz="1600" dirty="0" smtClean="0"/>
              <a:t>Requisitos:</a:t>
            </a:r>
          </a:p>
          <a:p>
            <a:pPr algn="just">
              <a:buNone/>
            </a:pPr>
            <a:endParaRPr lang="es-AR" sz="1600" dirty="0" smtClean="0"/>
          </a:p>
          <a:p>
            <a:pPr algn="just"/>
            <a:r>
              <a:rPr lang="es-AR" sz="1600" dirty="0" smtClean="0"/>
              <a:t>Diligenciar solicitudes (solo por usuarios matriculados en el sistema).</a:t>
            </a:r>
          </a:p>
          <a:p>
            <a:pPr algn="just"/>
            <a:r>
              <a:rPr lang="es-AR" sz="1600" dirty="0" smtClean="0"/>
              <a:t>Evaluar la solicitud por parte del técnico</a:t>
            </a:r>
          </a:p>
          <a:p>
            <a:pPr algn="just"/>
            <a:r>
              <a:rPr lang="es-AR" sz="1600" dirty="0" smtClean="0"/>
              <a:t>Rechazar solicitudes</a:t>
            </a:r>
          </a:p>
          <a:p>
            <a:pPr algn="just"/>
            <a:r>
              <a:rPr lang="es-AR" sz="1600" dirty="0" smtClean="0"/>
              <a:t>Asignar los servicios que requiere la solicitud</a:t>
            </a:r>
          </a:p>
          <a:p>
            <a:pPr algn="just"/>
            <a:r>
              <a:rPr lang="es-AR" sz="1600" dirty="0" smtClean="0"/>
              <a:t>Ejecutar los servicios programados por solicitud diligenciando una plantilla de servicios.</a:t>
            </a:r>
          </a:p>
          <a:p>
            <a:pPr algn="just"/>
            <a:r>
              <a:rPr lang="es-AR" sz="1600" dirty="0" smtClean="0"/>
              <a:t>Contratar servicios con empresas externas (esto requiere autorización del jefe de área y del departamento fi </a:t>
            </a:r>
            <a:r>
              <a:rPr lang="es-AR" sz="1600" dirty="0" err="1" smtClean="0"/>
              <a:t>nanciero</a:t>
            </a:r>
            <a:r>
              <a:rPr lang="es-AR" sz="1600" dirty="0" smtClean="0"/>
              <a:t>).</a:t>
            </a:r>
          </a:p>
          <a:p>
            <a:pPr algn="just"/>
            <a:r>
              <a:rPr lang="es-AR" sz="1600" dirty="0" smtClean="0"/>
              <a:t>Hacer seguimiento del </a:t>
            </a:r>
            <a:r>
              <a:rPr lang="es-AR" sz="1600" dirty="0" err="1" smtClean="0"/>
              <a:t>fl</a:t>
            </a:r>
            <a:r>
              <a:rPr lang="es-AR" sz="1600" dirty="0" smtClean="0"/>
              <a:t> </a:t>
            </a:r>
            <a:r>
              <a:rPr lang="es-AR" sz="1600" dirty="0" err="1" smtClean="0"/>
              <a:t>ujo</a:t>
            </a:r>
            <a:r>
              <a:rPr lang="es-AR" sz="1600" dirty="0" smtClean="0"/>
              <a:t> de trabajo de una solicitud de servicio.</a:t>
            </a:r>
          </a:p>
          <a:p>
            <a:pPr algn="just"/>
            <a:r>
              <a:rPr lang="es-AR" sz="1600" dirty="0" smtClean="0"/>
              <a:t>Escalar servicios</a:t>
            </a:r>
          </a:p>
          <a:p>
            <a:pPr algn="just"/>
            <a:r>
              <a:rPr lang="es-AR" sz="1600" dirty="0" smtClean="0"/>
              <a:t>Reportar estadísticas de servicio.</a:t>
            </a:r>
          </a:p>
          <a:p>
            <a:pPr algn="just"/>
            <a:r>
              <a:rPr lang="es-AR" sz="1600" dirty="0" smtClean="0"/>
              <a:t>Proveer buen tiempo de respuesta cuando se hace una transacción sobre el sistema.</a:t>
            </a:r>
          </a:p>
          <a:p>
            <a:pPr algn="just"/>
            <a:r>
              <a:rPr lang="es-AR" sz="1600" dirty="0" smtClean="0"/>
              <a:t>Soportar muchos usuarios concurrentes en cualquier operación.</a:t>
            </a:r>
          </a:p>
          <a:p>
            <a:pPr algn="just"/>
            <a:r>
              <a:rPr lang="es-AR" sz="1600" dirty="0" smtClean="0"/>
              <a:t>Notificar a los solicitantes cuando una solicitud cambia de estado.</a:t>
            </a:r>
          </a:p>
          <a:p>
            <a:pPr algn="just"/>
            <a:r>
              <a:rPr lang="es-AR" sz="1600" dirty="0" smtClean="0"/>
              <a:t>Costear el trámite de la gestión de los servicios internos y externos.</a:t>
            </a:r>
            <a:endParaRPr lang="es-AR" sz="16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500042"/>
            <a:ext cx="8229600" cy="1828800"/>
          </a:xfrm>
        </p:spPr>
        <p:txBody>
          <a:bodyPr>
            <a:normAutofit/>
          </a:bodyPr>
          <a:lstStyle/>
          <a:p>
            <a:pPr>
              <a:buNone/>
            </a:pPr>
            <a:r>
              <a:rPr lang="es-AR" sz="2000" b="1" dirty="0" smtClean="0"/>
              <a:t>Actores</a:t>
            </a:r>
            <a:r>
              <a:rPr lang="es-AR" sz="2000" dirty="0" smtClean="0"/>
              <a:t>: Jefe, Operador, Solicitante y </a:t>
            </a:r>
            <a:r>
              <a:rPr lang="es-AR" sz="2000" dirty="0" err="1" smtClean="0"/>
              <a:t>Tecnico</a:t>
            </a:r>
            <a:endParaRPr lang="es-AR" sz="2000" dirty="0" smtClean="0"/>
          </a:p>
          <a:p>
            <a:pPr>
              <a:buNone/>
            </a:pPr>
            <a:r>
              <a:rPr lang="es-AR" sz="2000" b="1" dirty="0" smtClean="0"/>
              <a:t>Intereses identificados</a:t>
            </a:r>
            <a:r>
              <a:rPr lang="es-AR" sz="2000" dirty="0" smtClean="0"/>
              <a:t>: Solicitudes, Servicios, Gestión de usuarios, Seguridad, Disponibilidad, Compatibilidad, </a:t>
            </a:r>
            <a:r>
              <a:rPr lang="es-AR" sz="2000" dirty="0" err="1" smtClean="0"/>
              <a:t>Multiacceso</a:t>
            </a:r>
            <a:r>
              <a:rPr lang="es-AR" sz="2000" dirty="0" smtClean="0"/>
              <a:t>, Soporte al sistema, Sistemas Externos, Estadísticas de Gestión, Contratos, Notificación, Costos Operacionales.</a:t>
            </a:r>
            <a:endParaRPr lang="es-AR" sz="2000" dirty="0"/>
          </a:p>
        </p:txBody>
      </p:sp>
      <p:pic>
        <p:nvPicPr>
          <p:cNvPr id="115714" name="Picture 2"/>
          <p:cNvPicPr>
            <a:picLocks noChangeAspect="1" noChangeArrowheads="1"/>
          </p:cNvPicPr>
          <p:nvPr/>
        </p:nvPicPr>
        <p:blipFill>
          <a:blip r:embed="rId2"/>
          <a:srcRect/>
          <a:stretch>
            <a:fillRect/>
          </a:stretch>
        </p:blipFill>
        <p:spPr bwMode="auto">
          <a:xfrm>
            <a:off x="1071538" y="2428868"/>
            <a:ext cx="7358114" cy="363855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p:txBody>
          <a:bodyPr/>
          <a:lstStyle/>
          <a:p>
            <a:endParaRPr lang="es-AR"/>
          </a:p>
        </p:txBody>
      </p:sp>
      <p:pic>
        <p:nvPicPr>
          <p:cNvPr id="6145" name="Picture 1"/>
          <p:cNvPicPr>
            <a:picLocks noChangeAspect="1" noChangeArrowheads="1"/>
          </p:cNvPicPr>
          <p:nvPr/>
        </p:nvPicPr>
        <p:blipFill>
          <a:blip r:embed="rId2"/>
          <a:srcRect/>
          <a:stretch>
            <a:fillRect/>
          </a:stretch>
        </p:blipFill>
        <p:spPr bwMode="auto">
          <a:xfrm>
            <a:off x="0" y="0"/>
            <a:ext cx="11210925" cy="69151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b="1" dirty="0" smtClean="0"/>
              <a:t>Bibliografía</a:t>
            </a:r>
            <a:endParaRPr lang="es-AR" dirty="0"/>
          </a:p>
        </p:txBody>
      </p:sp>
      <p:sp>
        <p:nvSpPr>
          <p:cNvPr id="3" name="2 Marcador de contenido"/>
          <p:cNvSpPr>
            <a:spLocks noGrp="1"/>
          </p:cNvSpPr>
          <p:nvPr>
            <p:ph idx="1"/>
          </p:nvPr>
        </p:nvSpPr>
        <p:spPr/>
        <p:txBody>
          <a:bodyPr>
            <a:normAutofit/>
          </a:bodyPr>
          <a:lstStyle/>
          <a:p>
            <a:r>
              <a:rPr lang="en-US" sz="1600" dirty="0" smtClean="0"/>
              <a:t>Jacobson I. and Ng P. W. Aspect-oriented Software Development with Use Cases. </a:t>
            </a:r>
            <a:r>
              <a:rPr lang="es-AR" sz="1600" dirty="0" err="1" smtClean="0"/>
              <a:t>Addison</a:t>
            </a:r>
            <a:r>
              <a:rPr lang="es-AR" sz="1600" dirty="0" smtClean="0"/>
              <a:t> </a:t>
            </a:r>
            <a:r>
              <a:rPr lang="es-AR" sz="1600" dirty="0" err="1" smtClean="0"/>
              <a:t>Wesley</a:t>
            </a:r>
            <a:r>
              <a:rPr lang="es-AR" sz="1600" dirty="0" smtClean="0"/>
              <a:t> Professional, 2005.</a:t>
            </a:r>
          </a:p>
          <a:p>
            <a:endParaRPr lang="es-AR" sz="16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867</TotalTime>
  <Words>1498</Words>
  <Application>Microsoft Office PowerPoint</Application>
  <PresentationFormat>Presentación en pantalla (4:3)</PresentationFormat>
  <Paragraphs>91</Paragraphs>
  <Slides>38</Slides>
  <Notes>0</Notes>
  <HiddenSlides>0</HiddenSlides>
  <MMClips>0</MMClips>
  <ScaleCrop>false</ScaleCrop>
  <HeadingPairs>
    <vt:vector size="4" baseType="variant">
      <vt:variant>
        <vt:lpstr>Tema</vt:lpstr>
      </vt:variant>
      <vt:variant>
        <vt:i4>1</vt:i4>
      </vt:variant>
      <vt:variant>
        <vt:lpstr>Títulos de diapositiva</vt:lpstr>
      </vt:variant>
      <vt:variant>
        <vt:i4>38</vt:i4>
      </vt:variant>
    </vt:vector>
  </HeadingPairs>
  <TitlesOfParts>
    <vt:vector size="39" baseType="lpstr">
      <vt:lpstr>Tema de Office</vt:lpstr>
      <vt:lpstr>Diapositiva 1</vt:lpstr>
      <vt:lpstr>Ejemplo de aplicación de AORE</vt:lpstr>
      <vt:lpstr>Ejemplo de aplicación de AORE</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Manejo de conflictos</vt:lpstr>
      <vt:lpstr>Ejemplo de aplicación de COSMOS</vt:lpstr>
      <vt:lpstr>Diapositiva 17</vt:lpstr>
      <vt:lpstr>Diapositiva 18</vt:lpstr>
      <vt:lpstr>Diapositiva 19</vt:lpstr>
      <vt:lpstr>Diapositiva 20</vt:lpstr>
      <vt:lpstr>Diapositiva 21</vt:lpstr>
      <vt:lpstr>Diapositiva 22</vt:lpstr>
      <vt:lpstr>Diapositiva 23</vt:lpstr>
      <vt:lpstr>Diapositiva 24</vt:lpstr>
      <vt:lpstr>Diapositiva 25</vt:lpstr>
      <vt:lpstr>Diapositiva 26</vt:lpstr>
      <vt:lpstr>Diapositiva 27</vt:lpstr>
      <vt:lpstr>Diapositiva 28</vt:lpstr>
      <vt:lpstr>Diapositiva 29</vt:lpstr>
      <vt:lpstr>Diapositiva 30</vt:lpstr>
      <vt:lpstr>DIAGRAMAS DE CASOS DE USO</vt:lpstr>
      <vt:lpstr>Diapositiva 32</vt:lpstr>
      <vt:lpstr>caso de estudio</vt:lpstr>
      <vt:lpstr>Para desarrollar el estudio se consideraron los siguientes pasos:</vt:lpstr>
      <vt:lpstr>Identificando y Especificando Aspectos Tempranos</vt:lpstr>
      <vt:lpstr>Diapositiva 36</vt:lpstr>
      <vt:lpstr>Diapositiva 37</vt:lpstr>
      <vt:lpstr>Bibliografía</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ovallejos</dc:creator>
  <cp:lastModifiedBy>ovallejos</cp:lastModifiedBy>
  <cp:revision>97</cp:revision>
  <dcterms:created xsi:type="dcterms:W3CDTF">2019-03-13T13:34:34Z</dcterms:created>
  <dcterms:modified xsi:type="dcterms:W3CDTF">2019-04-23T12:30:15Z</dcterms:modified>
</cp:coreProperties>
</file>